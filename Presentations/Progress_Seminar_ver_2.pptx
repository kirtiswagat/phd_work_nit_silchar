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26"/>
  </p:notesMasterIdLst>
  <p:sldIdLst>
    <p:sldId id="256" r:id="rId2"/>
    <p:sldId id="257" r:id="rId3"/>
    <p:sldId id="313" r:id="rId4"/>
    <p:sldId id="270" r:id="rId5"/>
    <p:sldId id="327" r:id="rId6"/>
    <p:sldId id="328" r:id="rId7"/>
    <p:sldId id="329" r:id="rId8"/>
    <p:sldId id="324" r:id="rId9"/>
    <p:sldId id="325" r:id="rId10"/>
    <p:sldId id="326" r:id="rId11"/>
    <p:sldId id="330" r:id="rId12"/>
    <p:sldId id="332" r:id="rId13"/>
    <p:sldId id="334" r:id="rId14"/>
    <p:sldId id="333" r:id="rId15"/>
    <p:sldId id="335" r:id="rId16"/>
    <p:sldId id="336" r:id="rId17"/>
    <p:sldId id="337" r:id="rId18"/>
    <p:sldId id="339" r:id="rId19"/>
    <p:sldId id="340" r:id="rId20"/>
    <p:sldId id="338" r:id="rId21"/>
    <p:sldId id="341" r:id="rId22"/>
    <p:sldId id="296" r:id="rId23"/>
    <p:sldId id="342" r:id="rId24"/>
    <p:sldId id="269" r:id="rId2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0073" autoAdjust="0"/>
  </p:normalViewPr>
  <p:slideViewPr>
    <p:cSldViewPr snapToGrid="0" snapToObjects="1">
      <p:cViewPr varScale="1">
        <p:scale>
          <a:sx n="131" d="100"/>
          <a:sy n="131" d="100"/>
        </p:scale>
        <p:origin x="1044" y="12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082033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endParaRPr lang="en-IN" dirty="0"/>
          </a:p>
        </p:txBody>
      </p:sp>
    </p:spTree>
    <p:extLst>
      <p:ext uri="{BB962C8B-B14F-4D97-AF65-F5344CB8AC3E}">
        <p14:creationId xmlns:p14="http://schemas.microsoft.com/office/powerpoint/2010/main" val="42354211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6A6207-1DA3-1CBF-BDAA-FC3F59A603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D5D152-0917-86A5-10AE-CA438F3D6E7C}"/>
              </a:ext>
            </a:extLst>
          </p:cNvPr>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64AE3117-682A-4C3A-F4EC-3C9D48374080}"/>
              </a:ext>
            </a:extLst>
          </p:cNvPr>
          <p:cNvSpPr>
            <a:spLocks noGrp="1"/>
          </p:cNvSpPr>
          <p:nvPr>
            <p:ph type="body" idx="1"/>
          </p:nvPr>
        </p:nvSpPr>
        <p:spPr>
          <a:xfrm>
            <a:off x="514350" y="4400550"/>
            <a:ext cx="4114800" cy="3600450"/>
          </a:xfrm>
          <a:prstGeom prst="rect">
            <a:avLst/>
          </a:prstGeom>
        </p:spPr>
        <p:txBody>
          <a:bodyPr/>
          <a:lstStyle/>
          <a:p>
            <a:endParaRPr lang="en-IN" dirty="0"/>
          </a:p>
        </p:txBody>
      </p:sp>
    </p:spTree>
    <p:extLst>
      <p:ext uri="{BB962C8B-B14F-4D97-AF65-F5344CB8AC3E}">
        <p14:creationId xmlns:p14="http://schemas.microsoft.com/office/powerpoint/2010/main" val="23115347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2D9535-91B1-5758-4E29-201A6393C7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FC1A42-F40D-ED4E-79F1-D7406A01DD9E}"/>
              </a:ext>
            </a:extLst>
          </p:cNvPr>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C7F208FB-0FE8-957D-470C-C6ECC4FF6CBC}"/>
              </a:ext>
            </a:extLst>
          </p:cNvPr>
          <p:cNvSpPr>
            <a:spLocks noGrp="1"/>
          </p:cNvSpPr>
          <p:nvPr>
            <p:ph type="body" idx="1"/>
          </p:nvPr>
        </p:nvSpPr>
        <p:spPr>
          <a:xfrm>
            <a:off x="514350" y="4400550"/>
            <a:ext cx="4114800" cy="3600450"/>
          </a:xfrm>
          <a:prstGeom prst="rect">
            <a:avLst/>
          </a:prstGeom>
        </p:spPr>
        <p:txBody>
          <a:bodyPr/>
          <a:lstStyle/>
          <a:p>
            <a:endParaRPr lang="en-IN" dirty="0"/>
          </a:p>
        </p:txBody>
      </p:sp>
    </p:spTree>
    <p:extLst>
      <p:ext uri="{BB962C8B-B14F-4D97-AF65-F5344CB8AC3E}">
        <p14:creationId xmlns:p14="http://schemas.microsoft.com/office/powerpoint/2010/main" val="16060768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BFB676-CF31-8937-378A-5B3921EEBC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0C338F-96B6-2D08-3FF1-56462546E0AA}"/>
              </a:ext>
            </a:extLst>
          </p:cNvPr>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68F6AD8D-BD56-2348-8043-B4EDE0280AA6}"/>
              </a:ext>
            </a:extLst>
          </p:cNvPr>
          <p:cNvSpPr>
            <a:spLocks noGrp="1"/>
          </p:cNvSpPr>
          <p:nvPr>
            <p:ph type="body" idx="1"/>
          </p:nvPr>
        </p:nvSpPr>
        <p:spPr>
          <a:xfrm>
            <a:off x="514350" y="4400550"/>
            <a:ext cx="4114800" cy="3600450"/>
          </a:xfrm>
          <a:prstGeom prst="rect">
            <a:avLst/>
          </a:prstGeom>
        </p:spPr>
        <p:txBody>
          <a:bodyPr/>
          <a:lstStyle/>
          <a:p>
            <a:endParaRPr lang="en-IN" dirty="0"/>
          </a:p>
        </p:txBody>
      </p:sp>
    </p:spTree>
    <p:extLst>
      <p:ext uri="{BB962C8B-B14F-4D97-AF65-F5344CB8AC3E}">
        <p14:creationId xmlns:p14="http://schemas.microsoft.com/office/powerpoint/2010/main" val="34758933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46E5E5-38FD-6B39-F69A-455AFB7A7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0B49AE-16ED-764D-C86B-3AFF410AE3B5}"/>
              </a:ext>
            </a:extLst>
          </p:cNvPr>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2CE8E228-BA50-540C-854E-598AA1296FAF}"/>
              </a:ext>
            </a:extLst>
          </p:cNvPr>
          <p:cNvSpPr>
            <a:spLocks noGrp="1"/>
          </p:cNvSpPr>
          <p:nvPr>
            <p:ph type="body" idx="1"/>
          </p:nvPr>
        </p:nvSpPr>
        <p:spPr>
          <a:xfrm>
            <a:off x="514350" y="4400550"/>
            <a:ext cx="4114800" cy="3600450"/>
          </a:xfrm>
          <a:prstGeom prst="rect">
            <a:avLst/>
          </a:prstGeom>
        </p:spPr>
        <p:txBody>
          <a:bodyPr/>
          <a:lstStyle/>
          <a:p>
            <a:endParaRPr lang="en-IN" dirty="0"/>
          </a:p>
        </p:txBody>
      </p:sp>
    </p:spTree>
    <p:extLst>
      <p:ext uri="{BB962C8B-B14F-4D97-AF65-F5344CB8AC3E}">
        <p14:creationId xmlns:p14="http://schemas.microsoft.com/office/powerpoint/2010/main" val="768999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342863-BD36-AE16-2C8D-6A684B875B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45F349-648E-FA16-D7B0-2B11F8F70CC4}"/>
              </a:ext>
            </a:extLst>
          </p:cNvPr>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96B77BB9-DF70-DD8D-4558-0CDC67F8D304}"/>
              </a:ext>
            </a:extLst>
          </p:cNvPr>
          <p:cNvSpPr>
            <a:spLocks noGrp="1"/>
          </p:cNvSpPr>
          <p:nvPr>
            <p:ph type="body" idx="1"/>
          </p:nvPr>
        </p:nvSpPr>
        <p:spPr>
          <a:xfrm>
            <a:off x="514350" y="4400550"/>
            <a:ext cx="4114800" cy="3600450"/>
          </a:xfrm>
          <a:prstGeom prst="rect">
            <a:avLst/>
          </a:prstGeom>
        </p:spPr>
        <p:txBody>
          <a:bodyPr/>
          <a:lstStyle/>
          <a:p>
            <a:endParaRPr lang="en-IN" dirty="0"/>
          </a:p>
        </p:txBody>
      </p:sp>
    </p:spTree>
    <p:extLst>
      <p:ext uri="{BB962C8B-B14F-4D97-AF65-F5344CB8AC3E}">
        <p14:creationId xmlns:p14="http://schemas.microsoft.com/office/powerpoint/2010/main" val="149751799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38C96-1F57-13DE-FFF0-830A57A911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6C9CE6-8206-16D4-6D13-F130E7009BFC}"/>
              </a:ext>
            </a:extLst>
          </p:cNvPr>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8CF68129-00FA-F8C2-2393-0142EAD6522F}"/>
              </a:ext>
            </a:extLst>
          </p:cNvPr>
          <p:cNvSpPr>
            <a:spLocks noGrp="1"/>
          </p:cNvSpPr>
          <p:nvPr>
            <p:ph type="body" idx="1"/>
          </p:nvPr>
        </p:nvSpPr>
        <p:spPr>
          <a:xfrm>
            <a:off x="514350" y="4400550"/>
            <a:ext cx="4114800" cy="3600450"/>
          </a:xfrm>
          <a:prstGeom prst="rect">
            <a:avLst/>
          </a:prstGeom>
        </p:spPr>
        <p:txBody>
          <a:bodyPr/>
          <a:lstStyle/>
          <a:p>
            <a:r>
              <a:rPr lang="en-IN" sz="1200" b="1" kern="1200" dirty="0">
                <a:solidFill>
                  <a:schemeClr val="tx1"/>
                </a:solidFill>
                <a:effectLst/>
                <a:latin typeface="+mn-lt"/>
                <a:ea typeface="+mn-ea"/>
                <a:cs typeface="+mn-cs"/>
              </a:rPr>
              <a:t>Key Components &amp; Data Flow:</a:t>
            </a:r>
            <a:endParaRPr lang="en-IN" sz="1200" kern="1200" dirty="0">
              <a:solidFill>
                <a:schemeClr val="tx1"/>
              </a:solidFill>
              <a:effectLst/>
              <a:latin typeface="+mn-lt"/>
              <a:ea typeface="+mn-ea"/>
              <a:cs typeface="+mn-cs"/>
            </a:endParaRPr>
          </a:p>
          <a:p>
            <a:pPr rtl="0" fontAlgn="ctr"/>
            <a:r>
              <a:rPr lang="en-IN" sz="1200" b="0" i="0" kern="1200" dirty="0">
                <a:solidFill>
                  <a:schemeClr val="tx1"/>
                </a:solidFill>
                <a:effectLst/>
                <a:latin typeface="+mn-lt"/>
                <a:ea typeface="+mn-ea"/>
                <a:cs typeface="+mn-cs"/>
              </a:rPr>
              <a:t>Contributor Nodes</a:t>
            </a:r>
          </a:p>
          <a:p>
            <a:pPr lvl="1" rtl="0" fontAlgn="ctr"/>
            <a:r>
              <a:rPr lang="en-IN" sz="1200" b="0" i="0" kern="1200" dirty="0">
                <a:solidFill>
                  <a:schemeClr val="tx1"/>
                </a:solidFill>
                <a:effectLst/>
                <a:latin typeface="+mn-lt"/>
                <a:ea typeface="+mn-ea"/>
                <a:cs typeface="+mn-cs"/>
              </a:rPr>
              <a:t>Local model training on-site hospitals or clinics</a:t>
            </a:r>
          </a:p>
          <a:p>
            <a:pPr lvl="1" rtl="0" fontAlgn="ctr"/>
            <a:r>
              <a:rPr lang="en-IN" sz="1200" b="0" i="0" kern="1200" dirty="0">
                <a:solidFill>
                  <a:schemeClr val="tx1"/>
                </a:solidFill>
                <a:effectLst/>
                <a:latin typeface="+mn-lt"/>
                <a:ea typeface="+mn-ea"/>
                <a:cs typeface="+mn-cs"/>
              </a:rPr>
              <a:t>Each node uses its private imaging data (CT/X-ray) to train an identical neural network</a:t>
            </a:r>
          </a:p>
          <a:p>
            <a:pPr lvl="1" rtl="0" fontAlgn="ctr"/>
            <a:r>
              <a:rPr lang="en-IN" sz="1200" b="0" i="0" kern="1200" dirty="0">
                <a:solidFill>
                  <a:schemeClr val="tx1"/>
                </a:solidFill>
                <a:effectLst/>
                <a:latin typeface="+mn-lt"/>
                <a:ea typeface="+mn-ea"/>
                <a:cs typeface="+mn-cs"/>
              </a:rPr>
              <a:t>Outputs: encrypted model weights and performance metrics</a:t>
            </a:r>
          </a:p>
          <a:p>
            <a:pPr rtl="0" fontAlgn="ctr"/>
            <a:r>
              <a:rPr lang="en-IN" sz="1200" b="0" i="0" kern="1200" dirty="0">
                <a:solidFill>
                  <a:schemeClr val="tx1"/>
                </a:solidFill>
                <a:effectLst/>
                <a:latin typeface="+mn-lt"/>
                <a:ea typeface="+mn-ea"/>
                <a:cs typeface="+mn-cs"/>
              </a:rPr>
              <a:t>Off-Chain Storage (IPFS)</a:t>
            </a:r>
          </a:p>
          <a:p>
            <a:pPr lvl="1" rtl="0" fontAlgn="ctr"/>
            <a:r>
              <a:rPr lang="en-IN" sz="1200" b="0" i="0" kern="1200" dirty="0">
                <a:solidFill>
                  <a:schemeClr val="tx1"/>
                </a:solidFill>
                <a:effectLst/>
                <a:latin typeface="+mn-lt"/>
                <a:ea typeface="+mn-ea"/>
                <a:cs typeface="+mn-cs"/>
              </a:rPr>
              <a:t>Contributor pins encrypted model files to IPFS, obtaining a Content Identifier (CID)</a:t>
            </a:r>
          </a:p>
          <a:p>
            <a:pPr lvl="1" rtl="0" fontAlgn="ctr"/>
            <a:r>
              <a:rPr lang="en-IN" sz="1200" b="0" i="0" kern="1200" dirty="0">
                <a:solidFill>
                  <a:schemeClr val="tx1"/>
                </a:solidFill>
                <a:effectLst/>
                <a:latin typeface="+mn-lt"/>
                <a:ea typeface="+mn-ea"/>
                <a:cs typeface="+mn-cs"/>
              </a:rPr>
              <a:t>IPFS handles large binaries, provides deduplication and decentralized availability</a:t>
            </a:r>
          </a:p>
          <a:p>
            <a:pPr lvl="1" rtl="0" fontAlgn="ctr"/>
            <a:r>
              <a:rPr lang="en-IN" sz="1200" b="0" i="0" kern="1200" dirty="0">
                <a:solidFill>
                  <a:schemeClr val="tx1"/>
                </a:solidFill>
                <a:effectLst/>
                <a:latin typeface="+mn-lt"/>
                <a:ea typeface="+mn-ea"/>
                <a:cs typeface="+mn-cs"/>
              </a:rPr>
              <a:t>Only the CID and metadata (file size, timestamp) are referenced on-chain</a:t>
            </a:r>
          </a:p>
          <a:p>
            <a:pPr rtl="0" fontAlgn="ctr"/>
            <a:r>
              <a:rPr lang="en-IN" sz="1200" b="0" i="0" kern="1200" dirty="0">
                <a:solidFill>
                  <a:schemeClr val="tx1"/>
                </a:solidFill>
                <a:effectLst/>
                <a:latin typeface="+mn-lt"/>
                <a:ea typeface="+mn-ea"/>
                <a:cs typeface="+mn-cs"/>
              </a:rPr>
              <a:t>Blockchain Ledger</a:t>
            </a:r>
          </a:p>
          <a:p>
            <a:pPr lvl="1" rtl="0" fontAlgn="ctr"/>
            <a:r>
              <a:rPr lang="en-IN" sz="1200" b="0" i="0" kern="1200" dirty="0">
                <a:solidFill>
                  <a:schemeClr val="tx1"/>
                </a:solidFill>
                <a:effectLst/>
                <a:latin typeface="+mn-lt"/>
                <a:ea typeface="+mn-ea"/>
                <a:cs typeface="+mn-cs"/>
              </a:rPr>
              <a:t>Smart Contract: Model Registration</a:t>
            </a:r>
            <a:br>
              <a:rPr lang="en-IN" sz="1200" b="0" i="0" kern="1200" dirty="0">
                <a:solidFill>
                  <a:schemeClr val="tx1"/>
                </a:solidFill>
                <a:effectLst/>
                <a:latin typeface="+mn-lt"/>
                <a:ea typeface="+mn-ea"/>
                <a:cs typeface="+mn-cs"/>
              </a:rPr>
            </a:br>
            <a:r>
              <a:rPr lang="en-IN" sz="1200" b="0" i="0" kern="1200" dirty="0">
                <a:solidFill>
                  <a:schemeClr val="tx1"/>
                </a:solidFill>
                <a:effectLst/>
                <a:latin typeface="+mn-lt"/>
                <a:ea typeface="+mn-ea"/>
                <a:cs typeface="+mn-cs"/>
              </a:rPr>
              <a:t>– Records CID, SHA-256 hash of the model, contributor ID, and timestamp</a:t>
            </a:r>
            <a:br>
              <a:rPr lang="en-IN" sz="1200" b="0" i="0" kern="1200" dirty="0">
                <a:solidFill>
                  <a:schemeClr val="tx1"/>
                </a:solidFill>
                <a:effectLst/>
                <a:latin typeface="+mn-lt"/>
                <a:ea typeface="+mn-ea"/>
                <a:cs typeface="+mn-cs"/>
              </a:rPr>
            </a:br>
            <a:r>
              <a:rPr lang="en-IN" sz="1200" b="0" i="0" kern="1200" dirty="0">
                <a:solidFill>
                  <a:schemeClr val="tx1"/>
                </a:solidFill>
                <a:effectLst/>
                <a:latin typeface="+mn-lt"/>
                <a:ea typeface="+mn-ea"/>
                <a:cs typeface="+mn-cs"/>
              </a:rPr>
              <a:t>– Emits an event for “new submission” listeners</a:t>
            </a:r>
          </a:p>
          <a:p>
            <a:pPr lvl="1" rtl="0" fontAlgn="ctr"/>
            <a:r>
              <a:rPr lang="en-IN" sz="1200" b="0" i="0" kern="1200" dirty="0">
                <a:solidFill>
                  <a:schemeClr val="tx1"/>
                </a:solidFill>
                <a:effectLst/>
                <a:latin typeface="+mn-lt"/>
                <a:ea typeface="+mn-ea"/>
                <a:cs typeface="+mn-cs"/>
              </a:rPr>
              <a:t>Smart Contract: Validation Trigger</a:t>
            </a:r>
            <a:br>
              <a:rPr lang="en-IN" sz="1200" b="0" i="0" kern="1200" dirty="0">
                <a:solidFill>
                  <a:schemeClr val="tx1"/>
                </a:solidFill>
                <a:effectLst/>
                <a:latin typeface="+mn-lt"/>
                <a:ea typeface="+mn-ea"/>
                <a:cs typeface="+mn-cs"/>
              </a:rPr>
            </a:br>
            <a:r>
              <a:rPr lang="en-IN" sz="1200" b="0" i="0" kern="1200" dirty="0">
                <a:solidFill>
                  <a:schemeClr val="tx1"/>
                </a:solidFill>
                <a:effectLst/>
                <a:latin typeface="+mn-lt"/>
                <a:ea typeface="+mn-ea"/>
                <a:cs typeface="+mn-cs"/>
              </a:rPr>
              <a:t>– Watches for performance metrics from an oracle</a:t>
            </a:r>
            <a:br>
              <a:rPr lang="en-IN" sz="1200" b="0" i="0" kern="1200" dirty="0">
                <a:solidFill>
                  <a:schemeClr val="tx1"/>
                </a:solidFill>
                <a:effectLst/>
                <a:latin typeface="+mn-lt"/>
                <a:ea typeface="+mn-ea"/>
                <a:cs typeface="+mn-cs"/>
              </a:rPr>
            </a:br>
            <a:r>
              <a:rPr lang="en-IN" sz="1200" b="0" i="0" kern="1200" dirty="0">
                <a:solidFill>
                  <a:schemeClr val="tx1"/>
                </a:solidFill>
                <a:effectLst/>
                <a:latin typeface="+mn-lt"/>
                <a:ea typeface="+mn-ea"/>
                <a:cs typeface="+mn-cs"/>
              </a:rPr>
              <a:t>– Automatically flags models passing predefined thresholds (e.g., AUC &gt; 0.90)</a:t>
            </a:r>
          </a:p>
          <a:p>
            <a:pPr lvl="1" rtl="0" fontAlgn="ctr"/>
            <a:r>
              <a:rPr lang="en-IN" sz="1200" b="0" i="0" kern="1200" dirty="0">
                <a:solidFill>
                  <a:schemeClr val="tx1"/>
                </a:solidFill>
                <a:effectLst/>
                <a:latin typeface="+mn-lt"/>
                <a:ea typeface="+mn-ea"/>
                <a:cs typeface="+mn-cs"/>
              </a:rPr>
              <a:t>Smart Contract: Access Control (SCR-BAC)</a:t>
            </a:r>
            <a:br>
              <a:rPr lang="en-IN" sz="1200" b="0" i="0" kern="1200" dirty="0">
                <a:solidFill>
                  <a:schemeClr val="tx1"/>
                </a:solidFill>
                <a:effectLst/>
                <a:latin typeface="+mn-lt"/>
                <a:ea typeface="+mn-ea"/>
                <a:cs typeface="+mn-cs"/>
              </a:rPr>
            </a:br>
            <a:r>
              <a:rPr lang="en-IN" sz="1200" b="0" i="0" kern="1200" dirty="0">
                <a:solidFill>
                  <a:schemeClr val="tx1"/>
                </a:solidFill>
                <a:effectLst/>
                <a:latin typeface="+mn-lt"/>
                <a:ea typeface="+mn-ea"/>
                <a:cs typeface="+mn-cs"/>
              </a:rPr>
              <a:t>– Defines roles (Contributor, Aggregator, End User) and dynamic risk policies</a:t>
            </a:r>
            <a:br>
              <a:rPr lang="en-IN" sz="1200" b="0" i="0" kern="1200" dirty="0">
                <a:solidFill>
                  <a:schemeClr val="tx1"/>
                </a:solidFill>
                <a:effectLst/>
                <a:latin typeface="+mn-lt"/>
                <a:ea typeface="+mn-ea"/>
                <a:cs typeface="+mn-cs"/>
              </a:rPr>
            </a:br>
            <a:r>
              <a:rPr lang="en-IN" sz="1200" b="0" i="0" kern="1200" dirty="0">
                <a:solidFill>
                  <a:schemeClr val="tx1"/>
                </a:solidFill>
                <a:effectLst/>
                <a:latin typeface="+mn-lt"/>
                <a:ea typeface="+mn-ea"/>
                <a:cs typeface="+mn-cs"/>
              </a:rPr>
              <a:t>– Grants or revokes permissions based on cumulative risk scores</a:t>
            </a:r>
          </a:p>
          <a:p>
            <a:pPr rtl="0" fontAlgn="ctr"/>
            <a:r>
              <a:rPr lang="en-IN" sz="1200" b="0" i="0" kern="1200" dirty="0">
                <a:solidFill>
                  <a:schemeClr val="tx1"/>
                </a:solidFill>
                <a:effectLst/>
                <a:latin typeface="+mn-lt"/>
                <a:ea typeface="+mn-ea"/>
                <a:cs typeface="+mn-cs"/>
              </a:rPr>
              <a:t>Aggregator Node</a:t>
            </a:r>
          </a:p>
          <a:p>
            <a:pPr lvl="1" rtl="0" fontAlgn="ctr"/>
            <a:r>
              <a:rPr lang="en-IN" sz="1200" b="0" i="0" kern="1200" dirty="0">
                <a:solidFill>
                  <a:schemeClr val="tx1"/>
                </a:solidFill>
                <a:effectLst/>
                <a:latin typeface="+mn-lt"/>
                <a:ea typeface="+mn-ea"/>
                <a:cs typeface="+mn-cs"/>
              </a:rPr>
              <a:t>Listens to “validated” events, pulls model weights from IPFS via CID</a:t>
            </a:r>
          </a:p>
          <a:p>
            <a:pPr lvl="1" rtl="0" fontAlgn="ctr"/>
            <a:r>
              <a:rPr lang="en-IN" sz="1200" b="0" i="0" kern="1200" dirty="0">
                <a:solidFill>
                  <a:schemeClr val="tx1"/>
                </a:solidFill>
                <a:effectLst/>
                <a:latin typeface="+mn-lt"/>
                <a:ea typeface="+mn-ea"/>
                <a:cs typeface="+mn-cs"/>
              </a:rPr>
              <a:t>Verifies integrity: recomputes SHA-256 hash and compares to on-chain record</a:t>
            </a:r>
          </a:p>
          <a:p>
            <a:pPr lvl="1" rtl="0" fontAlgn="ctr"/>
            <a:r>
              <a:rPr lang="en-IN" sz="1200" b="0" i="0" kern="1200" dirty="0">
                <a:solidFill>
                  <a:schemeClr val="tx1"/>
                </a:solidFill>
                <a:effectLst/>
                <a:latin typeface="+mn-lt"/>
                <a:ea typeface="+mn-ea"/>
                <a:cs typeface="+mn-cs"/>
              </a:rPr>
              <a:t>Aggregation logic: weighted averaging or quality-aware causal weighting</a:t>
            </a:r>
          </a:p>
          <a:p>
            <a:pPr lvl="1" rtl="0" fontAlgn="ctr"/>
            <a:r>
              <a:rPr lang="en-IN" sz="1200" b="0" i="0" kern="1200" dirty="0">
                <a:solidFill>
                  <a:schemeClr val="tx1"/>
                </a:solidFill>
                <a:effectLst/>
                <a:latin typeface="+mn-lt"/>
                <a:ea typeface="+mn-ea"/>
                <a:cs typeface="+mn-cs"/>
              </a:rPr>
              <a:t>Produces a new global model, encrypts and re-pins to IPFS, publishes new CID</a:t>
            </a:r>
          </a:p>
          <a:p>
            <a:pPr rtl="0" fontAlgn="ctr"/>
            <a:r>
              <a:rPr lang="en-IN" sz="1200" b="0" i="0" kern="1200" dirty="0">
                <a:solidFill>
                  <a:schemeClr val="tx1"/>
                </a:solidFill>
                <a:effectLst/>
                <a:latin typeface="+mn-lt"/>
                <a:ea typeface="+mn-ea"/>
                <a:cs typeface="+mn-cs"/>
              </a:rPr>
              <a:t>End User Access</a:t>
            </a:r>
          </a:p>
          <a:p>
            <a:pPr lvl="1" rtl="0" fontAlgn="ctr"/>
            <a:r>
              <a:rPr lang="en-IN" sz="1200" b="0" i="0" kern="1200" dirty="0">
                <a:solidFill>
                  <a:schemeClr val="tx1"/>
                </a:solidFill>
                <a:effectLst/>
                <a:latin typeface="+mn-lt"/>
                <a:ea typeface="+mn-ea"/>
                <a:cs typeface="+mn-cs"/>
              </a:rPr>
              <a:t>End users (clinicians, edge devices) query the blockchain for the latest verified CID</a:t>
            </a:r>
          </a:p>
          <a:p>
            <a:pPr lvl="1" rtl="0" fontAlgn="ctr"/>
            <a:r>
              <a:rPr lang="en-IN" sz="1200" b="0" i="0" kern="1200" dirty="0">
                <a:solidFill>
                  <a:schemeClr val="tx1"/>
                </a:solidFill>
                <a:effectLst/>
                <a:latin typeface="+mn-lt"/>
                <a:ea typeface="+mn-ea"/>
                <a:cs typeface="+mn-cs"/>
              </a:rPr>
              <a:t>Retrieve the aggregated model from IPFS, decrypt using proxy re-encryption keys</a:t>
            </a:r>
          </a:p>
          <a:p>
            <a:pPr lvl="1" rtl="0" fontAlgn="ctr"/>
            <a:r>
              <a:rPr lang="en-IN" sz="1200" b="0" i="0" kern="1200" dirty="0">
                <a:solidFill>
                  <a:schemeClr val="tx1"/>
                </a:solidFill>
                <a:effectLst/>
                <a:latin typeface="+mn-lt"/>
                <a:ea typeface="+mn-ea"/>
                <a:cs typeface="+mn-cs"/>
              </a:rPr>
              <a:t>Deploys model locally for inference on new lung imaging data</a:t>
            </a:r>
          </a:p>
          <a:p>
            <a:endParaRPr lang="en-IN" dirty="0"/>
          </a:p>
        </p:txBody>
      </p:sp>
    </p:spTree>
    <p:extLst>
      <p:ext uri="{BB962C8B-B14F-4D97-AF65-F5344CB8AC3E}">
        <p14:creationId xmlns:p14="http://schemas.microsoft.com/office/powerpoint/2010/main" val="37964093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0A3A86-731D-7D23-A3D1-2FDBAD633A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4E0783-36E0-4E2C-E41B-411A658F36A6}"/>
              </a:ext>
            </a:extLst>
          </p:cNvPr>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0AD1FBF9-2F15-DA75-D960-215DD9E12935}"/>
              </a:ext>
            </a:extLst>
          </p:cNvPr>
          <p:cNvSpPr>
            <a:spLocks noGrp="1"/>
          </p:cNvSpPr>
          <p:nvPr>
            <p:ph type="body" idx="1"/>
          </p:nvPr>
        </p:nvSpPr>
        <p:spPr>
          <a:xfrm>
            <a:off x="514350" y="4400550"/>
            <a:ext cx="4114800" cy="3600450"/>
          </a:xfrm>
          <a:prstGeom prst="rect">
            <a:avLst/>
          </a:prstGeom>
        </p:spPr>
        <p:txBody>
          <a:bodyPr/>
          <a:lstStyle/>
          <a:p>
            <a:endParaRPr lang="en-IN" dirty="0"/>
          </a:p>
        </p:txBody>
      </p:sp>
    </p:spTree>
    <p:extLst>
      <p:ext uri="{BB962C8B-B14F-4D97-AF65-F5344CB8AC3E}">
        <p14:creationId xmlns:p14="http://schemas.microsoft.com/office/powerpoint/2010/main" val="37781115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FC3735-2715-9C47-D1DD-CCE73C96AB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A4A917-3503-590E-286C-C9DC1F84C913}"/>
              </a:ext>
            </a:extLst>
          </p:cNvPr>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DAD8AF7A-32B5-0970-8315-DD4B46FA9D6B}"/>
              </a:ext>
            </a:extLst>
          </p:cNvPr>
          <p:cNvSpPr>
            <a:spLocks noGrp="1"/>
          </p:cNvSpPr>
          <p:nvPr>
            <p:ph type="body" idx="1"/>
          </p:nvPr>
        </p:nvSpPr>
        <p:spPr>
          <a:xfrm>
            <a:off x="514350" y="4400550"/>
            <a:ext cx="4114800" cy="3600450"/>
          </a:xfrm>
          <a:prstGeom prst="rect">
            <a:avLst/>
          </a:prstGeom>
        </p:spPr>
        <p:txBody>
          <a:bodyPr/>
          <a:lstStyle/>
          <a:p>
            <a:endParaRPr lang="en-IN" dirty="0"/>
          </a:p>
        </p:txBody>
      </p:sp>
    </p:spTree>
    <p:extLst>
      <p:ext uri="{BB962C8B-B14F-4D97-AF65-F5344CB8AC3E}">
        <p14:creationId xmlns:p14="http://schemas.microsoft.com/office/powerpoint/2010/main" val="184553994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7F1B6C-6F81-55E7-5864-F01B3E2457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9C3FB0-D3A9-536B-CD12-C5315AFF1675}"/>
              </a:ext>
            </a:extLst>
          </p:cNvPr>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D5ECFF39-DDEC-EBD6-91D3-093389F0AC6F}"/>
              </a:ext>
            </a:extLst>
          </p:cNvPr>
          <p:cNvSpPr>
            <a:spLocks noGrp="1"/>
          </p:cNvSpPr>
          <p:nvPr>
            <p:ph type="body" idx="1"/>
          </p:nvPr>
        </p:nvSpPr>
        <p:spPr>
          <a:xfrm>
            <a:off x="514350" y="4400550"/>
            <a:ext cx="4114800" cy="3600450"/>
          </a:xfrm>
          <a:prstGeom prst="rect">
            <a:avLst/>
          </a:prstGeom>
        </p:spPr>
        <p:txBody>
          <a:bodyPr/>
          <a:lstStyle/>
          <a:p>
            <a:endParaRPr lang="en-IN" dirty="0"/>
          </a:p>
        </p:txBody>
      </p:sp>
    </p:spTree>
    <p:extLst>
      <p:ext uri="{BB962C8B-B14F-4D97-AF65-F5344CB8AC3E}">
        <p14:creationId xmlns:p14="http://schemas.microsoft.com/office/powerpoint/2010/main" val="36059512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0A166E-EEA3-6B79-92D6-42ABB5F662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9C156A-9370-F557-2B00-67D62F4D1F74}"/>
              </a:ext>
            </a:extLst>
          </p:cNvPr>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936A707D-E60F-F979-4E8E-BDC64F18D818}"/>
              </a:ext>
            </a:extLst>
          </p:cNvPr>
          <p:cNvSpPr>
            <a:spLocks noGrp="1"/>
          </p:cNvSpPr>
          <p:nvPr>
            <p:ph type="body" idx="1"/>
          </p:nvPr>
        </p:nvSpPr>
        <p:spPr>
          <a:xfrm>
            <a:off x="514350" y="4400550"/>
            <a:ext cx="4114800" cy="3600450"/>
          </a:xfrm>
          <a:prstGeom prst="rect">
            <a:avLst/>
          </a:prstGeom>
        </p:spPr>
        <p:txBody>
          <a:bodyPr/>
          <a:lstStyle/>
          <a:p>
            <a:endParaRPr lang="en-IN" dirty="0"/>
          </a:p>
        </p:txBody>
      </p:sp>
    </p:spTree>
    <p:extLst>
      <p:ext uri="{BB962C8B-B14F-4D97-AF65-F5344CB8AC3E}">
        <p14:creationId xmlns:p14="http://schemas.microsoft.com/office/powerpoint/2010/main" val="271413660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64C9D0-59C9-CBD2-1FCF-64C6605CB7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B85F91-628C-1198-9B1C-A7E585A5F62A}"/>
              </a:ext>
            </a:extLst>
          </p:cNvPr>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5F819AC9-E0F2-B6E5-DC2D-97D4F24F141C}"/>
              </a:ext>
            </a:extLst>
          </p:cNvPr>
          <p:cNvSpPr>
            <a:spLocks noGrp="1"/>
          </p:cNvSpPr>
          <p:nvPr>
            <p:ph type="body" idx="1"/>
          </p:nvPr>
        </p:nvSpPr>
        <p:spPr>
          <a:xfrm>
            <a:off x="514350" y="4400550"/>
            <a:ext cx="4114800" cy="3600450"/>
          </a:xfrm>
          <a:prstGeom prst="rect">
            <a:avLst/>
          </a:prstGeom>
        </p:spPr>
        <p:txBody>
          <a:bodyPr/>
          <a:lstStyle/>
          <a:p>
            <a:r>
              <a:rPr lang="en-US" sz="1200" b="0" i="0" kern="1200" dirty="0">
                <a:solidFill>
                  <a:schemeClr val="tx1"/>
                </a:solidFill>
                <a:effectLst/>
                <a:latin typeface="+mn-lt"/>
                <a:ea typeface="+mn-ea"/>
                <a:cs typeface="+mn-cs"/>
              </a:rPr>
              <a:t>The "Auditor" block represents participants or external users who independently validate, query, and interact with the on-chain federated learning system for assurance, transparency, and discovery. Each sub-block within the "Auditor" lane serves a specific role in fostering trust, compliance, and decentralized access.</a:t>
            </a:r>
            <a:endParaRPr lang="en-IN" dirty="0"/>
          </a:p>
        </p:txBody>
      </p:sp>
    </p:spTree>
    <p:extLst>
      <p:ext uri="{BB962C8B-B14F-4D97-AF65-F5344CB8AC3E}">
        <p14:creationId xmlns:p14="http://schemas.microsoft.com/office/powerpoint/2010/main" val="380114427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1D297C-DD98-8632-395D-349398931C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5254E6-7586-0BC3-7501-68D26DCDD6F3}"/>
              </a:ext>
            </a:extLst>
          </p:cNvPr>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48703876-5995-E4AA-EEEE-EC7660235014}"/>
              </a:ext>
            </a:extLst>
          </p:cNvPr>
          <p:cNvSpPr>
            <a:spLocks noGrp="1"/>
          </p:cNvSpPr>
          <p:nvPr>
            <p:ph type="body" idx="1"/>
          </p:nvPr>
        </p:nvSpPr>
        <p:spPr>
          <a:xfrm>
            <a:off x="514350" y="4400550"/>
            <a:ext cx="4114800" cy="3600450"/>
          </a:xfrm>
          <a:prstGeom prst="rect">
            <a:avLst/>
          </a:prstGeom>
        </p:spPr>
        <p:txBody>
          <a:bodyPr/>
          <a:lstStyle/>
          <a:p>
            <a:endParaRPr lang="en-IN" dirty="0"/>
          </a:p>
        </p:txBody>
      </p:sp>
    </p:spTree>
    <p:extLst>
      <p:ext uri="{BB962C8B-B14F-4D97-AF65-F5344CB8AC3E}">
        <p14:creationId xmlns:p14="http://schemas.microsoft.com/office/powerpoint/2010/main" val="325102576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48884C-8753-F28D-88DC-8D1B9F1F2A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85A02-D784-A598-E050-E7D98D491296}"/>
              </a:ext>
            </a:extLst>
          </p:cNvPr>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4791C552-DE02-FE65-701D-4B6C3D23B089}"/>
              </a:ext>
            </a:extLst>
          </p:cNvPr>
          <p:cNvSpPr>
            <a:spLocks noGrp="1"/>
          </p:cNvSpPr>
          <p:nvPr>
            <p:ph type="body" idx="1"/>
          </p:nvPr>
        </p:nvSpPr>
        <p:spPr>
          <a:xfrm>
            <a:off x="514350" y="4400550"/>
            <a:ext cx="4114800" cy="3600450"/>
          </a:xfrm>
          <a:prstGeom prst="rect">
            <a:avLst/>
          </a:prstGeom>
        </p:spPr>
        <p:txBody>
          <a:bodyPr/>
          <a:lstStyle/>
          <a:p>
            <a:endParaRPr lang="en-IN" dirty="0"/>
          </a:p>
        </p:txBody>
      </p:sp>
    </p:spTree>
    <p:extLst>
      <p:ext uri="{BB962C8B-B14F-4D97-AF65-F5344CB8AC3E}">
        <p14:creationId xmlns:p14="http://schemas.microsoft.com/office/powerpoint/2010/main" val="226947636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4F9792-0689-7E7C-A342-EE3D587744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1F75CE-C327-3917-46C4-4080319E8F72}"/>
              </a:ext>
            </a:extLst>
          </p:cNvPr>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EA0F7302-FCFA-D633-F5D9-97C4E75C4924}"/>
              </a:ext>
            </a:extLst>
          </p:cNvPr>
          <p:cNvSpPr>
            <a:spLocks noGrp="1"/>
          </p:cNvSpPr>
          <p:nvPr>
            <p:ph type="body" idx="1"/>
          </p:nvPr>
        </p:nvSpPr>
        <p:spPr>
          <a:xfrm>
            <a:off x="514350" y="4400550"/>
            <a:ext cx="4114800" cy="3600450"/>
          </a:xfrm>
          <a:prstGeom prst="rect">
            <a:avLst/>
          </a:prstGeom>
        </p:spPr>
        <p:txBody>
          <a:bodyPr/>
          <a:lstStyle/>
          <a:p>
            <a:endParaRPr lang="en-IN" dirty="0"/>
          </a:p>
        </p:txBody>
      </p:sp>
    </p:spTree>
    <p:extLst>
      <p:ext uri="{BB962C8B-B14F-4D97-AF65-F5344CB8AC3E}">
        <p14:creationId xmlns:p14="http://schemas.microsoft.com/office/powerpoint/2010/main" val="140334361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D24C6A-E338-5AA9-BBFB-7264FDE903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0263B0-6DB9-A1AC-2AE5-B554E66D4A36}"/>
              </a:ext>
            </a:extLst>
          </p:cNvPr>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0D8B268A-6AC3-C435-668D-DFDBA203F714}"/>
              </a:ext>
            </a:extLst>
          </p:cNvPr>
          <p:cNvSpPr>
            <a:spLocks noGrp="1"/>
          </p:cNvSpPr>
          <p:nvPr>
            <p:ph type="body" idx="1"/>
          </p:nvPr>
        </p:nvSpPr>
        <p:spPr>
          <a:xfrm>
            <a:off x="514350" y="4400550"/>
            <a:ext cx="4114800" cy="3600450"/>
          </a:xfrm>
          <a:prstGeom prst="rect">
            <a:avLst/>
          </a:prstGeom>
        </p:spPr>
        <p:txBody>
          <a:bodyPr/>
          <a:lstStyle/>
          <a:p>
            <a:r>
              <a:rPr lang="en-IN" dirty="0"/>
              <a:t>JWT (JSON Web Token) authentication is a </a:t>
            </a:r>
            <a:r>
              <a:rPr lang="en-IN" b="1" dirty="0"/>
              <a:t>stateless, secure method</a:t>
            </a:r>
            <a:r>
              <a:rPr lang="en-IN" dirty="0"/>
              <a:t> for verifying users and granting access to protected resources—especially in web applications and APIs.</a:t>
            </a:r>
          </a:p>
          <a:p>
            <a:r>
              <a:rPr lang="en-IN" b="1" dirty="0"/>
              <a:t>What Is JWT?</a:t>
            </a:r>
          </a:p>
          <a:p>
            <a:r>
              <a:rPr lang="en-IN" dirty="0"/>
              <a:t>A </a:t>
            </a:r>
            <a:r>
              <a:rPr lang="en-IN" b="1" dirty="0"/>
              <a:t>JWT</a:t>
            </a:r>
            <a:r>
              <a:rPr lang="en-IN" dirty="0"/>
              <a:t> is a compact, digitally signed token that carries user identity and claims. It’s made up of three parts:</a:t>
            </a:r>
          </a:p>
          <a:p>
            <a:r>
              <a:rPr lang="en-IN" b="1" dirty="0"/>
              <a:t>Header</a:t>
            </a:r>
            <a:r>
              <a:rPr lang="en-IN" dirty="0"/>
              <a:t> – Specifies the signing algorithm (e.g., HS256)</a:t>
            </a:r>
          </a:p>
          <a:p>
            <a:r>
              <a:rPr lang="en-IN" b="1" dirty="0"/>
              <a:t>Payload</a:t>
            </a:r>
            <a:r>
              <a:rPr lang="en-IN" dirty="0"/>
              <a:t> – Contains user data and claims (e.g., user ID, roles, expiration)</a:t>
            </a:r>
          </a:p>
          <a:p>
            <a:r>
              <a:rPr lang="en-IN" b="1" dirty="0"/>
              <a:t>Signature</a:t>
            </a:r>
            <a:r>
              <a:rPr lang="en-IN" dirty="0"/>
              <a:t> – Ensures integrity using a secret key or public/private key pair</a:t>
            </a:r>
          </a:p>
          <a:p>
            <a:r>
              <a:rPr lang="en-IN" dirty="0"/>
              <a:t>Example JWT:</a:t>
            </a:r>
          </a:p>
          <a:p>
            <a:r>
              <a:rPr lang="en-IN" dirty="0"/>
              <a:t>eyJhbGciOiJIUzI1NiIsInR5cCI6IkpXVCJ9. eyJzdWIiOiIxMjM0NTY3ODkwIiwibmFtZSI6IkphbmUgRG9lIiwiaWF0IjoxNjk3MjM5MDIyfQ. 5CerSPBCrO_3WdiyPjR7HoWBOeXsuq2AcfplJeG7erc </a:t>
            </a:r>
            <a:r>
              <a:rPr lang="en-IN" b="1" dirty="0"/>
              <a:t>🚀 How JWT Authentication Works</a:t>
            </a:r>
          </a:p>
          <a:p>
            <a:r>
              <a:rPr lang="en-IN" b="1" dirty="0"/>
              <a:t>Login</a:t>
            </a:r>
            <a:r>
              <a:rPr lang="en-IN" dirty="0"/>
              <a:t>: User submits credentials (e.g., email &amp; password)</a:t>
            </a:r>
          </a:p>
          <a:p>
            <a:r>
              <a:rPr lang="en-IN" b="1" dirty="0"/>
              <a:t>Token Issued</a:t>
            </a:r>
            <a:r>
              <a:rPr lang="en-IN" dirty="0"/>
              <a:t>: Server verifies credentials and returns a signed JWT</a:t>
            </a:r>
          </a:p>
          <a:p>
            <a:r>
              <a:rPr lang="en-IN" b="1" dirty="0"/>
              <a:t>Client Stores Token</a:t>
            </a:r>
            <a:r>
              <a:rPr lang="en-IN" dirty="0"/>
              <a:t>: Typically in </a:t>
            </a:r>
            <a:r>
              <a:rPr lang="en-IN" dirty="0" err="1"/>
              <a:t>localStorage</a:t>
            </a:r>
            <a:r>
              <a:rPr lang="en-IN" dirty="0"/>
              <a:t> or cookies</a:t>
            </a:r>
          </a:p>
          <a:p>
            <a:r>
              <a:rPr lang="en-IN" b="1" dirty="0"/>
              <a:t>Authenticated Requests</a:t>
            </a:r>
            <a:r>
              <a:rPr lang="en-IN" dirty="0"/>
              <a:t>: Client sends JWT in the Authorization header (Bearer &lt;token&gt;)</a:t>
            </a:r>
          </a:p>
          <a:p>
            <a:r>
              <a:rPr lang="en-IN" b="1" dirty="0"/>
              <a:t>Server Verifies</a:t>
            </a:r>
            <a:r>
              <a:rPr lang="en-IN" dirty="0"/>
              <a:t>: Server checks the token’s signature and claims before granting access</a:t>
            </a:r>
          </a:p>
          <a:p>
            <a:r>
              <a:rPr lang="en-IN" b="1" dirty="0"/>
              <a:t>Why Use JWT?</a:t>
            </a:r>
          </a:p>
          <a:p>
            <a:r>
              <a:rPr lang="en-IN" b="1" dirty="0"/>
              <a:t>Stateless</a:t>
            </a:r>
            <a:r>
              <a:rPr lang="en-IN" dirty="0"/>
              <a:t>: No need to store sessions on the server</a:t>
            </a:r>
          </a:p>
          <a:p>
            <a:r>
              <a:rPr lang="en-IN" b="1" dirty="0"/>
              <a:t>Tamper-Proof</a:t>
            </a:r>
            <a:r>
              <a:rPr lang="en-IN" dirty="0"/>
              <a:t>: Signature ensures data integrity</a:t>
            </a:r>
          </a:p>
          <a:p>
            <a:r>
              <a:rPr lang="en-IN" b="1" dirty="0"/>
              <a:t>Cross-Platform</a:t>
            </a:r>
            <a:r>
              <a:rPr lang="en-IN" dirty="0"/>
              <a:t>: Works across mobile, web, and microservices</a:t>
            </a:r>
          </a:p>
          <a:p>
            <a:r>
              <a:rPr lang="en-IN" b="1" dirty="0"/>
              <a:t>Built-in Expiry</a:t>
            </a:r>
            <a:r>
              <a:rPr lang="en-IN" dirty="0"/>
              <a:t>: Tokens can expire automatically</a:t>
            </a:r>
          </a:p>
          <a:p>
            <a:r>
              <a:rPr lang="en-IN" b="1" dirty="0"/>
              <a:t> Security Tips</a:t>
            </a:r>
          </a:p>
          <a:p>
            <a:r>
              <a:rPr lang="en-IN" dirty="0"/>
              <a:t>Always use HTTPS to transmit tokens</a:t>
            </a:r>
          </a:p>
          <a:p>
            <a:r>
              <a:rPr lang="en-IN" dirty="0"/>
              <a:t>Set short expiration times</a:t>
            </a:r>
          </a:p>
          <a:p>
            <a:r>
              <a:rPr lang="en-IN" dirty="0"/>
              <a:t>Store tokens securely (e.g., </a:t>
            </a:r>
            <a:r>
              <a:rPr lang="en-IN" dirty="0" err="1"/>
              <a:t>HttpOnly</a:t>
            </a:r>
            <a:r>
              <a:rPr lang="en-IN" dirty="0"/>
              <a:t> cookies)</a:t>
            </a:r>
          </a:p>
          <a:p>
            <a:r>
              <a:rPr lang="en-IN" dirty="0"/>
              <a:t>Validate token signature and claims on every request</a:t>
            </a:r>
          </a:p>
          <a:p>
            <a:r>
              <a:rPr lang="en-IN" dirty="0"/>
              <a:t>If you’d like, I can show you how to implement JWT in Node.js or Spring Boot—or even compare it with OAuth2. Want to go deeper?</a:t>
            </a:r>
          </a:p>
          <a:p>
            <a:endParaRPr lang="en-IN" dirty="0"/>
          </a:p>
        </p:txBody>
      </p:sp>
    </p:spTree>
    <p:extLst>
      <p:ext uri="{BB962C8B-B14F-4D97-AF65-F5344CB8AC3E}">
        <p14:creationId xmlns:p14="http://schemas.microsoft.com/office/powerpoint/2010/main" val="2544844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5E9021-C43C-17DB-956C-7BD62B80F0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9C54FD-7811-405E-D700-0ECDC5531712}"/>
              </a:ext>
            </a:extLst>
          </p:cNvPr>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5F6A7AED-A417-C78F-B0C2-4FE34CA1BAE9}"/>
              </a:ext>
            </a:extLst>
          </p:cNvPr>
          <p:cNvSpPr>
            <a:spLocks noGrp="1"/>
          </p:cNvSpPr>
          <p:nvPr>
            <p:ph type="body" idx="1"/>
          </p:nvPr>
        </p:nvSpPr>
        <p:spPr>
          <a:xfrm>
            <a:off x="514350" y="4400550"/>
            <a:ext cx="4114800" cy="3600450"/>
          </a:xfrm>
          <a:prstGeom prst="rect">
            <a:avLst/>
          </a:prstGeom>
        </p:spPr>
        <p:txBody>
          <a:bodyPr/>
          <a:lstStyle/>
          <a:p>
            <a:endParaRPr lang="en-IN" dirty="0"/>
          </a:p>
        </p:txBody>
      </p:sp>
    </p:spTree>
    <p:extLst>
      <p:ext uri="{BB962C8B-B14F-4D97-AF65-F5344CB8AC3E}">
        <p14:creationId xmlns:p14="http://schemas.microsoft.com/office/powerpoint/2010/main" val="333878092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1EC1B1-4D4B-63E6-61AB-D02A85F090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C9D2D9-3069-7C85-9518-EE713199A708}"/>
              </a:ext>
            </a:extLst>
          </p:cNvPr>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6B8CD055-F114-3542-532B-E062AD9489E6}"/>
              </a:ext>
            </a:extLst>
          </p:cNvPr>
          <p:cNvSpPr>
            <a:spLocks noGrp="1"/>
          </p:cNvSpPr>
          <p:nvPr>
            <p:ph type="body" idx="1"/>
          </p:nvPr>
        </p:nvSpPr>
        <p:spPr>
          <a:xfrm>
            <a:off x="514350" y="4400550"/>
            <a:ext cx="4114800" cy="3600450"/>
          </a:xfrm>
          <a:prstGeom prst="rect">
            <a:avLst/>
          </a:prstGeom>
        </p:spPr>
        <p:txBody>
          <a:bodyPr/>
          <a:lstStyle/>
          <a:p>
            <a:endParaRPr lang="en-IN" dirty="0"/>
          </a:p>
        </p:txBody>
      </p:sp>
    </p:spTree>
    <p:extLst>
      <p:ext uri="{BB962C8B-B14F-4D97-AF65-F5344CB8AC3E}">
        <p14:creationId xmlns:p14="http://schemas.microsoft.com/office/powerpoint/2010/main" val="317868220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hyperlink" Target="https://pexels.com/?utm_source=magicslides.app&amp;utm_medium=presentation"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4.jpeg"/></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5.jp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6.jpg"/></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hyperlink" Target="https://pexels.com/?utm_source=magicslides.app&amp;utm_medium=presentation"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1"/>
          <p:cNvSpPr/>
          <p:nvPr/>
        </p:nvSpPr>
        <p:spPr>
          <a:xfrm>
            <a:off x="1048611" y="821624"/>
            <a:ext cx="7257787" cy="1141731"/>
          </a:xfrm>
          <a:prstGeom prst="rect">
            <a:avLst/>
          </a:prstGeom>
          <a:noFill/>
          <a:ln/>
        </p:spPr>
        <p:txBody>
          <a:bodyPr wrap="square" rtlCol="0" anchor="b"/>
          <a:lstStyle/>
          <a:p>
            <a:pPr algn="ctr"/>
            <a:r>
              <a:rPr lang="en-US" sz="1600" b="1" dirty="0">
                <a:solidFill>
                  <a:srgbClr val="17A33E"/>
                </a:solidFill>
                <a:latin typeface="Times New Roman" panose="02020603050405020304" pitchFamily="18" charset="0"/>
                <a:ea typeface="Plus Jakarta Sans" pitchFamily="34" charset="-122"/>
                <a:cs typeface="Times New Roman" panose="02020603050405020304" pitchFamily="18" charset="0"/>
              </a:rPr>
              <a:t>Blockchain-Enabled Secure and Transparent Lung Disease Classification in Medical Imaging</a:t>
            </a:r>
          </a:p>
          <a:p>
            <a:pPr marL="0" indent="0" algn="ctr">
              <a:lnSpc>
                <a:spcPts val="3500"/>
              </a:lnSpc>
              <a:buNone/>
            </a:pPr>
            <a:endParaRPr lang="en-US" sz="1600" b="1" dirty="0">
              <a:solidFill>
                <a:srgbClr val="17A33E"/>
              </a:solidFill>
              <a:latin typeface="Times New Roman" panose="02020603050405020304" pitchFamily="18" charset="0"/>
              <a:ea typeface="Plus Jakarta Sans" pitchFamily="34" charset="-122"/>
              <a:cs typeface="Times New Roman" panose="02020603050405020304" pitchFamily="18" charset="0"/>
            </a:endParaRPr>
          </a:p>
        </p:txBody>
      </p:sp>
      <p:sp>
        <p:nvSpPr>
          <p:cNvPr id="11" name="Text 5"/>
          <p:cNvSpPr/>
          <p:nvPr/>
        </p:nvSpPr>
        <p:spPr>
          <a:xfrm>
            <a:off x="5852160" y="3754755"/>
            <a:ext cx="1828800" cy="457200"/>
          </a:xfrm>
          <a:prstGeom prst="rect">
            <a:avLst/>
          </a:prstGeom>
          <a:noFill/>
          <a:ln/>
        </p:spPr>
        <p:txBody>
          <a:bodyPr wrap="square" rtlCol="0" anchor="ctr"/>
          <a:lstStyle/>
          <a:p>
            <a:pPr marL="0" indent="0">
              <a:buNone/>
            </a:pPr>
            <a:r>
              <a:rPr lang="en-US" sz="800" u="sng" dirty="0">
                <a:solidFill>
                  <a:srgbClr val="FFFFFF"/>
                </a:solidFill>
                <a:hlinkClick r:id="rId4" tooltip="Pexel">
                  <a:extLst>
                    <a:ext uri="{A12FA001-AC4F-418D-AE19-62706E023703}">
                      <ahyp:hlinkClr xmlns:ahyp="http://schemas.microsoft.com/office/drawing/2018/hyperlinkcolor" val="tx"/>
                    </a:ext>
                  </a:extLst>
                </a:hlinkClick>
              </a:rPr>
              <a:t>Photo by Pexels</a:t>
            </a:r>
            <a:endParaRPr lang="en-US" sz="800" dirty="0"/>
          </a:p>
        </p:txBody>
      </p:sp>
      <p:sp>
        <p:nvSpPr>
          <p:cNvPr id="12" name="Title 1">
            <a:extLst>
              <a:ext uri="{FF2B5EF4-FFF2-40B4-BE49-F238E27FC236}">
                <a16:creationId xmlns:a16="http://schemas.microsoft.com/office/drawing/2014/main" id="{76078A08-B003-2FCC-95CB-CF42DFCF3B12}"/>
              </a:ext>
            </a:extLst>
          </p:cNvPr>
          <p:cNvSpPr txBox="1">
            <a:spLocks/>
          </p:cNvSpPr>
          <p:nvPr/>
        </p:nvSpPr>
        <p:spPr>
          <a:xfrm>
            <a:off x="1431385" y="307274"/>
            <a:ext cx="6492240" cy="514350"/>
          </a:xfrm>
          <a:prstGeom prst="rect">
            <a:avLst/>
          </a:prstGeom>
        </p:spPr>
        <p:txBody>
          <a:bodyPr>
            <a:normAutofit fontScale="92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3600" b="1" dirty="0">
                <a:solidFill>
                  <a:srgbClr val="17A33E"/>
                </a:solidFill>
                <a:latin typeface="Times New Roman" panose="02020603050405020304" pitchFamily="18" charset="0"/>
                <a:ea typeface="Plus Jakarta Sans" pitchFamily="34" charset="-122"/>
                <a:cs typeface="Times New Roman" panose="02020603050405020304" pitchFamily="18" charset="0"/>
              </a:rPr>
              <a:t>Progress Seminar</a:t>
            </a:r>
            <a:endParaRPr lang="en-IN" sz="3600" b="1" dirty="0">
              <a:solidFill>
                <a:srgbClr val="17A33E"/>
              </a:solidFill>
              <a:latin typeface="Times New Roman" panose="02020603050405020304" pitchFamily="18" charset="0"/>
              <a:ea typeface="Plus Jakarta Sans" pitchFamily="34" charset="-122"/>
              <a:cs typeface="Times New Roman" panose="02020603050405020304" pitchFamily="18" charset="0"/>
            </a:endParaRPr>
          </a:p>
        </p:txBody>
      </p:sp>
      <p:pic>
        <p:nvPicPr>
          <p:cNvPr id="13" name="Content Placeholder 5">
            <a:extLst>
              <a:ext uri="{FF2B5EF4-FFF2-40B4-BE49-F238E27FC236}">
                <a16:creationId xmlns:a16="http://schemas.microsoft.com/office/drawing/2014/main" id="{55196023-A3E0-DAA6-B768-72775827CC42}"/>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01010" y="4102879"/>
            <a:ext cx="921373" cy="921373"/>
          </a:xfrm>
          <a:prstGeom prst="rect">
            <a:avLst/>
          </a:prstGeom>
        </p:spPr>
      </p:pic>
      <p:sp>
        <p:nvSpPr>
          <p:cNvPr id="14" name="TextBox 13">
            <a:extLst>
              <a:ext uri="{FF2B5EF4-FFF2-40B4-BE49-F238E27FC236}">
                <a16:creationId xmlns:a16="http://schemas.microsoft.com/office/drawing/2014/main" id="{D148188D-346D-B48C-775C-B7CD2EE65B75}"/>
              </a:ext>
            </a:extLst>
          </p:cNvPr>
          <p:cNvSpPr txBox="1"/>
          <p:nvPr/>
        </p:nvSpPr>
        <p:spPr>
          <a:xfrm>
            <a:off x="7537" y="4153165"/>
            <a:ext cx="9144000" cy="984885"/>
          </a:xfrm>
          <a:prstGeom prst="rect">
            <a:avLst/>
          </a:prstGeom>
          <a:noFill/>
        </p:spPr>
        <p:txBody>
          <a:bodyPr wrap="square" rtlCol="0">
            <a:spAutoFit/>
          </a:bodyPr>
          <a:lstStyle/>
          <a:p>
            <a:pPr algn="ctr"/>
            <a:r>
              <a:rPr lang="en-IN" sz="2000" b="1" dirty="0">
                <a:solidFill>
                  <a:srgbClr val="17A33E"/>
                </a:solidFill>
                <a:latin typeface="Times New Roman" panose="02020603050405020304" pitchFamily="18" charset="0"/>
                <a:ea typeface="Plus Jakarta Sans" pitchFamily="34" charset="-122"/>
                <a:cs typeface="Times New Roman" panose="02020603050405020304" pitchFamily="18" charset="0"/>
              </a:rPr>
              <a:t>Department of Electronics and Communication Engineering,</a:t>
            </a:r>
          </a:p>
          <a:p>
            <a:pPr algn="ctr"/>
            <a:r>
              <a:rPr lang="en-IN" sz="2000" b="1" dirty="0">
                <a:solidFill>
                  <a:srgbClr val="17A33E"/>
                </a:solidFill>
                <a:latin typeface="Times New Roman" panose="02020603050405020304" pitchFamily="18" charset="0"/>
                <a:ea typeface="Plus Jakarta Sans" pitchFamily="34" charset="-122"/>
                <a:cs typeface="Times New Roman" panose="02020603050405020304" pitchFamily="18" charset="0"/>
              </a:rPr>
              <a:t>National Institute of Technology, Silchar</a:t>
            </a:r>
            <a:endParaRPr lang="en-US" sz="2000" b="1" dirty="0">
              <a:solidFill>
                <a:srgbClr val="17A33E"/>
              </a:solidFill>
              <a:latin typeface="Times New Roman" panose="02020603050405020304" pitchFamily="18" charset="0"/>
              <a:ea typeface="Plus Jakarta Sans" pitchFamily="34" charset="-122"/>
              <a:cs typeface="Times New Roman" panose="02020603050405020304" pitchFamily="18" charset="0"/>
            </a:endParaRPr>
          </a:p>
          <a:p>
            <a:pPr algn="ctr"/>
            <a:endParaRPr lang="en-IN" dirty="0"/>
          </a:p>
        </p:txBody>
      </p:sp>
      <p:sp>
        <p:nvSpPr>
          <p:cNvPr id="15" name="TextBox 14">
            <a:extLst>
              <a:ext uri="{FF2B5EF4-FFF2-40B4-BE49-F238E27FC236}">
                <a16:creationId xmlns:a16="http://schemas.microsoft.com/office/drawing/2014/main" id="{5649B746-5975-DC52-EE86-67BC74D02EB2}"/>
              </a:ext>
            </a:extLst>
          </p:cNvPr>
          <p:cNvSpPr txBox="1"/>
          <p:nvPr/>
        </p:nvSpPr>
        <p:spPr>
          <a:xfrm>
            <a:off x="-7537" y="2188733"/>
            <a:ext cx="9151537" cy="646331"/>
          </a:xfrm>
          <a:prstGeom prst="rect">
            <a:avLst/>
          </a:prstGeom>
          <a:noFill/>
        </p:spPr>
        <p:txBody>
          <a:bodyPr wrap="square" rtlCol="0">
            <a:spAutoFit/>
          </a:bodyPr>
          <a:lstStyle/>
          <a:p>
            <a:pPr algn="ctr"/>
            <a:r>
              <a:rPr lang="en-US" i="1" dirty="0"/>
              <a:t>       </a:t>
            </a:r>
            <a:r>
              <a:rPr lang="en-US" sz="1600" b="1" i="1" dirty="0">
                <a:solidFill>
                  <a:srgbClr val="17A33E"/>
                </a:solidFill>
                <a:latin typeface="Times New Roman" panose="02020603050405020304" pitchFamily="18" charset="0"/>
                <a:ea typeface="Plus Jakarta Sans" pitchFamily="34" charset="-122"/>
                <a:cs typeface="Times New Roman" panose="02020603050405020304" pitchFamily="18" charset="0"/>
              </a:rPr>
              <a:t>Under the Supervision of </a:t>
            </a:r>
          </a:p>
          <a:p>
            <a:pPr algn="ctr"/>
            <a:r>
              <a:rPr lang="en-US" sz="1600" b="1" dirty="0">
                <a:solidFill>
                  <a:srgbClr val="17A33E"/>
                </a:solidFill>
                <a:latin typeface="Times New Roman" panose="02020603050405020304" pitchFamily="18" charset="0"/>
                <a:ea typeface="Plus Jakarta Sans" pitchFamily="34" charset="-122"/>
                <a:cs typeface="Times New Roman" panose="02020603050405020304" pitchFamily="18" charset="0"/>
              </a:rPr>
              <a:t>       Dr. </a:t>
            </a:r>
            <a:r>
              <a:rPr lang="en-US" sz="1600" b="1" dirty="0" err="1">
                <a:solidFill>
                  <a:srgbClr val="17A33E"/>
                </a:solidFill>
                <a:latin typeface="Times New Roman" panose="02020603050405020304" pitchFamily="18" charset="0"/>
                <a:ea typeface="Plus Jakarta Sans" pitchFamily="34" charset="-122"/>
                <a:cs typeface="Times New Roman" panose="02020603050405020304" pitchFamily="18" charset="0"/>
              </a:rPr>
              <a:t>Prabina</a:t>
            </a:r>
            <a:r>
              <a:rPr lang="en-US" sz="1600" b="1" dirty="0">
                <a:solidFill>
                  <a:srgbClr val="17A33E"/>
                </a:solidFill>
                <a:latin typeface="Times New Roman" panose="02020603050405020304" pitchFamily="18" charset="0"/>
                <a:ea typeface="Plus Jakarta Sans" pitchFamily="34" charset="-122"/>
                <a:cs typeface="Times New Roman" panose="02020603050405020304" pitchFamily="18" charset="0"/>
              </a:rPr>
              <a:t> Pattanayak and </a:t>
            </a:r>
            <a:r>
              <a:rPr lang="en-IN" sz="1800" b="0" i="0" u="none" strike="noStrike" baseline="0" dirty="0">
                <a:solidFill>
                  <a:srgbClr val="000000"/>
                </a:solidFill>
                <a:latin typeface="Cambria" panose="02040503050406030204" pitchFamily="18" charset="0"/>
              </a:rPr>
              <a:t> </a:t>
            </a:r>
            <a:r>
              <a:rPr lang="en-IN" sz="1600" b="1" dirty="0" err="1">
                <a:solidFill>
                  <a:srgbClr val="17A33E"/>
                </a:solidFill>
                <a:latin typeface="Times New Roman" panose="02020603050405020304" pitchFamily="18" charset="0"/>
                <a:ea typeface="Plus Jakarta Sans" pitchFamily="34" charset="-122"/>
                <a:cs typeface="Times New Roman" panose="02020603050405020304" pitchFamily="18" charset="0"/>
              </a:rPr>
              <a:t>Dr.</a:t>
            </a:r>
            <a:r>
              <a:rPr lang="en-IN" sz="1600" b="1" dirty="0">
                <a:solidFill>
                  <a:srgbClr val="17A33E"/>
                </a:solidFill>
                <a:latin typeface="Times New Roman" panose="02020603050405020304" pitchFamily="18" charset="0"/>
                <a:ea typeface="Plus Jakarta Sans" pitchFamily="34" charset="-122"/>
                <a:cs typeface="Times New Roman" panose="02020603050405020304" pitchFamily="18" charset="0"/>
              </a:rPr>
              <a:t> Chandrajit Choudhury</a:t>
            </a:r>
          </a:p>
        </p:txBody>
      </p:sp>
      <p:sp>
        <p:nvSpPr>
          <p:cNvPr id="16" name="TextBox 15">
            <a:extLst>
              <a:ext uri="{FF2B5EF4-FFF2-40B4-BE49-F238E27FC236}">
                <a16:creationId xmlns:a16="http://schemas.microsoft.com/office/drawing/2014/main" id="{30D40726-2329-C6F5-DEFB-42F1723F4AC6}"/>
              </a:ext>
            </a:extLst>
          </p:cNvPr>
          <p:cNvSpPr txBox="1"/>
          <p:nvPr/>
        </p:nvSpPr>
        <p:spPr>
          <a:xfrm>
            <a:off x="7537" y="3096790"/>
            <a:ext cx="9151536" cy="830997"/>
          </a:xfrm>
          <a:prstGeom prst="rect">
            <a:avLst/>
          </a:prstGeom>
          <a:noFill/>
        </p:spPr>
        <p:txBody>
          <a:bodyPr wrap="square" rtlCol="0">
            <a:spAutoFit/>
          </a:bodyPr>
          <a:lstStyle/>
          <a:p>
            <a:pPr algn="ctr"/>
            <a:r>
              <a:rPr lang="en-US" sz="1600" b="1" i="1" dirty="0">
                <a:solidFill>
                  <a:srgbClr val="17A33E"/>
                </a:solidFill>
                <a:latin typeface="Times New Roman" panose="02020603050405020304" pitchFamily="18" charset="0"/>
                <a:ea typeface="Plus Jakarta Sans" pitchFamily="34" charset="-122"/>
                <a:cs typeface="Times New Roman" panose="02020603050405020304" pitchFamily="18" charset="0"/>
              </a:rPr>
              <a:t>Presented By </a:t>
            </a:r>
          </a:p>
          <a:p>
            <a:pPr algn="ctr"/>
            <a:r>
              <a:rPr lang="en-US" sz="1600" b="1" dirty="0">
                <a:solidFill>
                  <a:srgbClr val="17A33E"/>
                </a:solidFill>
                <a:latin typeface="Times New Roman" panose="02020603050405020304" pitchFamily="18" charset="0"/>
                <a:ea typeface="Plus Jakarta Sans" pitchFamily="34" charset="-122"/>
                <a:cs typeface="Times New Roman" panose="02020603050405020304" pitchFamily="18" charset="0"/>
              </a:rPr>
              <a:t>Kirti Swagat Mohanty</a:t>
            </a:r>
          </a:p>
          <a:p>
            <a:pPr algn="ctr"/>
            <a:r>
              <a:rPr lang="en-US" sz="1600" b="1" dirty="0">
                <a:solidFill>
                  <a:srgbClr val="17A33E"/>
                </a:solidFill>
                <a:latin typeface="Times New Roman" panose="02020603050405020304" pitchFamily="18" charset="0"/>
                <a:ea typeface="Plus Jakarta Sans" pitchFamily="34" charset="-122"/>
                <a:cs typeface="Times New Roman" panose="02020603050405020304" pitchFamily="18" charset="0"/>
              </a:rPr>
              <a:t>21-3-04-068</a:t>
            </a:r>
            <a:endParaRPr lang="en-IN" sz="1600" b="1" dirty="0">
              <a:solidFill>
                <a:srgbClr val="17A33E"/>
              </a:solidFill>
              <a:latin typeface="Times New Roman" panose="02020603050405020304" pitchFamily="18" charset="0"/>
              <a:ea typeface="Plus Jakarta Sans" pitchFamily="34" charset="-122"/>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457200" y="462915"/>
            <a:ext cx="8229600" cy="274320"/>
          </a:xfrm>
          <a:prstGeom prst="rect">
            <a:avLst/>
          </a:prstGeom>
          <a:noFill/>
          <a:ln/>
        </p:spPr>
        <p:txBody>
          <a:bodyPr wrap="square" rtlCol="0" anchor="ctr"/>
          <a:lstStyle/>
          <a:p>
            <a:pPr marL="0" indent="0" algn="l">
              <a:buNone/>
            </a:pPr>
            <a:r>
              <a:rPr lang="en-US" sz="3200" b="1" dirty="0">
                <a:solidFill>
                  <a:srgbClr val="17A33E"/>
                </a:solidFill>
                <a:latin typeface="Plus Jakarta Sans" pitchFamily="34" charset="0"/>
                <a:ea typeface="Plus Jakarta Sans" pitchFamily="34" charset="-122"/>
                <a:cs typeface="Plus Jakarta Sans" pitchFamily="34" charset="-120"/>
              </a:rPr>
              <a:t>Table of Contents</a:t>
            </a:r>
            <a:endParaRPr lang="en-US" sz="3200" dirty="0"/>
          </a:p>
        </p:txBody>
      </p:sp>
      <p:grpSp>
        <p:nvGrpSpPr>
          <p:cNvPr id="44" name="Group 43">
            <a:extLst>
              <a:ext uri="{FF2B5EF4-FFF2-40B4-BE49-F238E27FC236}">
                <a16:creationId xmlns:a16="http://schemas.microsoft.com/office/drawing/2014/main" id="{0BBF6765-1B05-2A36-2473-6AD08928F268}"/>
              </a:ext>
            </a:extLst>
          </p:cNvPr>
          <p:cNvGrpSpPr/>
          <p:nvPr/>
        </p:nvGrpSpPr>
        <p:grpSpPr>
          <a:xfrm>
            <a:off x="581298" y="1018088"/>
            <a:ext cx="3703320" cy="514350"/>
            <a:chOff x="594360" y="1285875"/>
            <a:chExt cx="3703320" cy="514350"/>
          </a:xfrm>
        </p:grpSpPr>
        <p:sp>
          <p:nvSpPr>
            <p:cNvPr id="4" name="Shape 1"/>
            <p:cNvSpPr/>
            <p:nvPr/>
          </p:nvSpPr>
          <p:spPr>
            <a:xfrm>
              <a:off x="731520" y="1285875"/>
              <a:ext cx="3474720" cy="514350"/>
            </a:xfrm>
            <a:prstGeom prst="roundRect">
              <a:avLst>
                <a:gd name="adj" fmla="val 88889"/>
              </a:avLst>
            </a:prstGeom>
            <a:solidFill>
              <a:srgbClr val="E8FFEF"/>
            </a:solidFill>
            <a:ln w="12700">
              <a:solidFill>
                <a:srgbClr val="17A33E"/>
              </a:solidFill>
              <a:prstDash val="solid"/>
            </a:ln>
          </p:spPr>
        </p:sp>
        <p:sp>
          <p:nvSpPr>
            <p:cNvPr id="5" name="Shape 2"/>
            <p:cNvSpPr/>
            <p:nvPr/>
          </p:nvSpPr>
          <p:spPr>
            <a:xfrm>
              <a:off x="594360" y="1337310"/>
              <a:ext cx="411480" cy="411480"/>
            </a:xfrm>
            <a:prstGeom prst="ellipse">
              <a:avLst/>
            </a:prstGeom>
            <a:solidFill>
              <a:srgbClr val="FFFFFF"/>
            </a:solidFill>
            <a:ln w="50800">
              <a:solidFill>
                <a:srgbClr val="FFFFFF"/>
              </a:solidFill>
              <a:prstDash val="solid"/>
            </a:ln>
          </p:spPr>
        </p:sp>
        <p:sp>
          <p:nvSpPr>
            <p:cNvPr id="6" name="Shape 3"/>
            <p:cNvSpPr/>
            <p:nvPr/>
          </p:nvSpPr>
          <p:spPr>
            <a:xfrm>
              <a:off x="640080" y="1388745"/>
              <a:ext cx="320040" cy="308610"/>
            </a:xfrm>
            <a:prstGeom prst="ellipse">
              <a:avLst/>
            </a:prstGeom>
            <a:solidFill>
              <a:srgbClr val="17A33E"/>
            </a:solidFill>
            <a:ln w="50800">
              <a:solidFill>
                <a:srgbClr val="17A33E"/>
              </a:solidFill>
              <a:prstDash val="solid"/>
            </a:ln>
          </p:spPr>
        </p:sp>
        <p:sp>
          <p:nvSpPr>
            <p:cNvPr id="7" name="Text 4"/>
            <p:cNvSpPr/>
            <p:nvPr/>
          </p:nvSpPr>
          <p:spPr>
            <a:xfrm>
              <a:off x="640080" y="1337310"/>
              <a:ext cx="365760" cy="411480"/>
            </a:xfrm>
            <a:prstGeom prst="rect">
              <a:avLst/>
            </a:prstGeom>
            <a:noFill/>
            <a:ln/>
          </p:spPr>
          <p:txBody>
            <a:bodyPr wrap="square" rtlCol="0" anchor="ctr"/>
            <a:lstStyle/>
            <a:p>
              <a:pPr marL="0" indent="0" algn="ctr">
                <a:buNone/>
              </a:pPr>
              <a:r>
                <a:rPr lang="en-US" sz="1400" b="1" dirty="0">
                  <a:solidFill>
                    <a:srgbClr val="FFFFFF"/>
                  </a:solidFill>
                  <a:latin typeface="Plus Jakarta Sans" pitchFamily="34" charset="0"/>
                  <a:ea typeface="Plus Jakarta Sans" pitchFamily="34" charset="-122"/>
                  <a:cs typeface="Plus Jakarta Sans" pitchFamily="34" charset="-120"/>
                </a:rPr>
                <a:t>1</a:t>
              </a:r>
              <a:endParaRPr lang="en-US" sz="1400" dirty="0"/>
            </a:p>
          </p:txBody>
        </p:sp>
        <p:sp>
          <p:nvSpPr>
            <p:cNvPr id="8" name="Text 5"/>
            <p:cNvSpPr/>
            <p:nvPr/>
          </p:nvSpPr>
          <p:spPr>
            <a:xfrm>
              <a:off x="1097280" y="1337310"/>
              <a:ext cx="3200400" cy="411480"/>
            </a:xfrm>
            <a:prstGeom prst="rect">
              <a:avLst/>
            </a:prstGeom>
            <a:noFill/>
            <a:ln/>
          </p:spPr>
          <p:txBody>
            <a:bodyPr wrap="square" rtlCol="0" anchor="ctr"/>
            <a:lstStyle/>
            <a:p>
              <a:pPr marL="0" indent="0" algn="l">
                <a:buNone/>
              </a:pPr>
              <a:r>
                <a:rPr lang="en-US" sz="1400" b="1" dirty="0">
                  <a:solidFill>
                    <a:srgbClr val="000000"/>
                  </a:solidFill>
                  <a:latin typeface="Plus Jakarta Sans" pitchFamily="34" charset="0"/>
                  <a:ea typeface="Plus Jakarta Sans" pitchFamily="34" charset="-122"/>
                  <a:cs typeface="Plus Jakarta Sans" pitchFamily="34" charset="-120"/>
                </a:rPr>
                <a:t>Introduction</a:t>
              </a:r>
              <a:endParaRPr lang="en-US" sz="1400" dirty="0"/>
            </a:p>
          </p:txBody>
        </p:sp>
      </p:grpSp>
      <p:grpSp>
        <p:nvGrpSpPr>
          <p:cNvPr id="45" name="Group 44">
            <a:extLst>
              <a:ext uri="{FF2B5EF4-FFF2-40B4-BE49-F238E27FC236}">
                <a16:creationId xmlns:a16="http://schemas.microsoft.com/office/drawing/2014/main" id="{8409EA37-893E-EF32-5D2F-A68EAC357DE0}"/>
              </a:ext>
            </a:extLst>
          </p:cNvPr>
          <p:cNvGrpSpPr/>
          <p:nvPr/>
        </p:nvGrpSpPr>
        <p:grpSpPr>
          <a:xfrm>
            <a:off x="594360" y="1822270"/>
            <a:ext cx="3703320" cy="514350"/>
            <a:chOff x="594360" y="2057400"/>
            <a:chExt cx="3703320" cy="514350"/>
          </a:xfrm>
        </p:grpSpPr>
        <p:sp>
          <p:nvSpPr>
            <p:cNvPr id="9" name="Shape 6"/>
            <p:cNvSpPr/>
            <p:nvPr/>
          </p:nvSpPr>
          <p:spPr>
            <a:xfrm>
              <a:off x="731520" y="2057400"/>
              <a:ext cx="3474720" cy="514350"/>
            </a:xfrm>
            <a:prstGeom prst="roundRect">
              <a:avLst>
                <a:gd name="adj" fmla="val 88889"/>
              </a:avLst>
            </a:prstGeom>
            <a:solidFill>
              <a:srgbClr val="E8FFEF"/>
            </a:solidFill>
            <a:ln w="12700">
              <a:solidFill>
                <a:srgbClr val="17A33E"/>
              </a:solidFill>
              <a:prstDash val="solid"/>
            </a:ln>
          </p:spPr>
        </p:sp>
        <p:sp>
          <p:nvSpPr>
            <p:cNvPr id="10" name="Shape 7"/>
            <p:cNvSpPr/>
            <p:nvPr/>
          </p:nvSpPr>
          <p:spPr>
            <a:xfrm>
              <a:off x="594360" y="2108835"/>
              <a:ext cx="411480" cy="411480"/>
            </a:xfrm>
            <a:prstGeom prst="ellipse">
              <a:avLst/>
            </a:prstGeom>
            <a:solidFill>
              <a:srgbClr val="FFFFFF"/>
            </a:solidFill>
            <a:ln w="50800">
              <a:solidFill>
                <a:srgbClr val="FFFFFF"/>
              </a:solidFill>
              <a:prstDash val="solid"/>
            </a:ln>
          </p:spPr>
        </p:sp>
        <p:sp>
          <p:nvSpPr>
            <p:cNvPr id="11" name="Shape 8"/>
            <p:cNvSpPr/>
            <p:nvPr/>
          </p:nvSpPr>
          <p:spPr>
            <a:xfrm>
              <a:off x="640080" y="2160270"/>
              <a:ext cx="320040" cy="308610"/>
            </a:xfrm>
            <a:prstGeom prst="ellipse">
              <a:avLst/>
            </a:prstGeom>
            <a:solidFill>
              <a:srgbClr val="17A33E"/>
            </a:solidFill>
            <a:ln w="50800">
              <a:solidFill>
                <a:srgbClr val="17A33E"/>
              </a:solidFill>
              <a:prstDash val="solid"/>
            </a:ln>
          </p:spPr>
        </p:sp>
        <p:sp>
          <p:nvSpPr>
            <p:cNvPr id="12" name="Text 9"/>
            <p:cNvSpPr/>
            <p:nvPr/>
          </p:nvSpPr>
          <p:spPr>
            <a:xfrm>
              <a:off x="640080" y="2108835"/>
              <a:ext cx="365760" cy="411480"/>
            </a:xfrm>
            <a:prstGeom prst="rect">
              <a:avLst/>
            </a:prstGeom>
            <a:noFill/>
            <a:ln/>
          </p:spPr>
          <p:txBody>
            <a:bodyPr wrap="square" rtlCol="0" anchor="ctr"/>
            <a:lstStyle/>
            <a:p>
              <a:pPr marL="0" indent="0" algn="ctr">
                <a:buNone/>
              </a:pPr>
              <a:r>
                <a:rPr lang="en-US" sz="1400" b="1" dirty="0">
                  <a:solidFill>
                    <a:srgbClr val="FFFFFF"/>
                  </a:solidFill>
                  <a:latin typeface="Plus Jakarta Sans" pitchFamily="34" charset="0"/>
                  <a:ea typeface="Plus Jakarta Sans" pitchFamily="34" charset="-122"/>
                  <a:cs typeface="Plus Jakarta Sans" pitchFamily="34" charset="-120"/>
                </a:rPr>
                <a:t>2</a:t>
              </a:r>
              <a:endParaRPr lang="en-US" sz="1400" dirty="0"/>
            </a:p>
          </p:txBody>
        </p:sp>
        <p:sp>
          <p:nvSpPr>
            <p:cNvPr id="13" name="Text 10"/>
            <p:cNvSpPr/>
            <p:nvPr/>
          </p:nvSpPr>
          <p:spPr>
            <a:xfrm>
              <a:off x="1097280" y="2108835"/>
              <a:ext cx="3200400" cy="411480"/>
            </a:xfrm>
            <a:prstGeom prst="rect">
              <a:avLst/>
            </a:prstGeom>
            <a:noFill/>
            <a:ln/>
          </p:spPr>
          <p:txBody>
            <a:bodyPr wrap="square" rtlCol="0" anchor="ctr"/>
            <a:lstStyle/>
            <a:p>
              <a:pPr marL="0" indent="0" algn="l">
                <a:buNone/>
              </a:pPr>
              <a:r>
                <a:rPr lang="en-US" sz="1400" b="1" dirty="0">
                  <a:solidFill>
                    <a:srgbClr val="000000"/>
                  </a:solidFill>
                  <a:latin typeface="Plus Jakarta Sans" pitchFamily="34" charset="0"/>
                  <a:ea typeface="Plus Jakarta Sans" pitchFamily="34" charset="-122"/>
                  <a:cs typeface="Plus Jakarta Sans" pitchFamily="34" charset="-120"/>
                </a:rPr>
                <a:t>Motivation and Objectives</a:t>
              </a:r>
              <a:endParaRPr lang="en-US" sz="1400" dirty="0"/>
            </a:p>
          </p:txBody>
        </p:sp>
      </p:grpSp>
      <p:grpSp>
        <p:nvGrpSpPr>
          <p:cNvPr id="46" name="Group 45">
            <a:extLst>
              <a:ext uri="{FF2B5EF4-FFF2-40B4-BE49-F238E27FC236}">
                <a16:creationId xmlns:a16="http://schemas.microsoft.com/office/drawing/2014/main" id="{0975647B-D6D1-1326-5400-E81900E8013B}"/>
              </a:ext>
            </a:extLst>
          </p:cNvPr>
          <p:cNvGrpSpPr/>
          <p:nvPr/>
        </p:nvGrpSpPr>
        <p:grpSpPr>
          <a:xfrm>
            <a:off x="594360" y="2652578"/>
            <a:ext cx="3703320" cy="514350"/>
            <a:chOff x="594360" y="2828925"/>
            <a:chExt cx="3703320" cy="514350"/>
          </a:xfrm>
        </p:grpSpPr>
        <p:sp>
          <p:nvSpPr>
            <p:cNvPr id="14" name="Shape 11"/>
            <p:cNvSpPr/>
            <p:nvPr/>
          </p:nvSpPr>
          <p:spPr>
            <a:xfrm>
              <a:off x="731520" y="2828925"/>
              <a:ext cx="3474720" cy="514350"/>
            </a:xfrm>
            <a:prstGeom prst="roundRect">
              <a:avLst>
                <a:gd name="adj" fmla="val 88889"/>
              </a:avLst>
            </a:prstGeom>
            <a:solidFill>
              <a:srgbClr val="E8FFEF"/>
            </a:solidFill>
            <a:ln w="12700">
              <a:solidFill>
                <a:srgbClr val="17A33E"/>
              </a:solidFill>
              <a:prstDash val="solid"/>
            </a:ln>
          </p:spPr>
        </p:sp>
        <p:sp>
          <p:nvSpPr>
            <p:cNvPr id="15" name="Shape 12"/>
            <p:cNvSpPr/>
            <p:nvPr/>
          </p:nvSpPr>
          <p:spPr>
            <a:xfrm>
              <a:off x="594360" y="2880360"/>
              <a:ext cx="411480" cy="411480"/>
            </a:xfrm>
            <a:prstGeom prst="ellipse">
              <a:avLst/>
            </a:prstGeom>
            <a:solidFill>
              <a:srgbClr val="FFFFFF"/>
            </a:solidFill>
            <a:ln w="50800">
              <a:solidFill>
                <a:srgbClr val="FFFFFF"/>
              </a:solidFill>
              <a:prstDash val="solid"/>
            </a:ln>
          </p:spPr>
        </p:sp>
        <p:sp>
          <p:nvSpPr>
            <p:cNvPr id="16" name="Shape 13"/>
            <p:cNvSpPr/>
            <p:nvPr/>
          </p:nvSpPr>
          <p:spPr>
            <a:xfrm>
              <a:off x="640080" y="2931795"/>
              <a:ext cx="320040" cy="308610"/>
            </a:xfrm>
            <a:prstGeom prst="ellipse">
              <a:avLst/>
            </a:prstGeom>
            <a:solidFill>
              <a:srgbClr val="17A33E"/>
            </a:solidFill>
            <a:ln w="50800">
              <a:solidFill>
                <a:srgbClr val="17A33E"/>
              </a:solidFill>
              <a:prstDash val="solid"/>
            </a:ln>
          </p:spPr>
        </p:sp>
        <p:sp>
          <p:nvSpPr>
            <p:cNvPr id="17" name="Text 14"/>
            <p:cNvSpPr/>
            <p:nvPr/>
          </p:nvSpPr>
          <p:spPr>
            <a:xfrm>
              <a:off x="640080" y="2880360"/>
              <a:ext cx="365760" cy="411480"/>
            </a:xfrm>
            <a:prstGeom prst="rect">
              <a:avLst/>
            </a:prstGeom>
            <a:noFill/>
            <a:ln/>
          </p:spPr>
          <p:txBody>
            <a:bodyPr wrap="square" rtlCol="0" anchor="ctr"/>
            <a:lstStyle/>
            <a:p>
              <a:pPr marL="0" indent="0" algn="ctr">
                <a:buNone/>
              </a:pPr>
              <a:r>
                <a:rPr lang="en-US" sz="1400" b="1" dirty="0">
                  <a:solidFill>
                    <a:srgbClr val="FFFFFF"/>
                  </a:solidFill>
                  <a:latin typeface="Plus Jakarta Sans" pitchFamily="34" charset="0"/>
                  <a:ea typeface="Plus Jakarta Sans" pitchFamily="34" charset="-122"/>
                  <a:cs typeface="Plus Jakarta Sans" pitchFamily="34" charset="-120"/>
                </a:rPr>
                <a:t>3</a:t>
              </a:r>
              <a:endParaRPr lang="en-US" sz="1400" dirty="0"/>
            </a:p>
          </p:txBody>
        </p:sp>
        <p:sp>
          <p:nvSpPr>
            <p:cNvPr id="18" name="Text 15"/>
            <p:cNvSpPr/>
            <p:nvPr/>
          </p:nvSpPr>
          <p:spPr>
            <a:xfrm>
              <a:off x="1097280" y="2880360"/>
              <a:ext cx="3200400" cy="411480"/>
            </a:xfrm>
            <a:prstGeom prst="rect">
              <a:avLst/>
            </a:prstGeom>
            <a:noFill/>
            <a:ln/>
          </p:spPr>
          <p:txBody>
            <a:bodyPr wrap="square" rtlCol="0" anchor="ctr"/>
            <a:lstStyle/>
            <a:p>
              <a:pPr marL="0" indent="0" algn="l">
                <a:buNone/>
              </a:pPr>
              <a:r>
                <a:rPr lang="en-US" sz="1400" b="1" dirty="0">
                  <a:solidFill>
                    <a:srgbClr val="000000"/>
                  </a:solidFill>
                  <a:latin typeface="Plus Jakarta Sans" pitchFamily="34" charset="0"/>
                  <a:ea typeface="Plus Jakarta Sans" pitchFamily="34" charset="-122"/>
                  <a:cs typeface="Plus Jakarta Sans" pitchFamily="34" charset="-120"/>
                </a:rPr>
                <a:t>System Overview</a:t>
              </a:r>
              <a:endParaRPr lang="en-US" sz="1400" dirty="0"/>
            </a:p>
          </p:txBody>
        </p:sp>
      </p:grpSp>
      <p:grpSp>
        <p:nvGrpSpPr>
          <p:cNvPr id="47" name="Group 46">
            <a:extLst>
              <a:ext uri="{FF2B5EF4-FFF2-40B4-BE49-F238E27FC236}">
                <a16:creationId xmlns:a16="http://schemas.microsoft.com/office/drawing/2014/main" id="{03C0E754-45C8-69B2-B1E8-AA83C3EB4C19}"/>
              </a:ext>
            </a:extLst>
          </p:cNvPr>
          <p:cNvGrpSpPr/>
          <p:nvPr/>
        </p:nvGrpSpPr>
        <p:grpSpPr>
          <a:xfrm>
            <a:off x="594360" y="3482888"/>
            <a:ext cx="3703320" cy="514350"/>
            <a:chOff x="594360" y="3600450"/>
            <a:chExt cx="3703320" cy="514350"/>
          </a:xfrm>
        </p:grpSpPr>
        <p:sp>
          <p:nvSpPr>
            <p:cNvPr id="19" name="Shape 16"/>
            <p:cNvSpPr/>
            <p:nvPr/>
          </p:nvSpPr>
          <p:spPr>
            <a:xfrm>
              <a:off x="731520" y="3600450"/>
              <a:ext cx="3474720" cy="514350"/>
            </a:xfrm>
            <a:prstGeom prst="roundRect">
              <a:avLst>
                <a:gd name="adj" fmla="val 88889"/>
              </a:avLst>
            </a:prstGeom>
            <a:solidFill>
              <a:srgbClr val="E8FFEF"/>
            </a:solidFill>
            <a:ln w="12700">
              <a:solidFill>
                <a:srgbClr val="17A33E"/>
              </a:solidFill>
              <a:prstDash val="solid"/>
            </a:ln>
          </p:spPr>
        </p:sp>
        <p:sp>
          <p:nvSpPr>
            <p:cNvPr id="20" name="Shape 17"/>
            <p:cNvSpPr/>
            <p:nvPr/>
          </p:nvSpPr>
          <p:spPr>
            <a:xfrm>
              <a:off x="594360" y="3651885"/>
              <a:ext cx="411480" cy="411480"/>
            </a:xfrm>
            <a:prstGeom prst="ellipse">
              <a:avLst/>
            </a:prstGeom>
            <a:solidFill>
              <a:srgbClr val="FFFFFF"/>
            </a:solidFill>
            <a:ln w="50800">
              <a:solidFill>
                <a:srgbClr val="FFFFFF"/>
              </a:solidFill>
              <a:prstDash val="solid"/>
            </a:ln>
          </p:spPr>
        </p:sp>
        <p:sp>
          <p:nvSpPr>
            <p:cNvPr id="21" name="Shape 18"/>
            <p:cNvSpPr/>
            <p:nvPr/>
          </p:nvSpPr>
          <p:spPr>
            <a:xfrm>
              <a:off x="640080" y="3703320"/>
              <a:ext cx="320040" cy="308610"/>
            </a:xfrm>
            <a:prstGeom prst="ellipse">
              <a:avLst/>
            </a:prstGeom>
            <a:solidFill>
              <a:srgbClr val="17A33E"/>
            </a:solidFill>
            <a:ln w="50800">
              <a:solidFill>
                <a:srgbClr val="17A33E"/>
              </a:solidFill>
              <a:prstDash val="solid"/>
            </a:ln>
          </p:spPr>
        </p:sp>
        <p:sp>
          <p:nvSpPr>
            <p:cNvPr id="22" name="Text 19"/>
            <p:cNvSpPr/>
            <p:nvPr/>
          </p:nvSpPr>
          <p:spPr>
            <a:xfrm>
              <a:off x="640080" y="3651885"/>
              <a:ext cx="365760" cy="411480"/>
            </a:xfrm>
            <a:prstGeom prst="rect">
              <a:avLst/>
            </a:prstGeom>
            <a:noFill/>
            <a:ln/>
          </p:spPr>
          <p:txBody>
            <a:bodyPr wrap="square" rtlCol="0" anchor="ctr"/>
            <a:lstStyle/>
            <a:p>
              <a:pPr marL="0" indent="0" algn="ctr">
                <a:buNone/>
              </a:pPr>
              <a:r>
                <a:rPr lang="en-US" sz="1400" b="1" dirty="0">
                  <a:solidFill>
                    <a:srgbClr val="FFFFFF"/>
                  </a:solidFill>
                  <a:latin typeface="Plus Jakarta Sans" pitchFamily="34" charset="0"/>
                  <a:ea typeface="Plus Jakarta Sans" pitchFamily="34" charset="-122"/>
                  <a:cs typeface="Plus Jakarta Sans" pitchFamily="34" charset="-120"/>
                </a:rPr>
                <a:t>4</a:t>
              </a:r>
              <a:endParaRPr lang="en-US" sz="1400" dirty="0"/>
            </a:p>
          </p:txBody>
        </p:sp>
        <p:sp>
          <p:nvSpPr>
            <p:cNvPr id="23" name="Text 20"/>
            <p:cNvSpPr/>
            <p:nvPr/>
          </p:nvSpPr>
          <p:spPr>
            <a:xfrm>
              <a:off x="1097280" y="3651885"/>
              <a:ext cx="3200400" cy="411480"/>
            </a:xfrm>
            <a:prstGeom prst="rect">
              <a:avLst/>
            </a:prstGeom>
            <a:noFill/>
            <a:ln/>
          </p:spPr>
          <p:txBody>
            <a:bodyPr wrap="square" rtlCol="0" anchor="ctr"/>
            <a:lstStyle/>
            <a:p>
              <a:r>
                <a:rPr lang="en-US" sz="1400" b="1" dirty="0">
                  <a:solidFill>
                    <a:srgbClr val="000000"/>
                  </a:solidFill>
                  <a:latin typeface="Plus Jakarta Sans" pitchFamily="34" charset="0"/>
                  <a:ea typeface="Plus Jakarta Sans" pitchFamily="34" charset="-122"/>
                  <a:cs typeface="Plus Jakarta Sans" pitchFamily="34" charset="-120"/>
                </a:rPr>
                <a:t>Block Chain Integration</a:t>
              </a:r>
              <a:endParaRPr lang="en-US" sz="1400" dirty="0"/>
            </a:p>
          </p:txBody>
        </p:sp>
      </p:grpSp>
      <p:sp>
        <p:nvSpPr>
          <p:cNvPr id="24" name="Shape 21"/>
          <p:cNvSpPr/>
          <p:nvPr/>
        </p:nvSpPr>
        <p:spPr>
          <a:xfrm>
            <a:off x="751136" y="4290318"/>
            <a:ext cx="3474720" cy="514350"/>
          </a:xfrm>
          <a:prstGeom prst="roundRect">
            <a:avLst>
              <a:gd name="adj" fmla="val 88889"/>
            </a:avLst>
          </a:prstGeom>
          <a:solidFill>
            <a:srgbClr val="E8FFEF"/>
          </a:solidFill>
          <a:ln w="12700">
            <a:solidFill>
              <a:srgbClr val="17A33E"/>
            </a:solidFill>
            <a:prstDash val="solid"/>
          </a:ln>
        </p:spPr>
        <p:txBody>
          <a:bodyPr/>
          <a:lstStyle/>
          <a:p>
            <a:endParaRPr lang="en-IN" dirty="0"/>
          </a:p>
        </p:txBody>
      </p:sp>
      <p:sp>
        <p:nvSpPr>
          <p:cNvPr id="25" name="Shape 22"/>
          <p:cNvSpPr/>
          <p:nvPr/>
        </p:nvSpPr>
        <p:spPr>
          <a:xfrm>
            <a:off x="613976" y="4341753"/>
            <a:ext cx="411480" cy="411480"/>
          </a:xfrm>
          <a:prstGeom prst="ellipse">
            <a:avLst/>
          </a:prstGeom>
          <a:solidFill>
            <a:srgbClr val="FFFFFF"/>
          </a:solidFill>
          <a:ln w="50800">
            <a:solidFill>
              <a:srgbClr val="FFFFFF"/>
            </a:solidFill>
            <a:prstDash val="solid"/>
          </a:ln>
        </p:spPr>
      </p:sp>
      <p:sp>
        <p:nvSpPr>
          <p:cNvPr id="26" name="Shape 23"/>
          <p:cNvSpPr/>
          <p:nvPr/>
        </p:nvSpPr>
        <p:spPr>
          <a:xfrm>
            <a:off x="659696" y="4393188"/>
            <a:ext cx="320040" cy="308610"/>
          </a:xfrm>
          <a:prstGeom prst="ellipse">
            <a:avLst/>
          </a:prstGeom>
          <a:solidFill>
            <a:srgbClr val="17A33E"/>
          </a:solidFill>
          <a:ln w="50800">
            <a:solidFill>
              <a:srgbClr val="17A33E"/>
            </a:solidFill>
            <a:prstDash val="solid"/>
          </a:ln>
        </p:spPr>
      </p:sp>
      <p:sp>
        <p:nvSpPr>
          <p:cNvPr id="27" name="Text 24"/>
          <p:cNvSpPr/>
          <p:nvPr/>
        </p:nvSpPr>
        <p:spPr>
          <a:xfrm>
            <a:off x="659696" y="4341753"/>
            <a:ext cx="365760" cy="411480"/>
          </a:xfrm>
          <a:prstGeom prst="rect">
            <a:avLst/>
          </a:prstGeom>
          <a:noFill/>
          <a:ln/>
        </p:spPr>
        <p:txBody>
          <a:bodyPr wrap="square" rtlCol="0" anchor="ctr"/>
          <a:lstStyle/>
          <a:p>
            <a:pPr marL="0" indent="0" algn="ctr">
              <a:buNone/>
            </a:pPr>
            <a:r>
              <a:rPr lang="en-US" sz="1400" b="1" dirty="0">
                <a:solidFill>
                  <a:srgbClr val="FFFFFF"/>
                </a:solidFill>
                <a:latin typeface="Plus Jakarta Sans" pitchFamily="34" charset="0"/>
                <a:ea typeface="Plus Jakarta Sans" pitchFamily="34" charset="-122"/>
                <a:cs typeface="Plus Jakarta Sans" pitchFamily="34" charset="-120"/>
              </a:rPr>
              <a:t>5</a:t>
            </a:r>
            <a:endParaRPr lang="en-US" sz="1400" dirty="0"/>
          </a:p>
        </p:txBody>
      </p:sp>
      <p:sp>
        <p:nvSpPr>
          <p:cNvPr id="28" name="Text 25"/>
          <p:cNvSpPr/>
          <p:nvPr/>
        </p:nvSpPr>
        <p:spPr>
          <a:xfrm>
            <a:off x="1116896" y="4341753"/>
            <a:ext cx="3200400" cy="411480"/>
          </a:xfrm>
          <a:prstGeom prst="rect">
            <a:avLst/>
          </a:prstGeom>
          <a:noFill/>
          <a:ln/>
        </p:spPr>
        <p:txBody>
          <a:bodyPr wrap="square" rtlCol="0" anchor="ctr"/>
          <a:lstStyle/>
          <a:p>
            <a:pPr marL="0" indent="0" algn="l">
              <a:buNone/>
            </a:pPr>
            <a:r>
              <a:rPr lang="en-US" sz="1400" b="1" dirty="0">
                <a:solidFill>
                  <a:srgbClr val="000000"/>
                </a:solidFill>
                <a:latin typeface="Plus Jakarta Sans" pitchFamily="34" charset="0"/>
                <a:ea typeface="Plus Jakarta Sans" pitchFamily="34" charset="-122"/>
                <a:cs typeface="Plus Jakarta Sans" pitchFamily="34" charset="-120"/>
              </a:rPr>
              <a:t>References</a:t>
            </a:r>
            <a:endParaRPr lang="en-US" sz="1400" dirty="0"/>
          </a:p>
        </p:txBody>
      </p:sp>
      <p:sp>
        <p:nvSpPr>
          <p:cNvPr id="32" name="Text 29"/>
          <p:cNvSpPr/>
          <p:nvPr/>
        </p:nvSpPr>
        <p:spPr>
          <a:xfrm>
            <a:off x="4937760" y="2108835"/>
            <a:ext cx="365760" cy="411480"/>
          </a:xfrm>
          <a:prstGeom prst="rect">
            <a:avLst/>
          </a:prstGeom>
          <a:noFill/>
          <a:ln/>
        </p:spPr>
        <p:txBody>
          <a:bodyPr wrap="square" rtlCol="0" anchor="ctr"/>
          <a:lstStyle/>
          <a:p>
            <a:pPr marL="0" indent="0" algn="ctr">
              <a:buNone/>
            </a:pPr>
            <a:r>
              <a:rPr lang="en-US" sz="1400" b="1" dirty="0">
                <a:solidFill>
                  <a:srgbClr val="FFFFFF"/>
                </a:solidFill>
                <a:latin typeface="Plus Jakarta Sans" pitchFamily="34" charset="0"/>
                <a:ea typeface="Plus Jakarta Sans" pitchFamily="34" charset="-122"/>
                <a:cs typeface="Plus Jakarta Sans" pitchFamily="34" charset="-120"/>
              </a:rPr>
              <a:t>6</a:t>
            </a:r>
            <a:endParaRPr lang="en-US" sz="1400" dirty="0"/>
          </a:p>
        </p:txBody>
      </p:sp>
      <p:sp>
        <p:nvSpPr>
          <p:cNvPr id="37" name="Text 34"/>
          <p:cNvSpPr/>
          <p:nvPr/>
        </p:nvSpPr>
        <p:spPr>
          <a:xfrm>
            <a:off x="4937760" y="2880360"/>
            <a:ext cx="365760" cy="411480"/>
          </a:xfrm>
          <a:prstGeom prst="rect">
            <a:avLst/>
          </a:prstGeom>
          <a:noFill/>
          <a:ln/>
        </p:spPr>
        <p:txBody>
          <a:bodyPr wrap="square" rtlCol="0" anchor="ctr"/>
          <a:lstStyle/>
          <a:p>
            <a:pPr marL="0" indent="0" algn="ctr">
              <a:buNone/>
            </a:pPr>
            <a:r>
              <a:rPr lang="en-US" sz="1400" b="1" dirty="0">
                <a:solidFill>
                  <a:srgbClr val="FFFFFF"/>
                </a:solidFill>
                <a:latin typeface="Plus Jakarta Sans" pitchFamily="34" charset="0"/>
                <a:ea typeface="Plus Jakarta Sans" pitchFamily="34" charset="-122"/>
                <a:cs typeface="Plus Jakarta Sans" pitchFamily="34" charset="-120"/>
              </a:rPr>
              <a:t>7</a:t>
            </a:r>
            <a:endParaRPr lang="en-US" sz="1400" dirty="0"/>
          </a:p>
        </p:txBody>
      </p:sp>
      <p:sp>
        <p:nvSpPr>
          <p:cNvPr id="42" name="Text 39"/>
          <p:cNvSpPr/>
          <p:nvPr/>
        </p:nvSpPr>
        <p:spPr>
          <a:xfrm>
            <a:off x="4937760" y="3651885"/>
            <a:ext cx="365760" cy="411480"/>
          </a:xfrm>
          <a:prstGeom prst="rect">
            <a:avLst/>
          </a:prstGeom>
          <a:noFill/>
          <a:ln/>
        </p:spPr>
        <p:txBody>
          <a:bodyPr wrap="square" rtlCol="0" anchor="ctr"/>
          <a:lstStyle/>
          <a:p>
            <a:pPr marL="0" indent="0" algn="ctr">
              <a:buNone/>
            </a:pPr>
            <a:r>
              <a:rPr lang="en-US" sz="1400" b="1" dirty="0">
                <a:solidFill>
                  <a:srgbClr val="FFFFFF"/>
                </a:solidFill>
                <a:latin typeface="Plus Jakarta Sans" pitchFamily="34" charset="0"/>
                <a:ea typeface="Plus Jakarta Sans" pitchFamily="34" charset="-122"/>
                <a:cs typeface="Plus Jakarta Sans" pitchFamily="34" charset="-120"/>
              </a:rPr>
              <a:t>8</a:t>
            </a:r>
            <a:endParaRPr lang="en-US" sz="1400" dirty="0"/>
          </a:p>
        </p:txBody>
      </p:sp>
      <p:pic>
        <p:nvPicPr>
          <p:cNvPr id="49" name="Picture 48">
            <a:extLst>
              <a:ext uri="{FF2B5EF4-FFF2-40B4-BE49-F238E27FC236}">
                <a16:creationId xmlns:a16="http://schemas.microsoft.com/office/drawing/2014/main" id="{EFAE411F-4EC4-6573-F32C-72BBF18A0006}"/>
              </a:ext>
            </a:extLst>
          </p:cNvPr>
          <p:cNvPicPr>
            <a:picLocks noChangeAspect="1"/>
          </p:cNvPicPr>
          <p:nvPr/>
        </p:nvPicPr>
        <p:blipFill>
          <a:blip r:embed="rId4"/>
          <a:stretch>
            <a:fillRect/>
          </a:stretch>
        </p:blipFill>
        <p:spPr>
          <a:xfrm>
            <a:off x="4287872" y="266700"/>
            <a:ext cx="4679373" cy="4679373"/>
          </a:xfrm>
          <a:prstGeom prst="ellipse">
            <a:avLst/>
          </a:prstGeom>
          <a:ln w="190500" cap="rnd">
            <a:solidFill>
              <a:srgbClr val="C8C6BD"/>
            </a:solidFill>
            <a:prstDash val="solid"/>
          </a:ln>
          <a:effectLst>
            <a:outerShdw blurRad="127000" algn="bl" rotWithShape="0">
              <a:srgbClr val="000000"/>
            </a:outerShdw>
          </a:effectLst>
          <a:scene3d>
            <a:camera prst="perspectiveFront" fov="5400000"/>
            <a:lightRig rig="threePt" dir="t">
              <a:rot lat="0" lon="0" rev="19200000"/>
            </a:lightRig>
          </a:scene3d>
          <a:sp3d extrusionH="25400">
            <a:bevelT w="304800" h="152400" prst="hardEdge"/>
            <a:extrusionClr>
              <a:srgbClr val="000000"/>
            </a:extrusionClr>
          </a:sp3d>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B4446C-02A5-D722-20E2-FB25CBE3F961}"/>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57D072C7-7D7B-DE2E-AC01-B037E988A2B6}"/>
              </a:ext>
            </a:extLst>
          </p:cNvPr>
          <p:cNvPicPr>
            <a:picLocks noChangeAspect="1"/>
          </p:cNvPicPr>
          <p:nvPr/>
        </p:nvPicPr>
        <p:blipFill>
          <a:blip r:embed="rId2"/>
          <a:stretch>
            <a:fillRect/>
          </a:stretch>
        </p:blipFill>
        <p:spPr>
          <a:xfrm>
            <a:off x="0" y="0"/>
            <a:ext cx="9144000" cy="5143500"/>
          </a:xfrm>
          <a:prstGeom prst="rect">
            <a:avLst/>
          </a:prstGeom>
        </p:spPr>
      </p:pic>
      <p:sp>
        <p:nvSpPr>
          <p:cNvPr id="3" name="Text 0">
            <a:extLst>
              <a:ext uri="{FF2B5EF4-FFF2-40B4-BE49-F238E27FC236}">
                <a16:creationId xmlns:a16="http://schemas.microsoft.com/office/drawing/2014/main" id="{003BD268-9139-E127-9FCC-5F2EBE026F0F}"/>
              </a:ext>
            </a:extLst>
          </p:cNvPr>
          <p:cNvSpPr/>
          <p:nvPr/>
        </p:nvSpPr>
        <p:spPr>
          <a:xfrm>
            <a:off x="65314" y="416379"/>
            <a:ext cx="8229600" cy="274320"/>
          </a:xfrm>
          <a:prstGeom prst="rect">
            <a:avLst/>
          </a:prstGeom>
          <a:noFill/>
          <a:ln/>
        </p:spPr>
        <p:txBody>
          <a:bodyPr wrap="square" rtlCol="0" anchor="ctr"/>
          <a:lstStyle/>
          <a:p>
            <a:pPr marL="0" indent="0">
              <a:lnSpc>
                <a:spcPts val="3500"/>
              </a:lnSpc>
              <a:buNone/>
            </a:pPr>
            <a:r>
              <a:rPr lang="en-US" sz="3300" b="1" dirty="0">
                <a:solidFill>
                  <a:srgbClr val="17A33E"/>
                </a:solidFill>
                <a:latin typeface="Plus Jakarta Sans" pitchFamily="34" charset="0"/>
                <a:ea typeface="Plus Jakarta Sans" pitchFamily="34" charset="-122"/>
                <a:cs typeface="Plus Jakarta Sans" pitchFamily="34" charset="-120"/>
              </a:rPr>
              <a:t>Problem Statement-1- Completed</a:t>
            </a:r>
            <a:endParaRPr lang="en-US" sz="3300" dirty="0"/>
          </a:p>
        </p:txBody>
      </p:sp>
      <p:sp>
        <p:nvSpPr>
          <p:cNvPr id="4" name="Text 1">
            <a:extLst>
              <a:ext uri="{FF2B5EF4-FFF2-40B4-BE49-F238E27FC236}">
                <a16:creationId xmlns:a16="http://schemas.microsoft.com/office/drawing/2014/main" id="{505D393C-6F8B-1DC2-D466-81538E3F2CC4}"/>
              </a:ext>
            </a:extLst>
          </p:cNvPr>
          <p:cNvSpPr/>
          <p:nvPr/>
        </p:nvSpPr>
        <p:spPr>
          <a:xfrm>
            <a:off x="124097" y="909349"/>
            <a:ext cx="8936777" cy="429333"/>
          </a:xfrm>
          <a:prstGeom prst="rect">
            <a:avLst/>
          </a:prstGeom>
          <a:noFill/>
          <a:ln/>
        </p:spPr>
        <p:txBody>
          <a:bodyPr wrap="square" rtlCol="0" anchor="t"/>
          <a:lstStyle/>
          <a:p>
            <a:pPr>
              <a:spcAft>
                <a:spcPts val="1200"/>
              </a:spcAft>
              <a:buSzPct val="100000"/>
            </a:pPr>
            <a:r>
              <a:rPr lang="en-US" sz="1600" b="1" dirty="0">
                <a:latin typeface="Plus Jakarta Sans" pitchFamily="34" charset="0"/>
                <a:ea typeface="Plus Jakarta Sans" pitchFamily="34" charset="-122"/>
              </a:rPr>
              <a:t>Designing a </a:t>
            </a:r>
            <a:r>
              <a:rPr lang="en-IN" sz="1600" b="1" dirty="0">
                <a:latin typeface="Plus Jakarta Sans" pitchFamily="34" charset="0"/>
                <a:ea typeface="Plus Jakarta Sans" pitchFamily="34" charset="-122"/>
              </a:rPr>
              <a:t>Contrastive</a:t>
            </a:r>
            <a:r>
              <a:rPr lang="en-IN" sz="1400" b="0" i="0" u="none" strike="noStrike" baseline="0" dirty="0">
                <a:solidFill>
                  <a:srgbClr val="000000"/>
                </a:solidFill>
                <a:latin typeface="Arial" panose="020B0604020202020204" pitchFamily="34" charset="0"/>
              </a:rPr>
              <a:t> </a:t>
            </a:r>
            <a:r>
              <a:rPr lang="en-IN" sz="1600" b="1" dirty="0">
                <a:latin typeface="Plus Jakarta Sans" pitchFamily="34" charset="0"/>
                <a:ea typeface="Plus Jakarta Sans" pitchFamily="34" charset="-122"/>
              </a:rPr>
              <a:t>Learning Based Robust Multi-label Chest Disease Classification System</a:t>
            </a:r>
            <a:endParaRPr lang="en-US" sz="1600" b="1" dirty="0">
              <a:latin typeface="Plus Jakarta Sans" pitchFamily="34" charset="0"/>
              <a:ea typeface="Plus Jakarta Sans" pitchFamily="34" charset="-122"/>
            </a:endParaRPr>
          </a:p>
          <a:p>
            <a:pPr marL="342900" indent="-342900">
              <a:lnSpc>
                <a:spcPts val="2000"/>
              </a:lnSpc>
              <a:spcAft>
                <a:spcPts val="1200"/>
              </a:spcAft>
              <a:buSzPct val="100000"/>
              <a:buFont typeface="+mj-lt"/>
              <a:buAutoNum type="arabicPeriod"/>
            </a:pPr>
            <a:endParaRPr lang="en-US" sz="1200" dirty="0"/>
          </a:p>
          <a:p>
            <a:pPr marL="342900" indent="-342900">
              <a:lnSpc>
                <a:spcPts val="2000"/>
              </a:lnSpc>
              <a:spcAft>
                <a:spcPts val="1200"/>
              </a:spcAft>
              <a:buSzPct val="100000"/>
              <a:buFont typeface="+mj-lt"/>
              <a:buAutoNum type="arabicPeriod"/>
            </a:pPr>
            <a:endParaRPr lang="en-US" sz="1200" dirty="0"/>
          </a:p>
        </p:txBody>
      </p:sp>
      <p:sp>
        <p:nvSpPr>
          <p:cNvPr id="7" name="Text 0">
            <a:extLst>
              <a:ext uri="{FF2B5EF4-FFF2-40B4-BE49-F238E27FC236}">
                <a16:creationId xmlns:a16="http://schemas.microsoft.com/office/drawing/2014/main" id="{3E46902B-8D27-1994-165C-2B10E25DA27E}"/>
              </a:ext>
            </a:extLst>
          </p:cNvPr>
          <p:cNvSpPr/>
          <p:nvPr/>
        </p:nvSpPr>
        <p:spPr>
          <a:xfrm>
            <a:off x="65313" y="1790096"/>
            <a:ext cx="8829969" cy="274320"/>
          </a:xfrm>
          <a:prstGeom prst="rect">
            <a:avLst/>
          </a:prstGeom>
          <a:noFill/>
          <a:ln/>
        </p:spPr>
        <p:txBody>
          <a:bodyPr wrap="square" rtlCol="0" anchor="ctr"/>
          <a:lstStyle/>
          <a:p>
            <a:pPr marL="0" indent="0">
              <a:lnSpc>
                <a:spcPts val="3500"/>
              </a:lnSpc>
              <a:buNone/>
            </a:pPr>
            <a:r>
              <a:rPr lang="en-US" sz="3300" b="1" dirty="0">
                <a:solidFill>
                  <a:srgbClr val="17A33E"/>
                </a:solidFill>
                <a:latin typeface="Plus Jakarta Sans" pitchFamily="34" charset="0"/>
                <a:ea typeface="Plus Jakarta Sans" pitchFamily="34" charset="-122"/>
                <a:cs typeface="Plus Jakarta Sans" pitchFamily="34" charset="-120"/>
              </a:rPr>
              <a:t>Problem Statement-2- </a:t>
            </a:r>
            <a:r>
              <a:rPr lang="en-US" sz="3200" b="1" dirty="0">
                <a:solidFill>
                  <a:srgbClr val="17A33E"/>
                </a:solidFill>
                <a:latin typeface="Plus Jakarta Sans" pitchFamily="34" charset="0"/>
                <a:ea typeface="Plus Jakarta Sans" pitchFamily="34" charset="-122"/>
                <a:cs typeface="Plus Jakarta Sans" pitchFamily="34" charset="-120"/>
              </a:rPr>
              <a:t>Implementation Completed</a:t>
            </a:r>
            <a:endParaRPr lang="en-US" sz="3300" dirty="0"/>
          </a:p>
        </p:txBody>
      </p:sp>
      <p:sp>
        <p:nvSpPr>
          <p:cNvPr id="8" name="Text 1">
            <a:extLst>
              <a:ext uri="{FF2B5EF4-FFF2-40B4-BE49-F238E27FC236}">
                <a16:creationId xmlns:a16="http://schemas.microsoft.com/office/drawing/2014/main" id="{FE46F33F-2840-F07C-B2D7-0D01FDE5CADC}"/>
              </a:ext>
            </a:extLst>
          </p:cNvPr>
          <p:cNvSpPr/>
          <p:nvPr/>
        </p:nvSpPr>
        <p:spPr>
          <a:xfrm>
            <a:off x="65314" y="2208968"/>
            <a:ext cx="8936777" cy="429333"/>
          </a:xfrm>
          <a:prstGeom prst="rect">
            <a:avLst/>
          </a:prstGeom>
          <a:noFill/>
          <a:ln/>
        </p:spPr>
        <p:txBody>
          <a:bodyPr wrap="square" rtlCol="0" anchor="t"/>
          <a:lstStyle/>
          <a:p>
            <a:pPr algn="just">
              <a:spcAft>
                <a:spcPts val="1200"/>
              </a:spcAft>
              <a:buSzPct val="100000"/>
            </a:pPr>
            <a:r>
              <a:rPr lang="en-US" sz="1600" b="1" dirty="0">
                <a:latin typeface="Plus Jakarta Sans" pitchFamily="34" charset="0"/>
                <a:ea typeface="Plus Jakarta Sans" pitchFamily="34" charset="-122"/>
              </a:rPr>
              <a:t>Blockchain-Secured Federated Learning for Privacy-Preserving Multi-label Chest Disease Classification </a:t>
            </a:r>
          </a:p>
          <a:p>
            <a:pPr marL="342900" indent="-342900">
              <a:lnSpc>
                <a:spcPts val="2000"/>
              </a:lnSpc>
              <a:spcAft>
                <a:spcPts val="1200"/>
              </a:spcAft>
              <a:buSzPct val="100000"/>
              <a:buFont typeface="+mj-lt"/>
              <a:buAutoNum type="arabicPeriod"/>
            </a:pPr>
            <a:endParaRPr lang="en-US" sz="1200" dirty="0"/>
          </a:p>
          <a:p>
            <a:pPr marL="342900" indent="-342900">
              <a:lnSpc>
                <a:spcPts val="2000"/>
              </a:lnSpc>
              <a:spcAft>
                <a:spcPts val="1200"/>
              </a:spcAft>
              <a:buSzPct val="100000"/>
              <a:buFont typeface="+mj-lt"/>
              <a:buAutoNum type="arabicPeriod"/>
            </a:pPr>
            <a:endParaRPr lang="en-US" sz="1200" dirty="0"/>
          </a:p>
        </p:txBody>
      </p:sp>
      <p:sp>
        <p:nvSpPr>
          <p:cNvPr id="9" name="Text 0">
            <a:extLst>
              <a:ext uri="{FF2B5EF4-FFF2-40B4-BE49-F238E27FC236}">
                <a16:creationId xmlns:a16="http://schemas.microsoft.com/office/drawing/2014/main" id="{89605461-00B4-B461-A9D1-135DB03E951B}"/>
              </a:ext>
            </a:extLst>
          </p:cNvPr>
          <p:cNvSpPr/>
          <p:nvPr/>
        </p:nvSpPr>
        <p:spPr>
          <a:xfrm>
            <a:off x="124097" y="3269029"/>
            <a:ext cx="8229600" cy="274320"/>
          </a:xfrm>
          <a:prstGeom prst="rect">
            <a:avLst/>
          </a:prstGeom>
          <a:noFill/>
          <a:ln/>
        </p:spPr>
        <p:txBody>
          <a:bodyPr wrap="square" rtlCol="0" anchor="ctr"/>
          <a:lstStyle/>
          <a:p>
            <a:pPr marL="0" indent="0">
              <a:lnSpc>
                <a:spcPts val="3500"/>
              </a:lnSpc>
              <a:buNone/>
            </a:pPr>
            <a:r>
              <a:rPr lang="en-US" sz="3300" b="1" dirty="0">
                <a:solidFill>
                  <a:srgbClr val="17A33E"/>
                </a:solidFill>
                <a:latin typeface="Plus Jakarta Sans" pitchFamily="34" charset="0"/>
                <a:ea typeface="Plus Jakarta Sans" pitchFamily="34" charset="-122"/>
                <a:cs typeface="Plus Jakarta Sans" pitchFamily="34" charset="-120"/>
              </a:rPr>
              <a:t>Problem Statement-3- Yet to Start</a:t>
            </a:r>
            <a:endParaRPr lang="en-US" sz="3300" dirty="0"/>
          </a:p>
        </p:txBody>
      </p:sp>
      <p:sp>
        <p:nvSpPr>
          <p:cNvPr id="10" name="Text 1">
            <a:extLst>
              <a:ext uri="{FF2B5EF4-FFF2-40B4-BE49-F238E27FC236}">
                <a16:creationId xmlns:a16="http://schemas.microsoft.com/office/drawing/2014/main" id="{23E1F9EF-86BA-CDEE-E5BB-4329CE6E9432}"/>
              </a:ext>
            </a:extLst>
          </p:cNvPr>
          <p:cNvSpPr/>
          <p:nvPr/>
        </p:nvSpPr>
        <p:spPr>
          <a:xfrm>
            <a:off x="124097" y="3687901"/>
            <a:ext cx="8695707" cy="799805"/>
          </a:xfrm>
          <a:prstGeom prst="rect">
            <a:avLst/>
          </a:prstGeom>
          <a:noFill/>
          <a:ln/>
        </p:spPr>
        <p:txBody>
          <a:bodyPr wrap="square" rtlCol="0" anchor="t"/>
          <a:lstStyle/>
          <a:p>
            <a:pPr algn="just">
              <a:spcAft>
                <a:spcPts val="1200"/>
              </a:spcAft>
              <a:buSzPct val="100000"/>
            </a:pPr>
            <a:r>
              <a:rPr lang="en-US" sz="1600" b="1" dirty="0">
                <a:latin typeface="Plus Jakarta Sans" pitchFamily="34" charset="0"/>
                <a:ea typeface="Plus Jakarta Sans" pitchFamily="34" charset="-122"/>
              </a:rPr>
              <a:t>Designing a deep-learning based architecture to optimize features from the input image to enhance the classification</a:t>
            </a:r>
          </a:p>
          <a:p>
            <a:pPr marL="342900" indent="-342900">
              <a:lnSpc>
                <a:spcPts val="2000"/>
              </a:lnSpc>
              <a:spcAft>
                <a:spcPts val="1200"/>
              </a:spcAft>
              <a:buSzPct val="100000"/>
              <a:buFont typeface="+mj-lt"/>
              <a:buAutoNum type="arabicPeriod"/>
            </a:pPr>
            <a:endParaRPr lang="en-US" sz="1200" dirty="0"/>
          </a:p>
          <a:p>
            <a:pPr marL="342900" indent="-342900">
              <a:lnSpc>
                <a:spcPts val="2000"/>
              </a:lnSpc>
              <a:spcAft>
                <a:spcPts val="1200"/>
              </a:spcAft>
              <a:buSzPct val="100000"/>
              <a:buFont typeface="+mj-lt"/>
              <a:buAutoNum type="arabicPeriod"/>
            </a:pPr>
            <a:endParaRPr lang="en-US" sz="1200" dirty="0"/>
          </a:p>
        </p:txBody>
      </p:sp>
    </p:spTree>
    <p:extLst>
      <p:ext uri="{BB962C8B-B14F-4D97-AF65-F5344CB8AC3E}">
        <p14:creationId xmlns:p14="http://schemas.microsoft.com/office/powerpoint/2010/main" val="10466293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5DF9268A-5F0F-9084-ED9D-DEE8AF1FC53D}"/>
              </a:ext>
            </a:extLst>
          </p:cNvPr>
          <p:cNvPicPr>
            <a:picLocks noChangeAspect="1"/>
          </p:cNvPicPr>
          <p:nvPr/>
        </p:nvPicPr>
        <p:blipFill>
          <a:blip r:embed="rId3"/>
          <a:stretch>
            <a:fillRect/>
          </a:stretch>
        </p:blipFill>
        <p:spPr>
          <a:xfrm>
            <a:off x="0" y="0"/>
            <a:ext cx="9144000" cy="5143500"/>
          </a:xfrm>
          <a:prstGeom prst="rect">
            <a:avLst/>
          </a:prstGeom>
        </p:spPr>
      </p:pic>
      <p:sp>
        <p:nvSpPr>
          <p:cNvPr id="3" name="Text 0">
            <a:extLst>
              <a:ext uri="{FF2B5EF4-FFF2-40B4-BE49-F238E27FC236}">
                <a16:creationId xmlns:a16="http://schemas.microsoft.com/office/drawing/2014/main" id="{4A15A776-A71F-3272-50D6-3EF6899BD259}"/>
              </a:ext>
            </a:extLst>
          </p:cNvPr>
          <p:cNvSpPr/>
          <p:nvPr/>
        </p:nvSpPr>
        <p:spPr>
          <a:xfrm>
            <a:off x="239486" y="0"/>
            <a:ext cx="8055428" cy="690699"/>
          </a:xfrm>
          <a:prstGeom prst="rect">
            <a:avLst/>
          </a:prstGeom>
          <a:noFill/>
          <a:ln/>
        </p:spPr>
        <p:txBody>
          <a:bodyPr wrap="square" rtlCol="0" anchor="ctr"/>
          <a:lstStyle/>
          <a:p>
            <a:pPr marL="0" indent="0">
              <a:lnSpc>
                <a:spcPts val="3500"/>
              </a:lnSpc>
              <a:buNone/>
            </a:pPr>
            <a:r>
              <a:rPr lang="en-US" sz="3300" b="1" dirty="0">
                <a:solidFill>
                  <a:srgbClr val="17A33E"/>
                </a:solidFill>
                <a:latin typeface="Plus Jakarta Sans" pitchFamily="34" charset="0"/>
                <a:ea typeface="Plus Jakarta Sans" pitchFamily="34" charset="-122"/>
                <a:cs typeface="Plus Jakarta Sans" pitchFamily="34" charset="-120"/>
              </a:rPr>
              <a:t>Introduction &amp; Background</a:t>
            </a:r>
            <a:endParaRPr lang="en-US" sz="3300" dirty="0"/>
          </a:p>
        </p:txBody>
      </p:sp>
      <p:sp>
        <p:nvSpPr>
          <p:cNvPr id="4" name="Text 1">
            <a:extLst>
              <a:ext uri="{FF2B5EF4-FFF2-40B4-BE49-F238E27FC236}">
                <a16:creationId xmlns:a16="http://schemas.microsoft.com/office/drawing/2014/main" id="{60D3AEAD-13E0-1A51-7CD1-E678531C008F}"/>
              </a:ext>
            </a:extLst>
          </p:cNvPr>
          <p:cNvSpPr/>
          <p:nvPr/>
        </p:nvSpPr>
        <p:spPr>
          <a:xfrm>
            <a:off x="239486" y="586195"/>
            <a:ext cx="8730343" cy="4290605"/>
          </a:xfrm>
          <a:prstGeom prst="rect">
            <a:avLst/>
          </a:prstGeom>
          <a:noFill/>
          <a:ln/>
        </p:spPr>
        <p:txBody>
          <a:bodyPr wrap="square" rtlCol="0" anchor="t"/>
          <a:lstStyle/>
          <a:p>
            <a:pPr marL="342900" indent="-342900" algn="just">
              <a:spcAft>
                <a:spcPts val="1200"/>
              </a:spcAft>
              <a:buSzPct val="100000"/>
              <a:buFont typeface="Arial" panose="020B0604020202020204" pitchFamily="34" charset="0"/>
              <a:buChar char="•"/>
            </a:pPr>
            <a:r>
              <a:rPr lang="en-US" sz="1200" dirty="0">
                <a:solidFill>
                  <a:srgbClr val="000000"/>
                </a:solidFill>
                <a:latin typeface="Plus Jakarta Sans Light" pitchFamily="34" charset="0"/>
                <a:ea typeface="Plus Jakarta Sans Light" pitchFamily="34" charset="-122"/>
              </a:rPr>
              <a:t>The detection and classification of lung diseases from medical images pose significant challenges due to the complexity of pathologies and the need for high diagnosis accuracy. </a:t>
            </a:r>
          </a:p>
          <a:p>
            <a:pPr marL="342900" indent="-342900" algn="just">
              <a:spcAft>
                <a:spcPts val="1200"/>
              </a:spcAft>
              <a:buSzPct val="100000"/>
              <a:buFont typeface="Arial" panose="020B0604020202020204" pitchFamily="34" charset="0"/>
              <a:buChar char="•"/>
            </a:pPr>
            <a:r>
              <a:rPr lang="en-US" sz="1200" dirty="0">
                <a:solidFill>
                  <a:srgbClr val="000000"/>
                </a:solidFill>
                <a:latin typeface="Plus Jakarta Sans Light" pitchFamily="34" charset="0"/>
                <a:ea typeface="Plus Jakarta Sans Light" pitchFamily="34" charset="-122"/>
                <a:cs typeface="Plus Jakarta Sans Light" pitchFamily="34" charset="-120"/>
              </a:rPr>
              <a:t>However , widespread clinical deployment of AI models is impeded by data sharing barriers arising from </a:t>
            </a:r>
            <a:r>
              <a:rPr lang="en-US" sz="1200" b="1" dirty="0">
                <a:solidFill>
                  <a:srgbClr val="000000"/>
                </a:solidFill>
                <a:latin typeface="Plus Jakarta Sans Light" pitchFamily="34" charset="0"/>
                <a:ea typeface="Plus Jakarta Sans Light" pitchFamily="34" charset="-122"/>
                <a:cs typeface="Plus Jakarta Sans Light" pitchFamily="34" charset="-120"/>
              </a:rPr>
              <a:t>privacy regulations and institutional silos</a:t>
            </a:r>
            <a:r>
              <a:rPr lang="en-US" sz="1200" dirty="0">
                <a:solidFill>
                  <a:srgbClr val="000000"/>
                </a:solidFill>
                <a:latin typeface="Plus Jakarta Sans Light" pitchFamily="34" charset="0"/>
                <a:ea typeface="Plus Jakarta Sans Light" pitchFamily="34" charset="-122"/>
                <a:cs typeface="Plus Jakarta Sans Light" pitchFamily="34" charset="-120"/>
              </a:rPr>
              <a:t>, which prevent pooling of diverse, multi-institutional datasets essential for robust model generalization.</a:t>
            </a:r>
          </a:p>
          <a:p>
            <a:pPr marL="342900" indent="-342900" algn="just">
              <a:spcAft>
                <a:spcPts val="1200"/>
              </a:spcAft>
              <a:buSzPct val="100000"/>
              <a:buFont typeface="Arial" panose="020B0604020202020204" pitchFamily="34" charset="0"/>
              <a:buChar char="•"/>
            </a:pPr>
            <a:r>
              <a:rPr lang="en-US" sz="1200" b="1" dirty="0">
                <a:solidFill>
                  <a:srgbClr val="000000"/>
                </a:solidFill>
                <a:latin typeface="Plus Jakarta Sans Light" pitchFamily="34" charset="0"/>
                <a:ea typeface="Plus Jakarta Sans Light" pitchFamily="34" charset="-122"/>
                <a:cs typeface="Plus Jakarta Sans Light" pitchFamily="34" charset="-120"/>
              </a:rPr>
              <a:t>Model provenance and trust issues</a:t>
            </a:r>
            <a:r>
              <a:rPr lang="en-US" sz="1200" dirty="0">
                <a:solidFill>
                  <a:srgbClr val="000000"/>
                </a:solidFill>
                <a:latin typeface="Plus Jakarta Sans Light" pitchFamily="34" charset="0"/>
                <a:ea typeface="Plus Jakarta Sans Light" pitchFamily="34" charset="-122"/>
                <a:cs typeface="Plus Jakarta Sans Light" pitchFamily="34" charset="-120"/>
              </a:rPr>
              <a:t>, as centralized repositories lack immutable audit trails to verify that submitted model updates or weights have not been tampered.</a:t>
            </a:r>
          </a:p>
          <a:p>
            <a:pPr marL="342900" indent="-342900" algn="just">
              <a:spcAft>
                <a:spcPts val="1200"/>
              </a:spcAft>
              <a:buSzPct val="100000"/>
              <a:buFont typeface="Arial" panose="020B0604020202020204" pitchFamily="34" charset="0"/>
              <a:buChar char="•"/>
            </a:pPr>
            <a:r>
              <a:rPr lang="en-US" sz="1200" dirty="0">
                <a:solidFill>
                  <a:srgbClr val="000000"/>
                </a:solidFill>
                <a:latin typeface="Plus Jakarta Sans Light" pitchFamily="34" charset="0"/>
                <a:ea typeface="Plus Jakarta Sans Light" pitchFamily="34" charset="-122"/>
                <a:cs typeface="Plus Jakarta Sans Light" pitchFamily="34" charset="-120"/>
              </a:rPr>
              <a:t>Block chain  technology addresses these challenges by providing:</a:t>
            </a:r>
          </a:p>
          <a:p>
            <a:pPr marL="800100" lvl="1" indent="-342900" algn="just">
              <a:spcAft>
                <a:spcPts val="1200"/>
              </a:spcAft>
              <a:buSzPct val="100000"/>
              <a:buFont typeface="Arial" panose="020B0604020202020204" pitchFamily="34" charset="0"/>
              <a:buChar char="•"/>
            </a:pPr>
            <a:r>
              <a:rPr lang="en-US" sz="1200" b="1" dirty="0">
                <a:solidFill>
                  <a:srgbClr val="000000"/>
                </a:solidFill>
                <a:latin typeface="Plus Jakarta Sans Light" pitchFamily="34" charset="0"/>
                <a:ea typeface="Plus Jakarta Sans Light" pitchFamily="34" charset="-122"/>
                <a:cs typeface="Plus Jakarta Sans Light" pitchFamily="34" charset="-120"/>
              </a:rPr>
              <a:t>Decentralization</a:t>
            </a:r>
            <a:r>
              <a:rPr lang="en-US" sz="1200" dirty="0">
                <a:solidFill>
                  <a:srgbClr val="000000"/>
                </a:solidFill>
                <a:latin typeface="Plus Jakarta Sans Light" pitchFamily="34" charset="0"/>
                <a:ea typeface="Plus Jakarta Sans Light" pitchFamily="34" charset="-122"/>
                <a:cs typeface="Plus Jakarta Sans Light" pitchFamily="34" charset="-120"/>
              </a:rPr>
              <a:t>: Eliminates single points of failure, enabling hospitals and research institutes to contribute model updates without relinquishing data ownership.</a:t>
            </a:r>
          </a:p>
          <a:p>
            <a:pPr marL="800100" lvl="1" indent="-342900" algn="just">
              <a:spcAft>
                <a:spcPts val="1200"/>
              </a:spcAft>
              <a:buSzPct val="100000"/>
              <a:buFont typeface="Arial" panose="020B0604020202020204" pitchFamily="34" charset="0"/>
              <a:buChar char="•"/>
            </a:pPr>
            <a:r>
              <a:rPr lang="en-US" sz="1200" b="1" dirty="0">
                <a:solidFill>
                  <a:srgbClr val="000000"/>
                </a:solidFill>
                <a:latin typeface="Plus Jakarta Sans Light" pitchFamily="34" charset="0"/>
                <a:ea typeface="Plus Jakarta Sans Light" pitchFamily="34" charset="-122"/>
                <a:cs typeface="Plus Jakarta Sans Light" pitchFamily="34" charset="-120"/>
              </a:rPr>
              <a:t>Immutability</a:t>
            </a:r>
            <a:r>
              <a:rPr lang="en-US" sz="1200" dirty="0">
                <a:solidFill>
                  <a:srgbClr val="000000"/>
                </a:solidFill>
                <a:latin typeface="Plus Jakarta Sans Light" pitchFamily="34" charset="0"/>
                <a:ea typeface="Plus Jakarta Sans Light" pitchFamily="34" charset="-122"/>
                <a:cs typeface="Plus Jakarta Sans Light" pitchFamily="34" charset="-120"/>
              </a:rPr>
              <a:t>: Cryptographic chaining of blocks ensures that once a model hash is recorded, it cannot be altered, enabling verifiable provenance for every model version and audit ready logs of submissions and accesses.</a:t>
            </a:r>
          </a:p>
          <a:p>
            <a:pPr marL="800100" lvl="1" indent="-342900" algn="just">
              <a:spcAft>
                <a:spcPts val="1200"/>
              </a:spcAft>
              <a:buSzPct val="100000"/>
              <a:buFont typeface="Arial" panose="020B0604020202020204" pitchFamily="34" charset="0"/>
              <a:buChar char="•"/>
            </a:pPr>
            <a:r>
              <a:rPr lang="en-US" sz="1200" b="1" dirty="0">
                <a:solidFill>
                  <a:srgbClr val="000000"/>
                </a:solidFill>
                <a:latin typeface="Plus Jakarta Sans Light" pitchFamily="34" charset="0"/>
                <a:ea typeface="Plus Jakarta Sans Light" pitchFamily="34" charset="-122"/>
                <a:cs typeface="Plus Jakarta Sans Light" pitchFamily="34" charset="-120"/>
              </a:rPr>
              <a:t>Smart Contracts</a:t>
            </a:r>
            <a:r>
              <a:rPr lang="en-US" sz="1200" dirty="0">
                <a:solidFill>
                  <a:srgbClr val="000000"/>
                </a:solidFill>
                <a:latin typeface="Plus Jakarta Sans Light" pitchFamily="34" charset="0"/>
                <a:ea typeface="Plus Jakarta Sans Light" pitchFamily="34" charset="-122"/>
                <a:cs typeface="Plus Jakarta Sans Light" pitchFamily="34" charset="-120"/>
              </a:rPr>
              <a:t>: Automate model registration, validation triggers and access control, enforcing predefined rules without interventions.</a:t>
            </a:r>
          </a:p>
          <a:p>
            <a:pPr marL="342900" indent="-342900" algn="just">
              <a:lnSpc>
                <a:spcPts val="2000"/>
              </a:lnSpc>
              <a:spcAft>
                <a:spcPts val="1200"/>
              </a:spcAft>
              <a:buSzPct val="100000"/>
              <a:buFont typeface="Arial" panose="020B0604020202020204" pitchFamily="34" charset="0"/>
              <a:buChar char="•"/>
            </a:pPr>
            <a:endParaRPr lang="en-US" sz="1200" dirty="0">
              <a:solidFill>
                <a:srgbClr val="000000"/>
              </a:solidFill>
              <a:latin typeface="Plus Jakarta Sans Light" pitchFamily="34" charset="0"/>
              <a:ea typeface="Plus Jakarta Sans Light" pitchFamily="34" charset="-122"/>
              <a:cs typeface="Plus Jakarta Sans Light" pitchFamily="34" charset="-120"/>
            </a:endParaRPr>
          </a:p>
          <a:p>
            <a:pPr marL="342900" indent="-342900">
              <a:lnSpc>
                <a:spcPts val="2000"/>
              </a:lnSpc>
              <a:spcAft>
                <a:spcPts val="1200"/>
              </a:spcAft>
              <a:buSzPct val="100000"/>
              <a:buFont typeface="+mj-lt"/>
              <a:buAutoNum type="arabicPeriod"/>
            </a:pPr>
            <a:endParaRPr lang="en-US" sz="1200" dirty="0"/>
          </a:p>
          <a:p>
            <a:pPr marL="342900" indent="-342900">
              <a:lnSpc>
                <a:spcPts val="2000"/>
              </a:lnSpc>
              <a:spcAft>
                <a:spcPts val="1200"/>
              </a:spcAft>
              <a:buSzPct val="100000"/>
              <a:buFont typeface="+mj-lt"/>
              <a:buAutoNum type="arabicPeriod"/>
            </a:pPr>
            <a:endParaRPr lang="en-US" sz="1200" dirty="0"/>
          </a:p>
          <a:p>
            <a:pPr marL="342900" indent="-342900">
              <a:lnSpc>
                <a:spcPts val="2000"/>
              </a:lnSpc>
              <a:spcAft>
                <a:spcPts val="1200"/>
              </a:spcAft>
              <a:buSzPct val="100000"/>
              <a:buFont typeface="+mj-lt"/>
              <a:buAutoNum type="arabicPeriod"/>
            </a:pPr>
            <a:endParaRPr lang="en-US" sz="1200" dirty="0"/>
          </a:p>
        </p:txBody>
      </p:sp>
    </p:spTree>
    <p:extLst>
      <p:ext uri="{BB962C8B-B14F-4D97-AF65-F5344CB8AC3E}">
        <p14:creationId xmlns:p14="http://schemas.microsoft.com/office/powerpoint/2010/main" val="21654864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09902D-ED76-55C0-ECFE-D9E8C0DC169C}"/>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A776B203-94C0-0757-1DF1-3EA193A36F2A}"/>
              </a:ext>
            </a:extLst>
          </p:cNvPr>
          <p:cNvPicPr>
            <a:picLocks noChangeAspect="1"/>
          </p:cNvPicPr>
          <p:nvPr/>
        </p:nvPicPr>
        <p:blipFill>
          <a:blip r:embed="rId3"/>
          <a:stretch>
            <a:fillRect/>
          </a:stretch>
        </p:blipFill>
        <p:spPr>
          <a:xfrm>
            <a:off x="0" y="0"/>
            <a:ext cx="9144000" cy="5143500"/>
          </a:xfrm>
          <a:prstGeom prst="rect">
            <a:avLst/>
          </a:prstGeom>
        </p:spPr>
      </p:pic>
      <p:sp>
        <p:nvSpPr>
          <p:cNvPr id="3" name="Text 0">
            <a:extLst>
              <a:ext uri="{FF2B5EF4-FFF2-40B4-BE49-F238E27FC236}">
                <a16:creationId xmlns:a16="http://schemas.microsoft.com/office/drawing/2014/main" id="{BDCD8404-9D8F-CC34-1D3C-4305BF022DD9}"/>
              </a:ext>
            </a:extLst>
          </p:cNvPr>
          <p:cNvSpPr/>
          <p:nvPr/>
        </p:nvSpPr>
        <p:spPr>
          <a:xfrm>
            <a:off x="239486" y="0"/>
            <a:ext cx="8055428" cy="690699"/>
          </a:xfrm>
          <a:prstGeom prst="rect">
            <a:avLst/>
          </a:prstGeom>
          <a:noFill/>
          <a:ln/>
        </p:spPr>
        <p:txBody>
          <a:bodyPr wrap="square" rtlCol="0" anchor="ctr"/>
          <a:lstStyle/>
          <a:p>
            <a:pPr>
              <a:lnSpc>
                <a:spcPts val="3500"/>
              </a:lnSpc>
            </a:pPr>
            <a:r>
              <a:rPr lang="en-US" sz="3300" b="1" dirty="0">
                <a:solidFill>
                  <a:srgbClr val="17A33E"/>
                </a:solidFill>
                <a:latin typeface="Plus Jakarta Sans" pitchFamily="34" charset="0"/>
                <a:ea typeface="Plus Jakarta Sans" pitchFamily="34" charset="-122"/>
                <a:cs typeface="Plus Jakarta Sans" pitchFamily="34" charset="-120"/>
              </a:rPr>
              <a:t>Research Motivation and Objectives</a:t>
            </a:r>
            <a:endParaRPr lang="en-US" sz="3300" dirty="0"/>
          </a:p>
        </p:txBody>
      </p:sp>
      <p:sp>
        <p:nvSpPr>
          <p:cNvPr id="4" name="Text 1">
            <a:extLst>
              <a:ext uri="{FF2B5EF4-FFF2-40B4-BE49-F238E27FC236}">
                <a16:creationId xmlns:a16="http://schemas.microsoft.com/office/drawing/2014/main" id="{5549426B-D84A-A666-F3F1-E90D5B392594}"/>
              </a:ext>
            </a:extLst>
          </p:cNvPr>
          <p:cNvSpPr/>
          <p:nvPr/>
        </p:nvSpPr>
        <p:spPr>
          <a:xfrm>
            <a:off x="239486" y="509551"/>
            <a:ext cx="8730343" cy="4367249"/>
          </a:xfrm>
          <a:prstGeom prst="rect">
            <a:avLst/>
          </a:prstGeom>
          <a:noFill/>
          <a:ln/>
        </p:spPr>
        <p:txBody>
          <a:bodyPr wrap="square" rtlCol="0" anchor="t"/>
          <a:lstStyle/>
          <a:p>
            <a:pPr marL="342900" indent="-342900" algn="just">
              <a:lnSpc>
                <a:spcPts val="2000"/>
              </a:lnSpc>
              <a:spcAft>
                <a:spcPts val="1200"/>
              </a:spcAft>
              <a:buSzPct val="100000"/>
              <a:buFont typeface="Arial" panose="020B0604020202020204" pitchFamily="34" charset="0"/>
              <a:buChar char="•"/>
            </a:pPr>
            <a:endParaRPr lang="en-US" sz="1200" dirty="0">
              <a:solidFill>
                <a:srgbClr val="000000"/>
              </a:solidFill>
              <a:latin typeface="Plus Jakarta Sans Light" pitchFamily="34" charset="0"/>
              <a:ea typeface="Plus Jakarta Sans Light" pitchFamily="34" charset="-122"/>
              <a:cs typeface="Plus Jakarta Sans Light" pitchFamily="34" charset="-120"/>
            </a:endParaRPr>
          </a:p>
          <a:p>
            <a:pPr marL="342900" indent="-342900">
              <a:lnSpc>
                <a:spcPts val="2000"/>
              </a:lnSpc>
              <a:spcAft>
                <a:spcPts val="1200"/>
              </a:spcAft>
              <a:buSzPct val="100000"/>
              <a:buFont typeface="+mj-lt"/>
              <a:buAutoNum type="arabicPeriod"/>
            </a:pPr>
            <a:endParaRPr lang="en-US" sz="1200" dirty="0"/>
          </a:p>
          <a:p>
            <a:pPr marL="342900" indent="-342900">
              <a:lnSpc>
                <a:spcPts val="2000"/>
              </a:lnSpc>
              <a:spcAft>
                <a:spcPts val="1200"/>
              </a:spcAft>
              <a:buSzPct val="100000"/>
              <a:buFont typeface="+mj-lt"/>
              <a:buAutoNum type="arabicPeriod"/>
            </a:pPr>
            <a:endParaRPr lang="en-US" sz="1200" dirty="0"/>
          </a:p>
          <a:p>
            <a:pPr marL="342900" indent="-342900">
              <a:lnSpc>
                <a:spcPts val="2000"/>
              </a:lnSpc>
              <a:spcAft>
                <a:spcPts val="1200"/>
              </a:spcAft>
              <a:buSzPct val="100000"/>
              <a:buFont typeface="+mj-lt"/>
              <a:buAutoNum type="arabicPeriod"/>
            </a:pPr>
            <a:endParaRPr lang="en-US" sz="1200" dirty="0"/>
          </a:p>
        </p:txBody>
      </p:sp>
      <p:sp>
        <p:nvSpPr>
          <p:cNvPr id="5" name="Text 0">
            <a:extLst>
              <a:ext uri="{FF2B5EF4-FFF2-40B4-BE49-F238E27FC236}">
                <a16:creationId xmlns:a16="http://schemas.microsoft.com/office/drawing/2014/main" id="{F82E497A-13F0-F945-35B9-49920CC75FFE}"/>
              </a:ext>
            </a:extLst>
          </p:cNvPr>
          <p:cNvSpPr/>
          <p:nvPr/>
        </p:nvSpPr>
        <p:spPr>
          <a:xfrm>
            <a:off x="253446" y="571984"/>
            <a:ext cx="1425831" cy="349781"/>
          </a:xfrm>
          <a:prstGeom prst="rect">
            <a:avLst/>
          </a:prstGeom>
          <a:noFill/>
          <a:ln/>
        </p:spPr>
        <p:txBody>
          <a:bodyPr wrap="square" rtlCol="0" anchor="ctr"/>
          <a:lstStyle/>
          <a:p>
            <a:pPr marL="0" indent="0">
              <a:lnSpc>
                <a:spcPts val="3500"/>
              </a:lnSpc>
              <a:buNone/>
            </a:pPr>
            <a:r>
              <a:rPr lang="en-US" sz="2000" b="1" dirty="0">
                <a:solidFill>
                  <a:srgbClr val="17A33E"/>
                </a:solidFill>
                <a:latin typeface="Plus Jakarta Sans" pitchFamily="34" charset="0"/>
                <a:ea typeface="Plus Jakarta Sans" pitchFamily="34" charset="-122"/>
              </a:rPr>
              <a:t>Motivation</a:t>
            </a:r>
            <a:endParaRPr lang="en-US" sz="2000" dirty="0"/>
          </a:p>
        </p:txBody>
      </p:sp>
      <p:sp>
        <p:nvSpPr>
          <p:cNvPr id="6" name="Text 1">
            <a:extLst>
              <a:ext uri="{FF2B5EF4-FFF2-40B4-BE49-F238E27FC236}">
                <a16:creationId xmlns:a16="http://schemas.microsoft.com/office/drawing/2014/main" id="{F386848C-04DC-4E1E-016F-D6B44125738A}"/>
              </a:ext>
            </a:extLst>
          </p:cNvPr>
          <p:cNvSpPr/>
          <p:nvPr/>
        </p:nvSpPr>
        <p:spPr>
          <a:xfrm>
            <a:off x="274122" y="982342"/>
            <a:ext cx="8695707" cy="3810304"/>
          </a:xfrm>
          <a:prstGeom prst="rect">
            <a:avLst/>
          </a:prstGeom>
          <a:noFill/>
          <a:ln/>
        </p:spPr>
        <p:txBody>
          <a:bodyPr wrap="square" rtlCol="0" anchor="t"/>
          <a:lstStyle/>
          <a:p>
            <a:pPr marL="171450" indent="-171450">
              <a:lnSpc>
                <a:spcPts val="2000"/>
              </a:lnSpc>
              <a:spcAft>
                <a:spcPts val="1200"/>
              </a:spcAft>
              <a:buSzPct val="100000"/>
              <a:buFont typeface="Arial" panose="020B0604020202020204" pitchFamily="34" charset="0"/>
              <a:buChar char="•"/>
            </a:pPr>
            <a:r>
              <a:rPr lang="en-IN" sz="1200" dirty="0"/>
              <a:t>Clinical AI for lung-disease classification demands large, diverse imaging datasets, yet privacy regulations (HIPAA, GDPR) and institutional silos prevent cross-site data sharing.</a:t>
            </a:r>
          </a:p>
          <a:p>
            <a:pPr marL="171450" indent="-171450">
              <a:lnSpc>
                <a:spcPts val="2000"/>
              </a:lnSpc>
              <a:spcAft>
                <a:spcPts val="1200"/>
              </a:spcAft>
              <a:buSzPct val="100000"/>
              <a:buFont typeface="Arial" panose="020B0604020202020204" pitchFamily="34" charset="0"/>
              <a:buChar char="•"/>
            </a:pPr>
            <a:r>
              <a:rPr lang="en-IN" sz="1200" dirty="0"/>
              <a:t>Federated learning addresses raw-data privacy but offers no immutable audit trail for model updates, leaving provenance and trust gaps in collaborative AI pipelines.</a:t>
            </a:r>
          </a:p>
          <a:p>
            <a:pPr marL="171450" indent="-171450">
              <a:lnSpc>
                <a:spcPts val="2000"/>
              </a:lnSpc>
              <a:spcAft>
                <a:spcPts val="1200"/>
              </a:spcAft>
              <a:buSzPct val="100000"/>
              <a:buFont typeface="Arial" panose="020B0604020202020204" pitchFamily="34" charset="0"/>
              <a:buChar char="•"/>
            </a:pPr>
            <a:r>
              <a:rPr lang="en-IN" sz="1200" dirty="0"/>
              <a:t>Centralized model repositories risk tampering, version drift, and unilateral control—undermining reproducibility and regulatory compliance.</a:t>
            </a:r>
          </a:p>
          <a:p>
            <a:pPr marL="171450" indent="-171450">
              <a:lnSpc>
                <a:spcPts val="2000"/>
              </a:lnSpc>
              <a:spcAft>
                <a:spcPts val="1200"/>
              </a:spcAft>
              <a:buSzPct val="100000"/>
              <a:buFont typeface="Arial" panose="020B0604020202020204" pitchFamily="34" charset="0"/>
              <a:buChar char="•"/>
            </a:pPr>
            <a:r>
              <a:rPr lang="en-IN" sz="1200" dirty="0"/>
              <a:t>On-chain storage of full neural networks is infeasible due to block-size limits; off-chain IPFS solutions introduce their own access-control and integrity challenge.</a:t>
            </a:r>
          </a:p>
          <a:p>
            <a:pPr marL="171450" indent="-171450">
              <a:lnSpc>
                <a:spcPts val="2000"/>
              </a:lnSpc>
              <a:spcAft>
                <a:spcPts val="1200"/>
              </a:spcAft>
              <a:buSzPct val="100000"/>
              <a:buFont typeface="Arial" panose="020B0604020202020204" pitchFamily="34" charset="0"/>
              <a:buChar char="•"/>
            </a:pPr>
            <a:endParaRPr lang="en-IN" sz="1200" dirty="0"/>
          </a:p>
          <a:p>
            <a:pPr marL="228600" indent="-228600">
              <a:lnSpc>
                <a:spcPts val="2000"/>
              </a:lnSpc>
              <a:spcAft>
                <a:spcPts val="1200"/>
              </a:spcAft>
              <a:buSzPct val="100000"/>
              <a:buAutoNum type="arabicPeriod"/>
            </a:pPr>
            <a:endParaRPr lang="en-US" sz="1200" dirty="0"/>
          </a:p>
          <a:p>
            <a:pPr marL="685800" lvl="1" indent="-228600">
              <a:lnSpc>
                <a:spcPts val="2000"/>
              </a:lnSpc>
              <a:spcAft>
                <a:spcPts val="1200"/>
              </a:spcAft>
              <a:buSzPct val="100000"/>
              <a:buAutoNum type="arabicPeriod"/>
            </a:pPr>
            <a:endParaRPr lang="en-US" sz="1200" dirty="0"/>
          </a:p>
          <a:p>
            <a:pPr marL="171450" indent="-171450">
              <a:lnSpc>
                <a:spcPts val="2000"/>
              </a:lnSpc>
              <a:spcAft>
                <a:spcPts val="1200"/>
              </a:spcAft>
              <a:buSzPct val="100000"/>
              <a:buFont typeface="Arial" panose="020B0604020202020204" pitchFamily="34" charset="0"/>
              <a:buChar char="•"/>
            </a:pPr>
            <a:endParaRPr lang="en-US" sz="1200" dirty="0"/>
          </a:p>
          <a:p>
            <a:pPr marL="171450" indent="-171450">
              <a:lnSpc>
                <a:spcPts val="2000"/>
              </a:lnSpc>
              <a:spcAft>
                <a:spcPts val="1200"/>
              </a:spcAft>
              <a:buSzPct val="100000"/>
              <a:buFont typeface="Arial" panose="020B0604020202020204" pitchFamily="34" charset="0"/>
              <a:buChar char="•"/>
            </a:pPr>
            <a:endParaRPr lang="en-US" sz="1200" dirty="0"/>
          </a:p>
          <a:p>
            <a:pPr marL="342900" indent="-342900">
              <a:lnSpc>
                <a:spcPts val="2000"/>
              </a:lnSpc>
              <a:spcAft>
                <a:spcPts val="1200"/>
              </a:spcAft>
              <a:buSzPct val="100000"/>
              <a:buFont typeface="+mj-lt"/>
              <a:buAutoNum type="arabicPeriod"/>
            </a:pPr>
            <a:endParaRPr lang="en-US" sz="1200" dirty="0"/>
          </a:p>
        </p:txBody>
      </p:sp>
    </p:spTree>
    <p:extLst>
      <p:ext uri="{BB962C8B-B14F-4D97-AF65-F5344CB8AC3E}">
        <p14:creationId xmlns:p14="http://schemas.microsoft.com/office/powerpoint/2010/main" val="39726894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F0A956-FD57-0F20-AC08-96FC86A7ADE3}"/>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7557E65F-BB6A-CCC7-A8E5-4AE5790AE00F}"/>
              </a:ext>
            </a:extLst>
          </p:cNvPr>
          <p:cNvPicPr>
            <a:picLocks noChangeAspect="1"/>
          </p:cNvPicPr>
          <p:nvPr/>
        </p:nvPicPr>
        <p:blipFill>
          <a:blip r:embed="rId3"/>
          <a:stretch>
            <a:fillRect/>
          </a:stretch>
        </p:blipFill>
        <p:spPr>
          <a:xfrm>
            <a:off x="0" y="0"/>
            <a:ext cx="9144000" cy="5143500"/>
          </a:xfrm>
          <a:prstGeom prst="rect">
            <a:avLst/>
          </a:prstGeom>
        </p:spPr>
      </p:pic>
      <p:sp>
        <p:nvSpPr>
          <p:cNvPr id="3" name="Text 0">
            <a:extLst>
              <a:ext uri="{FF2B5EF4-FFF2-40B4-BE49-F238E27FC236}">
                <a16:creationId xmlns:a16="http://schemas.microsoft.com/office/drawing/2014/main" id="{5FA6E7BD-D8AE-7052-CE73-2B9AFC8B1090}"/>
              </a:ext>
            </a:extLst>
          </p:cNvPr>
          <p:cNvSpPr/>
          <p:nvPr/>
        </p:nvSpPr>
        <p:spPr>
          <a:xfrm>
            <a:off x="239486" y="0"/>
            <a:ext cx="8055428" cy="690699"/>
          </a:xfrm>
          <a:prstGeom prst="rect">
            <a:avLst/>
          </a:prstGeom>
          <a:noFill/>
          <a:ln/>
        </p:spPr>
        <p:txBody>
          <a:bodyPr wrap="square" rtlCol="0" anchor="ctr"/>
          <a:lstStyle/>
          <a:p>
            <a:pPr>
              <a:lnSpc>
                <a:spcPts val="3500"/>
              </a:lnSpc>
            </a:pPr>
            <a:r>
              <a:rPr lang="en-US" sz="3300" b="1" dirty="0">
                <a:solidFill>
                  <a:srgbClr val="17A33E"/>
                </a:solidFill>
                <a:latin typeface="Plus Jakarta Sans" pitchFamily="34" charset="0"/>
                <a:ea typeface="Plus Jakarta Sans" pitchFamily="34" charset="-122"/>
                <a:cs typeface="Plus Jakarta Sans" pitchFamily="34" charset="-120"/>
              </a:rPr>
              <a:t>Research Motivation and Objectives</a:t>
            </a:r>
            <a:endParaRPr lang="en-US" sz="3300" dirty="0"/>
          </a:p>
        </p:txBody>
      </p:sp>
      <p:sp>
        <p:nvSpPr>
          <p:cNvPr id="4" name="Text 1">
            <a:extLst>
              <a:ext uri="{FF2B5EF4-FFF2-40B4-BE49-F238E27FC236}">
                <a16:creationId xmlns:a16="http://schemas.microsoft.com/office/drawing/2014/main" id="{DF7809A2-7B17-A1B1-CAF2-206C9E8369C8}"/>
              </a:ext>
            </a:extLst>
          </p:cNvPr>
          <p:cNvSpPr/>
          <p:nvPr/>
        </p:nvSpPr>
        <p:spPr>
          <a:xfrm>
            <a:off x="239486" y="509551"/>
            <a:ext cx="8730343" cy="4367249"/>
          </a:xfrm>
          <a:prstGeom prst="rect">
            <a:avLst/>
          </a:prstGeom>
          <a:noFill/>
          <a:ln/>
        </p:spPr>
        <p:txBody>
          <a:bodyPr wrap="square" rtlCol="0" anchor="t"/>
          <a:lstStyle/>
          <a:p>
            <a:pPr marL="342900" indent="-342900" algn="just">
              <a:lnSpc>
                <a:spcPts val="2000"/>
              </a:lnSpc>
              <a:spcAft>
                <a:spcPts val="1200"/>
              </a:spcAft>
              <a:buSzPct val="100000"/>
              <a:buFont typeface="Arial" panose="020B0604020202020204" pitchFamily="34" charset="0"/>
              <a:buChar char="•"/>
            </a:pPr>
            <a:endParaRPr lang="en-US" sz="1200" dirty="0">
              <a:solidFill>
                <a:srgbClr val="000000"/>
              </a:solidFill>
              <a:latin typeface="Plus Jakarta Sans Light" pitchFamily="34" charset="0"/>
              <a:ea typeface="Plus Jakarta Sans Light" pitchFamily="34" charset="-122"/>
              <a:cs typeface="Plus Jakarta Sans Light" pitchFamily="34" charset="-120"/>
            </a:endParaRPr>
          </a:p>
          <a:p>
            <a:pPr marL="342900" indent="-342900">
              <a:lnSpc>
                <a:spcPts val="2000"/>
              </a:lnSpc>
              <a:spcAft>
                <a:spcPts val="1200"/>
              </a:spcAft>
              <a:buSzPct val="100000"/>
              <a:buFont typeface="+mj-lt"/>
              <a:buAutoNum type="arabicPeriod"/>
            </a:pPr>
            <a:endParaRPr lang="en-US" sz="1200" dirty="0"/>
          </a:p>
          <a:p>
            <a:pPr marL="342900" indent="-342900">
              <a:lnSpc>
                <a:spcPts val="2000"/>
              </a:lnSpc>
              <a:spcAft>
                <a:spcPts val="1200"/>
              </a:spcAft>
              <a:buSzPct val="100000"/>
              <a:buFont typeface="+mj-lt"/>
              <a:buAutoNum type="arabicPeriod"/>
            </a:pPr>
            <a:endParaRPr lang="en-US" sz="1200" dirty="0"/>
          </a:p>
          <a:p>
            <a:pPr marL="342900" indent="-342900">
              <a:lnSpc>
                <a:spcPts val="2000"/>
              </a:lnSpc>
              <a:spcAft>
                <a:spcPts val="1200"/>
              </a:spcAft>
              <a:buSzPct val="100000"/>
              <a:buFont typeface="+mj-lt"/>
              <a:buAutoNum type="arabicPeriod"/>
            </a:pPr>
            <a:endParaRPr lang="en-US" sz="1200" dirty="0"/>
          </a:p>
        </p:txBody>
      </p:sp>
      <p:sp>
        <p:nvSpPr>
          <p:cNvPr id="5" name="Text 0">
            <a:extLst>
              <a:ext uri="{FF2B5EF4-FFF2-40B4-BE49-F238E27FC236}">
                <a16:creationId xmlns:a16="http://schemas.microsoft.com/office/drawing/2014/main" id="{2238F339-BE9C-908B-035A-BA4FE2BBB7D7}"/>
              </a:ext>
            </a:extLst>
          </p:cNvPr>
          <p:cNvSpPr/>
          <p:nvPr/>
        </p:nvSpPr>
        <p:spPr>
          <a:xfrm>
            <a:off x="253446" y="571984"/>
            <a:ext cx="1425831" cy="349781"/>
          </a:xfrm>
          <a:prstGeom prst="rect">
            <a:avLst/>
          </a:prstGeom>
          <a:noFill/>
          <a:ln/>
        </p:spPr>
        <p:txBody>
          <a:bodyPr wrap="square" rtlCol="0" anchor="ctr"/>
          <a:lstStyle/>
          <a:p>
            <a:pPr marL="0" indent="0">
              <a:lnSpc>
                <a:spcPts val="3500"/>
              </a:lnSpc>
              <a:buNone/>
            </a:pPr>
            <a:r>
              <a:rPr lang="en-US" sz="2000" b="1" dirty="0">
                <a:solidFill>
                  <a:srgbClr val="17A33E"/>
                </a:solidFill>
                <a:latin typeface="Plus Jakarta Sans" pitchFamily="34" charset="0"/>
                <a:ea typeface="Plus Jakarta Sans" pitchFamily="34" charset="-122"/>
              </a:rPr>
              <a:t>Objectives</a:t>
            </a:r>
            <a:endParaRPr lang="en-US" sz="2000" dirty="0"/>
          </a:p>
        </p:txBody>
      </p:sp>
      <p:sp>
        <p:nvSpPr>
          <p:cNvPr id="6" name="Text 1">
            <a:extLst>
              <a:ext uri="{FF2B5EF4-FFF2-40B4-BE49-F238E27FC236}">
                <a16:creationId xmlns:a16="http://schemas.microsoft.com/office/drawing/2014/main" id="{00C52E47-AD6F-E74E-3148-418C9B858BC2}"/>
              </a:ext>
            </a:extLst>
          </p:cNvPr>
          <p:cNvSpPr/>
          <p:nvPr/>
        </p:nvSpPr>
        <p:spPr>
          <a:xfrm>
            <a:off x="274122" y="982342"/>
            <a:ext cx="8695707" cy="3810304"/>
          </a:xfrm>
          <a:prstGeom prst="rect">
            <a:avLst/>
          </a:prstGeom>
          <a:noFill/>
          <a:ln/>
        </p:spPr>
        <p:txBody>
          <a:bodyPr wrap="square" rtlCol="0" anchor="t"/>
          <a:lstStyle/>
          <a:p>
            <a:pPr marL="228600" indent="-228600">
              <a:lnSpc>
                <a:spcPts val="2000"/>
              </a:lnSpc>
              <a:spcAft>
                <a:spcPts val="1200"/>
              </a:spcAft>
              <a:buSzPct val="100000"/>
              <a:buFont typeface="+mj-lt"/>
              <a:buAutoNum type="arabicPeriod"/>
            </a:pPr>
            <a:r>
              <a:rPr lang="en-IN" sz="1200" b="1" dirty="0"/>
              <a:t>Design smart contracts that</a:t>
            </a:r>
            <a:r>
              <a:rPr lang="en-IN" sz="1200" dirty="0"/>
              <a:t>:</a:t>
            </a:r>
          </a:p>
          <a:p>
            <a:pPr marL="628650" lvl="1" indent="-171450">
              <a:spcAft>
                <a:spcPts val="1200"/>
              </a:spcAft>
              <a:buSzPct val="100000"/>
              <a:buFont typeface="Arial" panose="020B0604020202020204" pitchFamily="34" charset="0"/>
              <a:buChar char="•"/>
            </a:pPr>
            <a:r>
              <a:rPr lang="en-IN" sz="1200" dirty="0"/>
              <a:t>Register model submissions on-chain, embedding cryptographic hashes for immutable provenance.</a:t>
            </a:r>
          </a:p>
          <a:p>
            <a:pPr marL="628650" lvl="1" indent="-171450">
              <a:spcAft>
                <a:spcPts val="1200"/>
              </a:spcAft>
              <a:buSzPct val="100000"/>
              <a:buFont typeface="Arial" panose="020B0604020202020204" pitchFamily="34" charset="0"/>
              <a:buChar char="•"/>
            </a:pPr>
            <a:r>
              <a:rPr lang="en-IN" sz="1200" dirty="0"/>
              <a:t>Automate performance triggers (e.g., AUC, F1 thresholds) via oracle-fed validation events.</a:t>
            </a:r>
          </a:p>
          <a:p>
            <a:pPr marL="628650" lvl="1" indent="-171450">
              <a:spcAft>
                <a:spcPts val="1200"/>
              </a:spcAft>
              <a:buSzPct val="100000"/>
              <a:buFont typeface="Arial" panose="020B0604020202020204" pitchFamily="34" charset="0"/>
              <a:buChar char="•"/>
            </a:pPr>
            <a:r>
              <a:rPr lang="en-IN" sz="1200" dirty="0"/>
              <a:t>Enforce role-based access (contributors, aggregator, end users).</a:t>
            </a:r>
          </a:p>
          <a:p>
            <a:pPr marL="228600" indent="-228600">
              <a:lnSpc>
                <a:spcPts val="2000"/>
              </a:lnSpc>
              <a:spcAft>
                <a:spcPts val="1200"/>
              </a:spcAft>
              <a:buSzPct val="100000"/>
              <a:buFont typeface="+mj-lt"/>
              <a:buAutoNum type="arabicPeriod"/>
            </a:pPr>
            <a:r>
              <a:rPr lang="en-US" sz="1200" b="1" dirty="0"/>
              <a:t>Integrate IPFS for off-chain storage of model weights and explainability artifacts, ensuring:</a:t>
            </a:r>
          </a:p>
          <a:p>
            <a:pPr marL="628650" lvl="1" indent="-171450">
              <a:lnSpc>
                <a:spcPts val="2000"/>
              </a:lnSpc>
              <a:spcAft>
                <a:spcPts val="1200"/>
              </a:spcAft>
              <a:buSzPct val="100000"/>
              <a:buFont typeface="Arial" panose="020B0604020202020204" pitchFamily="34" charset="0"/>
              <a:buChar char="•"/>
            </a:pPr>
            <a:r>
              <a:rPr lang="en-US" sz="1200" dirty="0"/>
              <a:t>Deterministic retrieval via content identifiers (CIDs) stored on-chain.</a:t>
            </a:r>
          </a:p>
          <a:p>
            <a:pPr marL="628650" lvl="1" indent="-171450">
              <a:lnSpc>
                <a:spcPts val="2000"/>
              </a:lnSpc>
              <a:spcAft>
                <a:spcPts val="1200"/>
              </a:spcAft>
              <a:buSzPct val="100000"/>
              <a:buFont typeface="Arial" panose="020B0604020202020204" pitchFamily="34" charset="0"/>
              <a:buChar char="•"/>
            </a:pPr>
            <a:r>
              <a:rPr lang="en-US" sz="1200" dirty="0"/>
              <a:t>Encryption-before-pinning and proxy re-encryption key management for HIPAA-compliant data confidentiality.</a:t>
            </a:r>
          </a:p>
          <a:p>
            <a:pPr marL="228600" indent="-228600">
              <a:lnSpc>
                <a:spcPts val="2000"/>
              </a:lnSpc>
              <a:spcAft>
                <a:spcPts val="1200"/>
              </a:spcAft>
              <a:buSzPct val="100000"/>
              <a:buFont typeface="+mj-lt"/>
              <a:buAutoNum type="arabicPeriod"/>
            </a:pPr>
            <a:r>
              <a:rPr lang="en-IN" sz="1200" b="1" dirty="0"/>
              <a:t>Implement multi-layer validation mechanisms encompassing:</a:t>
            </a:r>
          </a:p>
          <a:p>
            <a:pPr marL="628650" lvl="1" indent="-171450">
              <a:lnSpc>
                <a:spcPts val="2000"/>
              </a:lnSpc>
              <a:spcAft>
                <a:spcPts val="1200"/>
              </a:spcAft>
              <a:buSzPct val="100000"/>
              <a:buFont typeface="Arial" panose="020B0604020202020204" pitchFamily="34" charset="0"/>
              <a:buChar char="•"/>
            </a:pPr>
            <a:r>
              <a:rPr lang="en-US" sz="1200" dirty="0"/>
              <a:t>Cryptographic integrity checks (SHA-256 hash matching) between on-chain records and IPFS downloads.</a:t>
            </a:r>
          </a:p>
          <a:p>
            <a:pPr marL="628650" lvl="1" indent="-171450">
              <a:lnSpc>
                <a:spcPts val="2000"/>
              </a:lnSpc>
              <a:spcAft>
                <a:spcPts val="1200"/>
              </a:spcAft>
              <a:buSzPct val="100000"/>
              <a:buFont typeface="Arial" panose="020B0604020202020204" pitchFamily="34" charset="0"/>
              <a:buChar char="•"/>
            </a:pPr>
            <a:r>
              <a:rPr lang="en-US" sz="1200" dirty="0"/>
              <a:t>Performance verification on sealed test sets, recording metrics immutably on blockchain.</a:t>
            </a:r>
          </a:p>
          <a:p>
            <a:pPr>
              <a:lnSpc>
                <a:spcPts val="2000"/>
              </a:lnSpc>
              <a:spcAft>
                <a:spcPts val="1200"/>
              </a:spcAft>
              <a:buSzPct val="100000"/>
            </a:pPr>
            <a:endParaRPr lang="en-IN" sz="1200" b="1" dirty="0"/>
          </a:p>
          <a:p>
            <a:pPr marL="228600" indent="-228600">
              <a:lnSpc>
                <a:spcPts val="2000"/>
              </a:lnSpc>
              <a:spcAft>
                <a:spcPts val="1200"/>
              </a:spcAft>
              <a:buSzPct val="100000"/>
              <a:buFont typeface="+mj-lt"/>
              <a:buAutoNum type="arabicPeriod"/>
            </a:pPr>
            <a:r>
              <a:rPr lang="en-US" sz="1200" b="1" dirty="0"/>
              <a:t>Demonstrate a reference architecture that:</a:t>
            </a:r>
            <a:endParaRPr lang="en-IN" sz="1200" b="1" dirty="0"/>
          </a:p>
          <a:p>
            <a:pPr marL="228600" indent="-228600">
              <a:lnSpc>
                <a:spcPts val="2000"/>
              </a:lnSpc>
              <a:spcAft>
                <a:spcPts val="1200"/>
              </a:spcAft>
              <a:buSzPct val="100000"/>
              <a:buAutoNum type="arabicPeriod"/>
            </a:pPr>
            <a:endParaRPr lang="en-US" sz="1200" dirty="0"/>
          </a:p>
          <a:p>
            <a:pPr marL="685800" lvl="1" indent="-228600">
              <a:lnSpc>
                <a:spcPts val="2000"/>
              </a:lnSpc>
              <a:spcAft>
                <a:spcPts val="1200"/>
              </a:spcAft>
              <a:buSzPct val="100000"/>
              <a:buAutoNum type="arabicPeriod"/>
            </a:pPr>
            <a:endParaRPr lang="en-US" sz="1200" dirty="0"/>
          </a:p>
          <a:p>
            <a:pPr marL="171450" indent="-171450">
              <a:lnSpc>
                <a:spcPts val="2000"/>
              </a:lnSpc>
              <a:spcAft>
                <a:spcPts val="1200"/>
              </a:spcAft>
              <a:buSzPct val="100000"/>
              <a:buFont typeface="Arial" panose="020B0604020202020204" pitchFamily="34" charset="0"/>
              <a:buChar char="•"/>
            </a:pPr>
            <a:endParaRPr lang="en-US" sz="1200" dirty="0"/>
          </a:p>
          <a:p>
            <a:pPr marL="171450" indent="-171450">
              <a:lnSpc>
                <a:spcPts val="2000"/>
              </a:lnSpc>
              <a:spcAft>
                <a:spcPts val="1200"/>
              </a:spcAft>
              <a:buSzPct val="100000"/>
              <a:buFont typeface="Arial" panose="020B0604020202020204" pitchFamily="34" charset="0"/>
              <a:buChar char="•"/>
            </a:pPr>
            <a:endParaRPr lang="en-US" sz="1200" dirty="0"/>
          </a:p>
          <a:p>
            <a:pPr marL="342900" indent="-342900">
              <a:lnSpc>
                <a:spcPts val="2000"/>
              </a:lnSpc>
              <a:spcAft>
                <a:spcPts val="1200"/>
              </a:spcAft>
              <a:buSzPct val="100000"/>
              <a:buFont typeface="+mj-lt"/>
              <a:buAutoNum type="arabicPeriod"/>
            </a:pPr>
            <a:endParaRPr lang="en-US" sz="1200" dirty="0"/>
          </a:p>
        </p:txBody>
      </p:sp>
    </p:spTree>
    <p:extLst>
      <p:ext uri="{BB962C8B-B14F-4D97-AF65-F5344CB8AC3E}">
        <p14:creationId xmlns:p14="http://schemas.microsoft.com/office/powerpoint/2010/main" val="9097285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D75079-4954-5858-DDAF-B6C785409154}"/>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9DA2CEB5-465D-B1AA-0B0F-144B934808A2}"/>
              </a:ext>
            </a:extLst>
          </p:cNvPr>
          <p:cNvPicPr>
            <a:picLocks noChangeAspect="1"/>
          </p:cNvPicPr>
          <p:nvPr/>
        </p:nvPicPr>
        <p:blipFill>
          <a:blip r:embed="rId3"/>
          <a:stretch>
            <a:fillRect/>
          </a:stretch>
        </p:blipFill>
        <p:spPr>
          <a:xfrm>
            <a:off x="0" y="0"/>
            <a:ext cx="9144000" cy="5143500"/>
          </a:xfrm>
          <a:prstGeom prst="rect">
            <a:avLst/>
          </a:prstGeom>
        </p:spPr>
      </p:pic>
      <p:sp>
        <p:nvSpPr>
          <p:cNvPr id="3" name="Text 0">
            <a:extLst>
              <a:ext uri="{FF2B5EF4-FFF2-40B4-BE49-F238E27FC236}">
                <a16:creationId xmlns:a16="http://schemas.microsoft.com/office/drawing/2014/main" id="{D914417E-FD3F-4624-DB36-842D8521D4D8}"/>
              </a:ext>
            </a:extLst>
          </p:cNvPr>
          <p:cNvSpPr/>
          <p:nvPr/>
        </p:nvSpPr>
        <p:spPr>
          <a:xfrm>
            <a:off x="239486" y="0"/>
            <a:ext cx="8055428" cy="690699"/>
          </a:xfrm>
          <a:prstGeom prst="rect">
            <a:avLst/>
          </a:prstGeom>
          <a:noFill/>
          <a:ln/>
        </p:spPr>
        <p:txBody>
          <a:bodyPr wrap="square" rtlCol="0" anchor="ctr"/>
          <a:lstStyle/>
          <a:p>
            <a:pPr>
              <a:lnSpc>
                <a:spcPts val="3500"/>
              </a:lnSpc>
            </a:pPr>
            <a:r>
              <a:rPr lang="en-US" sz="3300" b="1" dirty="0">
                <a:solidFill>
                  <a:srgbClr val="17A33E"/>
                </a:solidFill>
                <a:latin typeface="Plus Jakarta Sans" pitchFamily="34" charset="0"/>
                <a:ea typeface="Plus Jakarta Sans" pitchFamily="34" charset="-122"/>
                <a:cs typeface="Plus Jakarta Sans" pitchFamily="34" charset="-120"/>
              </a:rPr>
              <a:t>Research Motivation and Objectives</a:t>
            </a:r>
            <a:endParaRPr lang="en-US" sz="3300" dirty="0"/>
          </a:p>
        </p:txBody>
      </p:sp>
      <p:sp>
        <p:nvSpPr>
          <p:cNvPr id="4" name="Text 1">
            <a:extLst>
              <a:ext uri="{FF2B5EF4-FFF2-40B4-BE49-F238E27FC236}">
                <a16:creationId xmlns:a16="http://schemas.microsoft.com/office/drawing/2014/main" id="{F9FB2030-FF89-2570-1AB0-D86518ED2CBA}"/>
              </a:ext>
            </a:extLst>
          </p:cNvPr>
          <p:cNvSpPr/>
          <p:nvPr/>
        </p:nvSpPr>
        <p:spPr>
          <a:xfrm>
            <a:off x="239486" y="509551"/>
            <a:ext cx="8730343" cy="4367249"/>
          </a:xfrm>
          <a:prstGeom prst="rect">
            <a:avLst/>
          </a:prstGeom>
          <a:noFill/>
          <a:ln/>
        </p:spPr>
        <p:txBody>
          <a:bodyPr wrap="square" rtlCol="0" anchor="t"/>
          <a:lstStyle/>
          <a:p>
            <a:pPr marL="342900" indent="-342900" algn="just">
              <a:lnSpc>
                <a:spcPts val="2000"/>
              </a:lnSpc>
              <a:spcAft>
                <a:spcPts val="1200"/>
              </a:spcAft>
              <a:buSzPct val="100000"/>
              <a:buFont typeface="Arial" panose="020B0604020202020204" pitchFamily="34" charset="0"/>
              <a:buChar char="•"/>
            </a:pPr>
            <a:endParaRPr lang="en-US" sz="1200" dirty="0">
              <a:solidFill>
                <a:srgbClr val="000000"/>
              </a:solidFill>
              <a:latin typeface="Plus Jakarta Sans Light" pitchFamily="34" charset="0"/>
              <a:ea typeface="Plus Jakarta Sans Light" pitchFamily="34" charset="-122"/>
              <a:cs typeface="Plus Jakarta Sans Light" pitchFamily="34" charset="-120"/>
            </a:endParaRPr>
          </a:p>
          <a:p>
            <a:pPr marL="342900" indent="-342900">
              <a:lnSpc>
                <a:spcPts val="2000"/>
              </a:lnSpc>
              <a:spcAft>
                <a:spcPts val="1200"/>
              </a:spcAft>
              <a:buSzPct val="100000"/>
              <a:buFont typeface="+mj-lt"/>
              <a:buAutoNum type="arabicPeriod"/>
            </a:pPr>
            <a:endParaRPr lang="en-US" sz="1200" dirty="0"/>
          </a:p>
          <a:p>
            <a:pPr marL="342900" indent="-342900">
              <a:lnSpc>
                <a:spcPts val="2000"/>
              </a:lnSpc>
              <a:spcAft>
                <a:spcPts val="1200"/>
              </a:spcAft>
              <a:buSzPct val="100000"/>
              <a:buFont typeface="+mj-lt"/>
              <a:buAutoNum type="arabicPeriod"/>
            </a:pPr>
            <a:endParaRPr lang="en-US" sz="1200" dirty="0"/>
          </a:p>
          <a:p>
            <a:pPr marL="342900" indent="-342900">
              <a:lnSpc>
                <a:spcPts val="2000"/>
              </a:lnSpc>
              <a:spcAft>
                <a:spcPts val="1200"/>
              </a:spcAft>
              <a:buSzPct val="100000"/>
              <a:buFont typeface="+mj-lt"/>
              <a:buAutoNum type="arabicPeriod"/>
            </a:pPr>
            <a:endParaRPr lang="en-US" sz="1200" dirty="0"/>
          </a:p>
        </p:txBody>
      </p:sp>
      <p:sp>
        <p:nvSpPr>
          <p:cNvPr id="5" name="Text 0">
            <a:extLst>
              <a:ext uri="{FF2B5EF4-FFF2-40B4-BE49-F238E27FC236}">
                <a16:creationId xmlns:a16="http://schemas.microsoft.com/office/drawing/2014/main" id="{7817F3A2-9C70-A29B-6787-A9CB3E142651}"/>
              </a:ext>
            </a:extLst>
          </p:cNvPr>
          <p:cNvSpPr/>
          <p:nvPr/>
        </p:nvSpPr>
        <p:spPr>
          <a:xfrm>
            <a:off x="253446" y="571984"/>
            <a:ext cx="1425831" cy="349781"/>
          </a:xfrm>
          <a:prstGeom prst="rect">
            <a:avLst/>
          </a:prstGeom>
          <a:noFill/>
          <a:ln/>
        </p:spPr>
        <p:txBody>
          <a:bodyPr wrap="square" rtlCol="0" anchor="ctr"/>
          <a:lstStyle/>
          <a:p>
            <a:pPr marL="0" indent="0">
              <a:lnSpc>
                <a:spcPts val="3500"/>
              </a:lnSpc>
              <a:buNone/>
            </a:pPr>
            <a:r>
              <a:rPr lang="en-US" sz="2000" b="1" dirty="0">
                <a:solidFill>
                  <a:srgbClr val="17A33E"/>
                </a:solidFill>
                <a:latin typeface="Plus Jakarta Sans" pitchFamily="34" charset="0"/>
                <a:ea typeface="Plus Jakarta Sans" pitchFamily="34" charset="-122"/>
              </a:rPr>
              <a:t>Objectives</a:t>
            </a:r>
            <a:endParaRPr lang="en-US" sz="2000" dirty="0"/>
          </a:p>
        </p:txBody>
      </p:sp>
      <p:sp>
        <p:nvSpPr>
          <p:cNvPr id="6" name="Text 1">
            <a:extLst>
              <a:ext uri="{FF2B5EF4-FFF2-40B4-BE49-F238E27FC236}">
                <a16:creationId xmlns:a16="http://schemas.microsoft.com/office/drawing/2014/main" id="{26C074F4-6F6C-E272-17DF-FAA7073A2788}"/>
              </a:ext>
            </a:extLst>
          </p:cNvPr>
          <p:cNvSpPr/>
          <p:nvPr/>
        </p:nvSpPr>
        <p:spPr>
          <a:xfrm>
            <a:off x="274122" y="982342"/>
            <a:ext cx="8695707" cy="3810304"/>
          </a:xfrm>
          <a:prstGeom prst="rect">
            <a:avLst/>
          </a:prstGeom>
          <a:noFill/>
          <a:ln/>
        </p:spPr>
        <p:txBody>
          <a:bodyPr wrap="square" rtlCol="0" anchor="t"/>
          <a:lstStyle/>
          <a:p>
            <a:pPr>
              <a:lnSpc>
                <a:spcPts val="2000"/>
              </a:lnSpc>
              <a:spcAft>
                <a:spcPts val="1200"/>
              </a:spcAft>
              <a:buSzPct val="100000"/>
            </a:pPr>
            <a:r>
              <a:rPr lang="en-US" sz="1200" b="1" dirty="0"/>
              <a:t>4. Demonstrate a reference architecture that</a:t>
            </a:r>
            <a:r>
              <a:rPr lang="en-IN" sz="1200" dirty="0"/>
              <a:t>:</a:t>
            </a:r>
          </a:p>
          <a:p>
            <a:pPr marL="628650" lvl="1" indent="-171450">
              <a:spcAft>
                <a:spcPts val="1200"/>
              </a:spcAft>
              <a:buSzPct val="100000"/>
              <a:buFont typeface="Arial" panose="020B0604020202020204" pitchFamily="34" charset="0"/>
              <a:buChar char="•"/>
            </a:pPr>
            <a:r>
              <a:rPr lang="en-US" sz="1200" dirty="0"/>
              <a:t>Tracks model workflow end-to-end (training → upload → verify → aggregate → deploy).</a:t>
            </a:r>
          </a:p>
          <a:p>
            <a:pPr marL="628650" lvl="1" indent="-171450">
              <a:spcAft>
                <a:spcPts val="1200"/>
              </a:spcAft>
              <a:buSzPct val="100000"/>
              <a:buFont typeface="Arial" panose="020B0604020202020204" pitchFamily="34" charset="0"/>
              <a:buChar char="•"/>
            </a:pPr>
            <a:r>
              <a:rPr lang="en-US" sz="1200" dirty="0"/>
              <a:t>Provides audit-ready logs for regulatory and clinical governance.</a:t>
            </a:r>
          </a:p>
          <a:p>
            <a:pPr marL="628650" lvl="1" indent="-171450">
              <a:spcAft>
                <a:spcPts val="1200"/>
              </a:spcAft>
              <a:buSzPct val="100000"/>
              <a:buFont typeface="Arial" panose="020B0604020202020204" pitchFamily="34" charset="0"/>
              <a:buChar char="•"/>
            </a:pPr>
            <a:r>
              <a:rPr lang="en-US" sz="1200" dirty="0"/>
              <a:t>Ensures scalability through a hybrid on-chain/off-chain design without sacrificing throughput.</a:t>
            </a:r>
          </a:p>
          <a:p>
            <a:pPr marL="628650" lvl="1" indent="-171450">
              <a:spcAft>
                <a:spcPts val="1200"/>
              </a:spcAft>
              <a:buSzPct val="100000"/>
              <a:buFont typeface="Arial" panose="020B0604020202020204" pitchFamily="34" charset="0"/>
              <a:buChar char="•"/>
            </a:pPr>
            <a:endParaRPr lang="en-IN" sz="1200" dirty="0"/>
          </a:p>
          <a:p>
            <a:pPr marL="628650" lvl="1" indent="-171450">
              <a:spcAft>
                <a:spcPts val="1200"/>
              </a:spcAft>
              <a:buSzPct val="100000"/>
              <a:buFont typeface="Arial" panose="020B0604020202020204" pitchFamily="34" charset="0"/>
              <a:buChar char="•"/>
            </a:pPr>
            <a:endParaRPr lang="en-US" sz="1200" dirty="0"/>
          </a:p>
          <a:p>
            <a:pPr marL="685800" lvl="1" indent="-228600">
              <a:lnSpc>
                <a:spcPts val="2000"/>
              </a:lnSpc>
              <a:spcAft>
                <a:spcPts val="1200"/>
              </a:spcAft>
              <a:buSzPct val="100000"/>
              <a:buAutoNum type="arabicPeriod"/>
            </a:pPr>
            <a:endParaRPr lang="en-US" sz="1200" dirty="0"/>
          </a:p>
          <a:p>
            <a:pPr marL="171450" indent="-171450">
              <a:lnSpc>
                <a:spcPts val="2000"/>
              </a:lnSpc>
              <a:spcAft>
                <a:spcPts val="1200"/>
              </a:spcAft>
              <a:buSzPct val="100000"/>
              <a:buFont typeface="Arial" panose="020B0604020202020204" pitchFamily="34" charset="0"/>
              <a:buChar char="•"/>
            </a:pPr>
            <a:endParaRPr lang="en-US" sz="1200" dirty="0"/>
          </a:p>
          <a:p>
            <a:pPr marL="171450" indent="-171450">
              <a:lnSpc>
                <a:spcPts val="2000"/>
              </a:lnSpc>
              <a:spcAft>
                <a:spcPts val="1200"/>
              </a:spcAft>
              <a:buSzPct val="100000"/>
              <a:buFont typeface="Arial" panose="020B0604020202020204" pitchFamily="34" charset="0"/>
              <a:buChar char="•"/>
            </a:pPr>
            <a:endParaRPr lang="en-US" sz="1200" dirty="0"/>
          </a:p>
          <a:p>
            <a:pPr marL="342900" indent="-342900">
              <a:lnSpc>
                <a:spcPts val="2000"/>
              </a:lnSpc>
              <a:spcAft>
                <a:spcPts val="1200"/>
              </a:spcAft>
              <a:buSzPct val="100000"/>
              <a:buFont typeface="+mj-lt"/>
              <a:buAutoNum type="arabicPeriod"/>
            </a:pPr>
            <a:endParaRPr lang="en-US" sz="1200" dirty="0"/>
          </a:p>
        </p:txBody>
      </p:sp>
    </p:spTree>
    <p:extLst>
      <p:ext uri="{BB962C8B-B14F-4D97-AF65-F5344CB8AC3E}">
        <p14:creationId xmlns:p14="http://schemas.microsoft.com/office/powerpoint/2010/main" val="26288893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822C09-F44D-93E7-E2B6-6B77703E7851}"/>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E3256F29-483A-99C6-E1C4-D3F909D713D7}"/>
              </a:ext>
            </a:extLst>
          </p:cNvPr>
          <p:cNvPicPr>
            <a:picLocks noChangeAspect="1"/>
          </p:cNvPicPr>
          <p:nvPr/>
        </p:nvPicPr>
        <p:blipFill>
          <a:blip r:embed="rId3"/>
          <a:stretch>
            <a:fillRect/>
          </a:stretch>
        </p:blipFill>
        <p:spPr>
          <a:xfrm>
            <a:off x="0" y="0"/>
            <a:ext cx="9144000" cy="5143500"/>
          </a:xfrm>
          <a:prstGeom prst="rect">
            <a:avLst/>
          </a:prstGeom>
        </p:spPr>
      </p:pic>
      <p:sp>
        <p:nvSpPr>
          <p:cNvPr id="8" name="Text 0">
            <a:extLst>
              <a:ext uri="{FF2B5EF4-FFF2-40B4-BE49-F238E27FC236}">
                <a16:creationId xmlns:a16="http://schemas.microsoft.com/office/drawing/2014/main" id="{E5581C10-066C-762E-F79B-A3344F58EC4F}"/>
              </a:ext>
            </a:extLst>
          </p:cNvPr>
          <p:cNvSpPr/>
          <p:nvPr/>
        </p:nvSpPr>
        <p:spPr>
          <a:xfrm>
            <a:off x="124097" y="162997"/>
            <a:ext cx="8229600" cy="401468"/>
          </a:xfrm>
          <a:prstGeom prst="rect">
            <a:avLst/>
          </a:prstGeom>
          <a:noFill/>
          <a:ln/>
        </p:spPr>
        <p:txBody>
          <a:bodyPr wrap="square" rtlCol="0" anchor="ctr"/>
          <a:lstStyle/>
          <a:p>
            <a:pPr marL="0" indent="0">
              <a:lnSpc>
                <a:spcPts val="3500"/>
              </a:lnSpc>
              <a:buNone/>
            </a:pPr>
            <a:r>
              <a:rPr lang="en-US" sz="2000" b="1" dirty="0">
                <a:solidFill>
                  <a:srgbClr val="17A33E"/>
                </a:solidFill>
                <a:latin typeface="Plus Jakarta Sans" pitchFamily="34" charset="0"/>
                <a:ea typeface="Plus Jakarta Sans" pitchFamily="34" charset="-122"/>
              </a:rPr>
              <a:t>Covered Objectives</a:t>
            </a:r>
            <a:endParaRPr lang="en-US" sz="2000" dirty="0"/>
          </a:p>
        </p:txBody>
      </p:sp>
      <p:sp>
        <p:nvSpPr>
          <p:cNvPr id="9" name="Text 1">
            <a:extLst>
              <a:ext uri="{FF2B5EF4-FFF2-40B4-BE49-F238E27FC236}">
                <a16:creationId xmlns:a16="http://schemas.microsoft.com/office/drawing/2014/main" id="{C08E651D-0073-DE04-37F7-DEFA9614096F}"/>
              </a:ext>
            </a:extLst>
          </p:cNvPr>
          <p:cNvSpPr/>
          <p:nvPr/>
        </p:nvSpPr>
        <p:spPr>
          <a:xfrm>
            <a:off x="65314" y="703866"/>
            <a:ext cx="8695707" cy="4023390"/>
          </a:xfrm>
          <a:prstGeom prst="rect">
            <a:avLst/>
          </a:prstGeom>
          <a:noFill/>
          <a:ln/>
        </p:spPr>
        <p:txBody>
          <a:bodyPr wrap="square" rtlCol="0" anchor="t"/>
          <a:lstStyle/>
          <a:p>
            <a:pPr marL="228600" indent="-228600">
              <a:lnSpc>
                <a:spcPts val="2000"/>
              </a:lnSpc>
              <a:spcAft>
                <a:spcPts val="1200"/>
              </a:spcAft>
              <a:buSzPct val="100000"/>
              <a:buAutoNum type="arabicPeriod"/>
            </a:pPr>
            <a:r>
              <a:rPr lang="en-US" sz="1200" b="1" dirty="0"/>
              <a:t>Decentralized Control &amp; Audit of Model Operations</a:t>
            </a:r>
            <a:r>
              <a:rPr lang="en-US" sz="1200" dirty="0"/>
              <a:t>: Design a permissioned blockchain to replace the centralized server, allowing edge nodes to publish encrypted model updates as transactions that are verified and ordered by consensus.</a:t>
            </a:r>
          </a:p>
          <a:p>
            <a:pPr lvl="1">
              <a:spcAft>
                <a:spcPts val="1200"/>
              </a:spcAft>
              <a:buSzPct val="100000"/>
            </a:pPr>
            <a:r>
              <a:rPr lang="en-IN" sz="1200" dirty="0"/>
              <a:t>✅ Smart Contract Model Registry: </a:t>
            </a:r>
            <a:r>
              <a:rPr lang="en-US" sz="800" i="1" dirty="0"/>
              <a:t>The contract maintains on-chain records for model uploads, including storing the uploader's address, model identifiers, and IPFS hashes. This </a:t>
            </a:r>
          </a:p>
          <a:p>
            <a:pPr lvl="1">
              <a:spcAft>
                <a:spcPts val="1200"/>
              </a:spcAft>
              <a:buSzPct val="100000"/>
            </a:pPr>
            <a:r>
              <a:rPr lang="en-US" sz="800" i="1" dirty="0"/>
              <a:t>                                                                                                   provides traceability, integrity, and auditability of each model version.</a:t>
            </a:r>
            <a:endParaRPr lang="en-IN" sz="800" i="1" dirty="0"/>
          </a:p>
          <a:p>
            <a:pPr lvl="1">
              <a:lnSpc>
                <a:spcPts val="2000"/>
              </a:lnSpc>
              <a:spcAft>
                <a:spcPts val="1200"/>
              </a:spcAft>
              <a:buSzPct val="100000"/>
            </a:pPr>
            <a:r>
              <a:rPr lang="en-IN" sz="1200" dirty="0"/>
              <a:t>✅ Vendor (Participant) Whitelisting: </a:t>
            </a:r>
            <a:r>
              <a:rPr lang="en-US" sz="800" i="1" dirty="0"/>
              <a:t>Only whitelisted addresses can use certain contract functions, enforcing role-based access and some governance.</a:t>
            </a:r>
            <a:endParaRPr lang="en-IN" sz="1200" dirty="0"/>
          </a:p>
          <a:p>
            <a:pPr lvl="1">
              <a:lnSpc>
                <a:spcPts val="2000"/>
              </a:lnSpc>
              <a:spcAft>
                <a:spcPts val="1200"/>
              </a:spcAft>
              <a:buSzPct val="100000"/>
            </a:pPr>
            <a:r>
              <a:rPr lang="en-IN" sz="1200" dirty="0"/>
              <a:t>✅ No centralized Federated Learning Server: </a:t>
            </a:r>
            <a:r>
              <a:rPr lang="en-US" sz="800" i="1" dirty="0"/>
              <a:t>While not a full decentralized federated learning controller, on-chain storage of model metadata replaces traditional</a:t>
            </a:r>
          </a:p>
          <a:p>
            <a:pPr lvl="1">
              <a:lnSpc>
                <a:spcPts val="2000"/>
              </a:lnSpc>
              <a:spcAft>
                <a:spcPts val="1200"/>
              </a:spcAft>
              <a:buSzPct val="100000"/>
            </a:pPr>
            <a:r>
              <a:rPr lang="en-US" sz="800" i="1" dirty="0"/>
              <a:t>`			                           centralized registries in FL.</a:t>
            </a:r>
          </a:p>
          <a:p>
            <a:pPr marL="228600" indent="-228600">
              <a:lnSpc>
                <a:spcPts val="2000"/>
              </a:lnSpc>
              <a:spcAft>
                <a:spcPts val="1200"/>
              </a:spcAft>
              <a:buSzPct val="100000"/>
              <a:buAutoNum type="arabicPeriod"/>
            </a:pPr>
            <a:r>
              <a:rPr lang="en-US" sz="1200" b="1" dirty="0"/>
              <a:t>Secure Aggregation and Privacy</a:t>
            </a:r>
            <a:r>
              <a:rPr lang="en-US" sz="1200" dirty="0"/>
              <a:t>:</a:t>
            </a:r>
          </a:p>
          <a:p>
            <a:pPr>
              <a:spcAft>
                <a:spcPts val="1200"/>
              </a:spcAft>
              <a:buSzPct val="100000"/>
            </a:pPr>
            <a:r>
              <a:rPr lang="en-IN" sz="1200" dirty="0"/>
              <a:t>           ✅ </a:t>
            </a:r>
            <a:r>
              <a:rPr lang="en-US" sz="1200" dirty="0"/>
              <a:t>No On-chain Data/Update Aggregation: </a:t>
            </a:r>
            <a:r>
              <a:rPr lang="en-US" sz="800" i="1" dirty="0"/>
              <a:t>The smart contract stores model hashes and metadata, but does not aggregate FL updates on-chain nor enforce secure  </a:t>
            </a:r>
          </a:p>
          <a:p>
            <a:pPr>
              <a:spcAft>
                <a:spcPts val="1200"/>
              </a:spcAft>
              <a:buSzPct val="100000"/>
            </a:pPr>
            <a:r>
              <a:rPr lang="en-US" sz="800" i="1" dirty="0"/>
              <a:t>                                                                                                                                          aggregation protocols (e.g., homomorphic encryption, secure enclaves, or additive masking).</a:t>
            </a:r>
            <a:endParaRPr lang="en-US" sz="1200" dirty="0"/>
          </a:p>
          <a:p>
            <a:pPr>
              <a:lnSpc>
                <a:spcPts val="2000"/>
              </a:lnSpc>
              <a:spcAft>
                <a:spcPts val="1200"/>
              </a:spcAft>
              <a:buSzPct val="100000"/>
            </a:pPr>
            <a:r>
              <a:rPr lang="en-IN" sz="1200" dirty="0"/>
              <a:t>           ✅ </a:t>
            </a:r>
            <a:r>
              <a:rPr lang="en-US" sz="1200" dirty="0"/>
              <a:t>Data Privacy: </a:t>
            </a:r>
            <a:r>
              <a:rPr lang="en-US" sz="800" i="1" dirty="0"/>
              <a:t>No raw data or gradients are ever uploaded; the only reference on-chain is the IPFS hash of trained model binaries or snapshots.</a:t>
            </a:r>
            <a:endParaRPr lang="en-US" sz="1200" dirty="0"/>
          </a:p>
          <a:p>
            <a:pPr>
              <a:lnSpc>
                <a:spcPts val="2000"/>
              </a:lnSpc>
              <a:spcAft>
                <a:spcPts val="1200"/>
              </a:spcAft>
              <a:buSzPct val="100000"/>
            </a:pPr>
            <a:r>
              <a:rPr lang="en-IN" sz="1200" dirty="0"/>
              <a:t>           ✅ </a:t>
            </a:r>
            <a:r>
              <a:rPr lang="en-US" sz="1200" dirty="0"/>
              <a:t>Integrity: </a:t>
            </a:r>
            <a:r>
              <a:rPr lang="en-US" sz="800" i="1" dirty="0"/>
              <a:t>The blockchain ensures that each model upload or update can be immutably traced to the uploader.</a:t>
            </a:r>
          </a:p>
          <a:p>
            <a:pPr>
              <a:lnSpc>
                <a:spcPts val="2000"/>
              </a:lnSpc>
              <a:spcAft>
                <a:spcPts val="1200"/>
              </a:spcAft>
              <a:buSzPct val="100000"/>
            </a:pPr>
            <a:endParaRPr lang="en-US" sz="1200" dirty="0"/>
          </a:p>
          <a:p>
            <a:pPr>
              <a:lnSpc>
                <a:spcPts val="2000"/>
              </a:lnSpc>
              <a:spcAft>
                <a:spcPts val="1200"/>
              </a:spcAft>
              <a:buSzPct val="100000"/>
            </a:pPr>
            <a:endParaRPr lang="en-IN" sz="1200" dirty="0"/>
          </a:p>
          <a:p>
            <a:pPr marL="228600" indent="-228600">
              <a:lnSpc>
                <a:spcPts val="2000"/>
              </a:lnSpc>
              <a:spcAft>
                <a:spcPts val="1200"/>
              </a:spcAft>
              <a:buSzPct val="100000"/>
              <a:buAutoNum type="arabicPeriod"/>
            </a:pPr>
            <a:endParaRPr lang="en-US" sz="1200" dirty="0"/>
          </a:p>
          <a:p>
            <a:pPr marL="685800" lvl="1" indent="-228600">
              <a:lnSpc>
                <a:spcPts val="2000"/>
              </a:lnSpc>
              <a:spcAft>
                <a:spcPts val="1200"/>
              </a:spcAft>
              <a:buSzPct val="100000"/>
              <a:buAutoNum type="arabicPeriod"/>
            </a:pPr>
            <a:endParaRPr lang="en-US" sz="1200" dirty="0"/>
          </a:p>
          <a:p>
            <a:pPr marL="171450" indent="-171450">
              <a:lnSpc>
                <a:spcPts val="2000"/>
              </a:lnSpc>
              <a:spcAft>
                <a:spcPts val="1200"/>
              </a:spcAft>
              <a:buSzPct val="100000"/>
              <a:buFont typeface="Arial" panose="020B0604020202020204" pitchFamily="34" charset="0"/>
              <a:buChar char="•"/>
            </a:pPr>
            <a:endParaRPr lang="en-US" sz="1200" dirty="0"/>
          </a:p>
          <a:p>
            <a:pPr marL="171450" indent="-171450">
              <a:lnSpc>
                <a:spcPts val="2000"/>
              </a:lnSpc>
              <a:spcAft>
                <a:spcPts val="1200"/>
              </a:spcAft>
              <a:buSzPct val="100000"/>
              <a:buFont typeface="Arial" panose="020B0604020202020204" pitchFamily="34" charset="0"/>
              <a:buChar char="•"/>
            </a:pPr>
            <a:endParaRPr lang="en-US" sz="1200" dirty="0"/>
          </a:p>
          <a:p>
            <a:pPr marL="342900" indent="-342900">
              <a:lnSpc>
                <a:spcPts val="2000"/>
              </a:lnSpc>
              <a:spcAft>
                <a:spcPts val="1200"/>
              </a:spcAft>
              <a:buSzPct val="100000"/>
              <a:buFont typeface="+mj-lt"/>
              <a:buAutoNum type="arabicPeriod"/>
            </a:pPr>
            <a:endParaRPr lang="en-US" sz="1200" dirty="0"/>
          </a:p>
        </p:txBody>
      </p:sp>
    </p:spTree>
    <p:extLst>
      <p:ext uri="{BB962C8B-B14F-4D97-AF65-F5344CB8AC3E}">
        <p14:creationId xmlns:p14="http://schemas.microsoft.com/office/powerpoint/2010/main" val="11182843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6948FD-9171-C52C-BFDC-48986D927F6C}"/>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B6E34634-71AC-1012-1903-DAC16A8170CB}"/>
              </a:ext>
            </a:extLst>
          </p:cNvPr>
          <p:cNvPicPr>
            <a:picLocks noChangeAspect="1"/>
          </p:cNvPicPr>
          <p:nvPr/>
        </p:nvPicPr>
        <p:blipFill>
          <a:blip r:embed="rId3"/>
          <a:stretch>
            <a:fillRect/>
          </a:stretch>
        </p:blipFill>
        <p:spPr>
          <a:xfrm>
            <a:off x="0" y="8819"/>
            <a:ext cx="9144000" cy="5143500"/>
          </a:xfrm>
          <a:prstGeom prst="rect">
            <a:avLst/>
          </a:prstGeom>
        </p:spPr>
      </p:pic>
      <p:sp>
        <p:nvSpPr>
          <p:cNvPr id="8" name="Text 0">
            <a:extLst>
              <a:ext uri="{FF2B5EF4-FFF2-40B4-BE49-F238E27FC236}">
                <a16:creationId xmlns:a16="http://schemas.microsoft.com/office/drawing/2014/main" id="{DD2EA6D6-6022-AEF4-ABF1-7A3A4F0EB619}"/>
              </a:ext>
            </a:extLst>
          </p:cNvPr>
          <p:cNvSpPr/>
          <p:nvPr/>
        </p:nvSpPr>
        <p:spPr>
          <a:xfrm>
            <a:off x="0" y="167406"/>
            <a:ext cx="8229600" cy="401468"/>
          </a:xfrm>
          <a:prstGeom prst="rect">
            <a:avLst/>
          </a:prstGeom>
          <a:noFill/>
          <a:ln/>
        </p:spPr>
        <p:txBody>
          <a:bodyPr wrap="square" rtlCol="0" anchor="ctr"/>
          <a:lstStyle/>
          <a:p>
            <a:pPr marL="0" indent="0">
              <a:lnSpc>
                <a:spcPts val="3500"/>
              </a:lnSpc>
              <a:buNone/>
            </a:pPr>
            <a:r>
              <a:rPr lang="en-US" sz="2400" b="1" dirty="0">
                <a:solidFill>
                  <a:srgbClr val="17A33E"/>
                </a:solidFill>
                <a:latin typeface="Plus Jakarta Sans" pitchFamily="34" charset="0"/>
                <a:ea typeface="Plus Jakarta Sans" pitchFamily="34" charset="-122"/>
              </a:rPr>
              <a:t>Covered Objectives Contd..</a:t>
            </a:r>
            <a:endParaRPr lang="en-US" sz="2400" dirty="0"/>
          </a:p>
        </p:txBody>
      </p:sp>
      <p:sp>
        <p:nvSpPr>
          <p:cNvPr id="9" name="Text 1">
            <a:extLst>
              <a:ext uri="{FF2B5EF4-FFF2-40B4-BE49-F238E27FC236}">
                <a16:creationId xmlns:a16="http://schemas.microsoft.com/office/drawing/2014/main" id="{45A0BA52-3041-5CAF-2957-E7F169A2A511}"/>
              </a:ext>
            </a:extLst>
          </p:cNvPr>
          <p:cNvSpPr/>
          <p:nvPr/>
        </p:nvSpPr>
        <p:spPr>
          <a:xfrm>
            <a:off x="0" y="592334"/>
            <a:ext cx="8695707" cy="4023390"/>
          </a:xfrm>
          <a:prstGeom prst="rect">
            <a:avLst/>
          </a:prstGeom>
          <a:noFill/>
          <a:ln/>
        </p:spPr>
        <p:txBody>
          <a:bodyPr wrap="square" rtlCol="0" anchor="t"/>
          <a:lstStyle/>
          <a:p>
            <a:pPr>
              <a:lnSpc>
                <a:spcPts val="2000"/>
              </a:lnSpc>
              <a:spcAft>
                <a:spcPts val="1200"/>
              </a:spcAft>
              <a:buSzPct val="100000"/>
            </a:pPr>
            <a:r>
              <a:rPr lang="en-US" sz="1200" b="1" dirty="0"/>
              <a:t>3. Confidentiality, Integrity, Traceability</a:t>
            </a:r>
            <a:r>
              <a:rPr lang="en-US" sz="1200" dirty="0"/>
              <a:t>: </a:t>
            </a:r>
          </a:p>
          <a:p>
            <a:pPr>
              <a:lnSpc>
                <a:spcPts val="2000"/>
              </a:lnSpc>
              <a:spcAft>
                <a:spcPts val="1200"/>
              </a:spcAft>
              <a:buSzPct val="100000"/>
            </a:pPr>
            <a:r>
              <a:rPr lang="en-US" sz="1200" dirty="0"/>
              <a:t>             </a:t>
            </a:r>
            <a:r>
              <a:rPr lang="en-IN" sz="1200" dirty="0"/>
              <a:t>✅ Confidentiality: </a:t>
            </a:r>
            <a:r>
              <a:rPr lang="en-US" sz="800" i="1" dirty="0"/>
              <a:t>Direct model contents are stored on IPFS, not the blockchain itself. Patient data never leaves hospital boundaries, aligning with privacy requirements.</a:t>
            </a:r>
            <a:endParaRPr lang="en-IN" sz="800" i="1" dirty="0"/>
          </a:p>
          <a:p>
            <a:pPr lvl="1">
              <a:lnSpc>
                <a:spcPts val="2000"/>
              </a:lnSpc>
              <a:spcAft>
                <a:spcPts val="1200"/>
              </a:spcAft>
              <a:buSzPct val="100000"/>
            </a:pPr>
            <a:r>
              <a:rPr lang="en-IN" sz="1200" dirty="0"/>
              <a:t>✅ Integrity &amp; Traceability: </a:t>
            </a:r>
            <a:r>
              <a:rPr lang="en-US" sz="800" i="1" dirty="0"/>
              <a:t>Every transaction (upload, whitelist, role assignment) is permanently logged, so model provenance is always auditable to participants.</a:t>
            </a:r>
            <a:endParaRPr lang="en-IN" sz="800" i="1" dirty="0"/>
          </a:p>
          <a:p>
            <a:pPr>
              <a:lnSpc>
                <a:spcPts val="2000"/>
              </a:lnSpc>
              <a:spcAft>
                <a:spcPts val="1200"/>
              </a:spcAft>
              <a:buSzPct val="100000"/>
            </a:pPr>
            <a:r>
              <a:rPr lang="en-US" sz="1200" b="1" dirty="0"/>
              <a:t>4. Governance Mechanisms</a:t>
            </a:r>
            <a:r>
              <a:rPr lang="en-US" sz="1200" dirty="0"/>
              <a:t>:</a:t>
            </a:r>
          </a:p>
          <a:p>
            <a:pPr>
              <a:lnSpc>
                <a:spcPts val="2000"/>
              </a:lnSpc>
              <a:spcAft>
                <a:spcPts val="1200"/>
              </a:spcAft>
              <a:buSzPct val="100000"/>
            </a:pPr>
            <a:r>
              <a:rPr lang="en-IN" sz="1200" dirty="0"/>
              <a:t>           ✅ </a:t>
            </a:r>
            <a:r>
              <a:rPr lang="en-US" sz="1200" dirty="0"/>
              <a:t>Whitelisting/Vendor Governance : </a:t>
            </a:r>
            <a:r>
              <a:rPr lang="en-US" sz="800" i="1" dirty="0"/>
              <a:t>Administrators can whitelist or remove vendors on-chain, but there are no </a:t>
            </a:r>
            <a:r>
              <a:rPr lang="en-US" sz="800" i="1" dirty="0" err="1"/>
              <a:t>tokenomics</a:t>
            </a:r>
            <a:r>
              <a:rPr lang="en-US" sz="800" i="1" dirty="0"/>
              <a:t>, rewards, or penalties implemented in the contract</a:t>
            </a:r>
            <a:endParaRPr lang="en-US" sz="1200" i="1" dirty="0"/>
          </a:p>
          <a:p>
            <a:pPr>
              <a:lnSpc>
                <a:spcPts val="2000"/>
              </a:lnSpc>
              <a:spcAft>
                <a:spcPts val="1200"/>
              </a:spcAft>
              <a:buSzPct val="100000"/>
            </a:pPr>
            <a:r>
              <a:rPr lang="en-IN" sz="1200" dirty="0"/>
              <a:t>           </a:t>
            </a:r>
            <a:endParaRPr lang="en-US" sz="1200" dirty="0"/>
          </a:p>
          <a:p>
            <a:pPr>
              <a:lnSpc>
                <a:spcPts val="2000"/>
              </a:lnSpc>
              <a:spcAft>
                <a:spcPts val="1200"/>
              </a:spcAft>
              <a:buSzPct val="100000"/>
            </a:pPr>
            <a:endParaRPr lang="en-IN" sz="1200" dirty="0"/>
          </a:p>
          <a:p>
            <a:pPr marL="228600" indent="-228600">
              <a:lnSpc>
                <a:spcPts val="2000"/>
              </a:lnSpc>
              <a:spcAft>
                <a:spcPts val="1200"/>
              </a:spcAft>
              <a:buSzPct val="100000"/>
              <a:buAutoNum type="arabicPeriod"/>
            </a:pPr>
            <a:endParaRPr lang="en-US" sz="1200" dirty="0"/>
          </a:p>
          <a:p>
            <a:pPr marL="685800" lvl="1" indent="-228600">
              <a:lnSpc>
                <a:spcPts val="2000"/>
              </a:lnSpc>
              <a:spcAft>
                <a:spcPts val="1200"/>
              </a:spcAft>
              <a:buSzPct val="100000"/>
              <a:buAutoNum type="arabicPeriod"/>
            </a:pPr>
            <a:endParaRPr lang="en-US" sz="1200" dirty="0"/>
          </a:p>
          <a:p>
            <a:pPr marL="171450" indent="-171450">
              <a:lnSpc>
                <a:spcPts val="2000"/>
              </a:lnSpc>
              <a:spcAft>
                <a:spcPts val="1200"/>
              </a:spcAft>
              <a:buSzPct val="100000"/>
              <a:buFont typeface="Arial" panose="020B0604020202020204" pitchFamily="34" charset="0"/>
              <a:buChar char="•"/>
            </a:pPr>
            <a:endParaRPr lang="en-US" sz="1200" dirty="0"/>
          </a:p>
          <a:p>
            <a:pPr marL="171450" indent="-171450">
              <a:lnSpc>
                <a:spcPts val="2000"/>
              </a:lnSpc>
              <a:spcAft>
                <a:spcPts val="1200"/>
              </a:spcAft>
              <a:buSzPct val="100000"/>
              <a:buFont typeface="Arial" panose="020B0604020202020204" pitchFamily="34" charset="0"/>
              <a:buChar char="•"/>
            </a:pPr>
            <a:endParaRPr lang="en-US" sz="1200" dirty="0"/>
          </a:p>
          <a:p>
            <a:pPr marL="342900" indent="-342900">
              <a:lnSpc>
                <a:spcPts val="2000"/>
              </a:lnSpc>
              <a:spcAft>
                <a:spcPts val="1200"/>
              </a:spcAft>
              <a:buSzPct val="100000"/>
              <a:buFont typeface="+mj-lt"/>
              <a:buAutoNum type="arabicPeriod"/>
            </a:pPr>
            <a:endParaRPr lang="en-US" sz="1200" dirty="0"/>
          </a:p>
        </p:txBody>
      </p:sp>
    </p:spTree>
    <p:extLst>
      <p:ext uri="{BB962C8B-B14F-4D97-AF65-F5344CB8AC3E}">
        <p14:creationId xmlns:p14="http://schemas.microsoft.com/office/powerpoint/2010/main" val="21108856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247684-6A48-1DD6-9740-CD69556402FB}"/>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26FE1B42-77FA-CAC4-5DEA-8772ECE05103}"/>
              </a:ext>
            </a:extLst>
          </p:cNvPr>
          <p:cNvPicPr>
            <a:picLocks noChangeAspect="1"/>
          </p:cNvPicPr>
          <p:nvPr/>
        </p:nvPicPr>
        <p:blipFill>
          <a:blip r:embed="rId3"/>
          <a:stretch>
            <a:fillRect/>
          </a:stretch>
        </p:blipFill>
        <p:spPr>
          <a:xfrm>
            <a:off x="0" y="8819"/>
            <a:ext cx="9144000" cy="5143500"/>
          </a:xfrm>
          <a:prstGeom prst="rect">
            <a:avLst/>
          </a:prstGeom>
        </p:spPr>
      </p:pic>
      <p:sp>
        <p:nvSpPr>
          <p:cNvPr id="8" name="Text 0">
            <a:extLst>
              <a:ext uri="{FF2B5EF4-FFF2-40B4-BE49-F238E27FC236}">
                <a16:creationId xmlns:a16="http://schemas.microsoft.com/office/drawing/2014/main" id="{B8F0CE68-BD77-54C3-46AC-C9F05F56E396}"/>
              </a:ext>
            </a:extLst>
          </p:cNvPr>
          <p:cNvSpPr/>
          <p:nvPr/>
        </p:nvSpPr>
        <p:spPr>
          <a:xfrm>
            <a:off x="0" y="82829"/>
            <a:ext cx="9144000" cy="401468"/>
          </a:xfrm>
          <a:prstGeom prst="rect">
            <a:avLst/>
          </a:prstGeom>
          <a:noFill/>
          <a:ln/>
        </p:spPr>
        <p:txBody>
          <a:bodyPr wrap="square" rtlCol="0" anchor="ctr"/>
          <a:lstStyle/>
          <a:p>
            <a:pPr marL="0" indent="0">
              <a:lnSpc>
                <a:spcPts val="3500"/>
              </a:lnSpc>
              <a:buNone/>
            </a:pPr>
            <a:r>
              <a:rPr lang="en-US" sz="2400" b="1" dirty="0">
                <a:solidFill>
                  <a:srgbClr val="17A33E"/>
                </a:solidFill>
                <a:latin typeface="Plus Jakarta Sans" pitchFamily="34" charset="0"/>
                <a:ea typeface="Plus Jakarta Sans" pitchFamily="34" charset="-122"/>
              </a:rPr>
              <a:t>System Architecture Overview</a:t>
            </a:r>
            <a:endParaRPr lang="en-US" sz="2400" dirty="0"/>
          </a:p>
        </p:txBody>
      </p:sp>
      <p:pic>
        <p:nvPicPr>
          <p:cNvPr id="4" name="Picture 3">
            <a:extLst>
              <a:ext uri="{FF2B5EF4-FFF2-40B4-BE49-F238E27FC236}">
                <a16:creationId xmlns:a16="http://schemas.microsoft.com/office/drawing/2014/main" id="{0AD204D6-C1AB-275D-C681-B4C62C34AB3C}"/>
              </a:ext>
            </a:extLst>
          </p:cNvPr>
          <p:cNvPicPr>
            <a:picLocks noChangeAspect="1"/>
          </p:cNvPicPr>
          <p:nvPr/>
        </p:nvPicPr>
        <p:blipFill>
          <a:blip r:embed="rId4"/>
          <a:stretch>
            <a:fillRect/>
          </a:stretch>
        </p:blipFill>
        <p:spPr>
          <a:xfrm>
            <a:off x="2399858" y="558307"/>
            <a:ext cx="4344283" cy="4344283"/>
          </a:xfrm>
          <a:prstGeom prst="rect">
            <a:avLst/>
          </a:prstGeom>
        </p:spPr>
      </p:pic>
    </p:spTree>
    <p:extLst>
      <p:ext uri="{BB962C8B-B14F-4D97-AF65-F5344CB8AC3E}">
        <p14:creationId xmlns:p14="http://schemas.microsoft.com/office/powerpoint/2010/main" val="40575533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704E78-282F-3A73-484D-3B3C737E2E66}"/>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0AD5B155-3156-09ED-557D-C62E8C2273FB}"/>
              </a:ext>
            </a:extLst>
          </p:cNvPr>
          <p:cNvPicPr>
            <a:picLocks noChangeAspect="1"/>
          </p:cNvPicPr>
          <p:nvPr/>
        </p:nvPicPr>
        <p:blipFill>
          <a:blip r:embed="rId3"/>
          <a:stretch>
            <a:fillRect/>
          </a:stretch>
        </p:blipFill>
        <p:spPr>
          <a:xfrm>
            <a:off x="0" y="8819"/>
            <a:ext cx="9144000" cy="5143500"/>
          </a:xfrm>
          <a:prstGeom prst="rect">
            <a:avLst/>
          </a:prstGeom>
        </p:spPr>
      </p:pic>
      <p:sp>
        <p:nvSpPr>
          <p:cNvPr id="8" name="Text 0">
            <a:extLst>
              <a:ext uri="{FF2B5EF4-FFF2-40B4-BE49-F238E27FC236}">
                <a16:creationId xmlns:a16="http://schemas.microsoft.com/office/drawing/2014/main" id="{D6006DBA-A4C1-1344-F051-19052F8DC47C}"/>
              </a:ext>
            </a:extLst>
          </p:cNvPr>
          <p:cNvSpPr/>
          <p:nvPr/>
        </p:nvSpPr>
        <p:spPr>
          <a:xfrm>
            <a:off x="0" y="82829"/>
            <a:ext cx="9144000" cy="401468"/>
          </a:xfrm>
          <a:prstGeom prst="rect">
            <a:avLst/>
          </a:prstGeom>
          <a:noFill/>
          <a:ln/>
        </p:spPr>
        <p:txBody>
          <a:bodyPr wrap="square" rtlCol="0" anchor="ctr"/>
          <a:lstStyle/>
          <a:p>
            <a:pPr marL="0" indent="0">
              <a:lnSpc>
                <a:spcPts val="3500"/>
              </a:lnSpc>
              <a:buNone/>
            </a:pPr>
            <a:r>
              <a:rPr lang="en-US" sz="2400" b="1" dirty="0" err="1">
                <a:solidFill>
                  <a:srgbClr val="17A33E"/>
                </a:solidFill>
                <a:latin typeface="Plus Jakarta Sans" pitchFamily="34" charset="0"/>
                <a:ea typeface="Plus Jakarta Sans" pitchFamily="34" charset="-122"/>
              </a:rPr>
              <a:t>DApps</a:t>
            </a:r>
            <a:r>
              <a:rPr lang="en-US" sz="2400" b="1" dirty="0">
                <a:solidFill>
                  <a:srgbClr val="17A33E"/>
                </a:solidFill>
                <a:latin typeface="Plus Jakarta Sans" pitchFamily="34" charset="0"/>
                <a:ea typeface="Plus Jakarta Sans" pitchFamily="34" charset="-122"/>
              </a:rPr>
              <a:t>- Decentralized Application	</a:t>
            </a:r>
            <a:endParaRPr lang="en-US" sz="2400" dirty="0"/>
          </a:p>
        </p:txBody>
      </p:sp>
      <p:sp>
        <p:nvSpPr>
          <p:cNvPr id="3" name="Text 1">
            <a:extLst>
              <a:ext uri="{FF2B5EF4-FFF2-40B4-BE49-F238E27FC236}">
                <a16:creationId xmlns:a16="http://schemas.microsoft.com/office/drawing/2014/main" id="{29483560-0D1A-3808-A755-242BF6573581}"/>
              </a:ext>
            </a:extLst>
          </p:cNvPr>
          <p:cNvSpPr/>
          <p:nvPr/>
        </p:nvSpPr>
        <p:spPr>
          <a:xfrm>
            <a:off x="76201" y="598191"/>
            <a:ext cx="8952882" cy="1754484"/>
          </a:xfrm>
          <a:prstGeom prst="rect">
            <a:avLst/>
          </a:prstGeom>
          <a:noFill/>
          <a:ln/>
        </p:spPr>
        <p:txBody>
          <a:bodyPr wrap="square" rtlCol="0" anchor="t"/>
          <a:lstStyle/>
          <a:p>
            <a:pPr marL="171450" indent="-171450">
              <a:lnSpc>
                <a:spcPts val="2000"/>
              </a:lnSpc>
              <a:spcAft>
                <a:spcPts val="1200"/>
              </a:spcAft>
              <a:buSzPct val="100000"/>
              <a:buFont typeface="Arial" panose="020B0604020202020204" pitchFamily="34" charset="0"/>
              <a:buChar char="•"/>
            </a:pPr>
            <a:r>
              <a:rPr lang="en-US" sz="1200" dirty="0"/>
              <a:t>A </a:t>
            </a:r>
            <a:r>
              <a:rPr lang="en-US" sz="1200" b="1" dirty="0"/>
              <a:t>Decentralized Application (</a:t>
            </a:r>
            <a:r>
              <a:rPr lang="en-US" sz="1200" b="1" dirty="0" err="1"/>
              <a:t>DApp</a:t>
            </a:r>
            <a:r>
              <a:rPr lang="en-US" sz="1200" b="1" dirty="0"/>
              <a:t>) </a:t>
            </a:r>
            <a:r>
              <a:rPr lang="en-US" sz="1200" dirty="0"/>
              <a:t>is an app that interacts with a blockchain through smart contracts, typically offering:</a:t>
            </a:r>
          </a:p>
          <a:p>
            <a:pPr marL="628650" lvl="1" indent="-171450">
              <a:spcAft>
                <a:spcPts val="1200"/>
              </a:spcAft>
              <a:buSzPct val="100000"/>
              <a:buFont typeface="Arial" panose="020B0604020202020204" pitchFamily="34" charset="0"/>
              <a:buChar char="•"/>
            </a:pPr>
            <a:r>
              <a:rPr lang="en-US" sz="1200" dirty="0"/>
              <a:t>A web frontend (often JavaScript frameworks like React)</a:t>
            </a:r>
          </a:p>
          <a:p>
            <a:pPr marL="628650" lvl="1" indent="-171450">
              <a:spcAft>
                <a:spcPts val="1200"/>
              </a:spcAft>
              <a:buSzPct val="100000"/>
              <a:buFont typeface="Arial" panose="020B0604020202020204" pitchFamily="34" charset="0"/>
              <a:buChar char="•"/>
            </a:pPr>
            <a:r>
              <a:rPr lang="en-US" sz="1200" dirty="0"/>
              <a:t>Blockchain-based authentication (wallets such as MetaMask)</a:t>
            </a:r>
          </a:p>
          <a:p>
            <a:pPr marL="628650" lvl="1" indent="-171450">
              <a:spcAft>
                <a:spcPts val="1200"/>
              </a:spcAft>
              <a:buSzPct val="100000"/>
              <a:buFont typeface="Arial" panose="020B0604020202020204" pitchFamily="34" charset="0"/>
              <a:buChar char="•"/>
            </a:pPr>
            <a:r>
              <a:rPr lang="en-US" sz="1200" dirty="0"/>
              <a:t>Direct calls to one or more smart contracts for core functions (no central backend server for main workflows)</a:t>
            </a:r>
          </a:p>
          <a:p>
            <a:pPr marL="628650" lvl="1" indent="-171450">
              <a:spcAft>
                <a:spcPts val="1200"/>
              </a:spcAft>
              <a:buSzPct val="100000"/>
              <a:buFont typeface="Arial" panose="020B0604020202020204" pitchFamily="34" charset="0"/>
              <a:buChar char="•"/>
            </a:pPr>
            <a:r>
              <a:rPr lang="en-US" sz="1200" dirty="0"/>
              <a:t>Use of decentralized storage (e.g., IPFS) for files or metadata</a:t>
            </a:r>
          </a:p>
          <a:p>
            <a:pPr marL="628650" lvl="1" indent="-171450">
              <a:spcAft>
                <a:spcPts val="1200"/>
              </a:spcAft>
              <a:buSzPct val="100000"/>
              <a:buFont typeface="Arial" panose="020B0604020202020204" pitchFamily="34" charset="0"/>
              <a:buChar char="•"/>
            </a:pPr>
            <a:endParaRPr lang="en-US" sz="1200" dirty="0"/>
          </a:p>
        </p:txBody>
      </p:sp>
      <p:sp>
        <p:nvSpPr>
          <p:cNvPr id="6" name="Text 0">
            <a:extLst>
              <a:ext uri="{FF2B5EF4-FFF2-40B4-BE49-F238E27FC236}">
                <a16:creationId xmlns:a16="http://schemas.microsoft.com/office/drawing/2014/main" id="{AFD10819-23D2-8102-B543-7CDF627B4BB3}"/>
              </a:ext>
            </a:extLst>
          </p:cNvPr>
          <p:cNvSpPr/>
          <p:nvPr/>
        </p:nvSpPr>
        <p:spPr>
          <a:xfrm>
            <a:off x="76201" y="2265835"/>
            <a:ext cx="9144000" cy="401468"/>
          </a:xfrm>
          <a:prstGeom prst="rect">
            <a:avLst/>
          </a:prstGeom>
          <a:noFill/>
          <a:ln/>
        </p:spPr>
        <p:txBody>
          <a:bodyPr wrap="square" rtlCol="0" anchor="ctr"/>
          <a:lstStyle/>
          <a:p>
            <a:pPr marL="0" indent="0">
              <a:lnSpc>
                <a:spcPts val="3500"/>
              </a:lnSpc>
              <a:buNone/>
            </a:pPr>
            <a:r>
              <a:rPr lang="en-US" sz="2400" b="1" dirty="0" err="1">
                <a:solidFill>
                  <a:srgbClr val="17A33E"/>
                </a:solidFill>
                <a:latin typeface="Plus Jakarta Sans" pitchFamily="34" charset="0"/>
                <a:ea typeface="Plus Jakarta Sans" pitchFamily="34" charset="-122"/>
              </a:rPr>
              <a:t>DApp</a:t>
            </a:r>
            <a:r>
              <a:rPr lang="en-US" sz="2400" b="1" dirty="0">
                <a:solidFill>
                  <a:srgbClr val="17A33E"/>
                </a:solidFill>
                <a:latin typeface="Plus Jakarta Sans" pitchFamily="34" charset="0"/>
                <a:ea typeface="Plus Jakarta Sans" pitchFamily="34" charset="-122"/>
              </a:rPr>
              <a:t> Components in our work:	</a:t>
            </a:r>
            <a:endParaRPr lang="en-US" sz="2400" dirty="0"/>
          </a:p>
        </p:txBody>
      </p:sp>
      <p:graphicFrame>
        <p:nvGraphicFramePr>
          <p:cNvPr id="10" name="Table 9">
            <a:extLst>
              <a:ext uri="{FF2B5EF4-FFF2-40B4-BE49-F238E27FC236}">
                <a16:creationId xmlns:a16="http://schemas.microsoft.com/office/drawing/2014/main" id="{0E035668-06DE-9B67-EAD0-BF82D3F24DEE}"/>
              </a:ext>
            </a:extLst>
          </p:cNvPr>
          <p:cNvGraphicFramePr>
            <a:graphicFrameLocks noGrp="1"/>
          </p:cNvGraphicFramePr>
          <p:nvPr>
            <p:extLst>
              <p:ext uri="{D42A27DB-BD31-4B8C-83A1-F6EECF244321}">
                <p14:modId xmlns:p14="http://schemas.microsoft.com/office/powerpoint/2010/main" val="4163884003"/>
              </p:ext>
            </p:extLst>
          </p:nvPr>
        </p:nvGraphicFramePr>
        <p:xfrm>
          <a:off x="590550" y="2715789"/>
          <a:ext cx="8191500" cy="2208530"/>
        </p:xfrm>
        <a:graphic>
          <a:graphicData uri="http://schemas.openxmlformats.org/drawingml/2006/table">
            <a:tbl>
              <a:tblPr firstRow="1" bandRow="1">
                <a:tableStyleId>{5C22544A-7EE6-4342-B048-85BDC9FD1C3A}</a:tableStyleId>
              </a:tblPr>
              <a:tblGrid>
                <a:gridCol w="2200275">
                  <a:extLst>
                    <a:ext uri="{9D8B030D-6E8A-4147-A177-3AD203B41FA5}">
                      <a16:colId xmlns:a16="http://schemas.microsoft.com/office/drawing/2014/main" val="2196927978"/>
                    </a:ext>
                  </a:extLst>
                </a:gridCol>
                <a:gridCol w="2085975">
                  <a:extLst>
                    <a:ext uri="{9D8B030D-6E8A-4147-A177-3AD203B41FA5}">
                      <a16:colId xmlns:a16="http://schemas.microsoft.com/office/drawing/2014/main" val="4063703615"/>
                    </a:ext>
                  </a:extLst>
                </a:gridCol>
                <a:gridCol w="3905250">
                  <a:extLst>
                    <a:ext uri="{9D8B030D-6E8A-4147-A177-3AD203B41FA5}">
                      <a16:colId xmlns:a16="http://schemas.microsoft.com/office/drawing/2014/main" val="4161753775"/>
                    </a:ext>
                  </a:extLst>
                </a:gridCol>
              </a:tblGrid>
              <a:tr h="496070">
                <a:tc>
                  <a:txBody>
                    <a:bodyPr/>
                    <a:lstStyle/>
                    <a:p>
                      <a:r>
                        <a:rPr lang="en-IN" dirty="0"/>
                        <a:t>Module</a:t>
                      </a:r>
                    </a:p>
                  </a:txBody>
                  <a:tcPr/>
                </a:tc>
                <a:tc>
                  <a:txBody>
                    <a:bodyPr/>
                    <a:lstStyle/>
                    <a:p>
                      <a:r>
                        <a:rPr lang="en-IN" dirty="0"/>
                        <a:t>File Name</a:t>
                      </a:r>
                    </a:p>
                  </a:txBody>
                  <a:tcPr/>
                </a:tc>
                <a:tc>
                  <a:txBody>
                    <a:bodyPr/>
                    <a:lstStyle/>
                    <a:p>
                      <a:r>
                        <a:rPr lang="en-IN" dirty="0"/>
                        <a:t>Reason/Description</a:t>
                      </a:r>
                    </a:p>
                  </a:txBody>
                  <a:tcPr/>
                </a:tc>
                <a:extLst>
                  <a:ext uri="{0D108BD9-81ED-4DB2-BD59-A6C34878D82A}">
                    <a16:rowId xmlns:a16="http://schemas.microsoft.com/office/drawing/2014/main" val="598882000"/>
                  </a:ext>
                </a:extLst>
              </a:tr>
              <a:tr h="570820">
                <a:tc>
                  <a:txBody>
                    <a:bodyPr/>
                    <a:lstStyle/>
                    <a:p>
                      <a:r>
                        <a:rPr lang="en-IN" sz="1600" dirty="0"/>
                        <a:t>Model Uploader</a:t>
                      </a:r>
                    </a:p>
                  </a:txBody>
                  <a:tcPr/>
                </a:tc>
                <a:tc>
                  <a:txBody>
                    <a:bodyPr/>
                    <a:lstStyle/>
                    <a:p>
                      <a:r>
                        <a:rPr lang="en-IN" sz="1200" dirty="0"/>
                        <a:t>ModelUploader.js</a:t>
                      </a:r>
                    </a:p>
                  </a:txBody>
                  <a:tcPr/>
                </a:tc>
                <a:tc>
                  <a:txBody>
                    <a:bodyPr/>
                    <a:lstStyle/>
                    <a:p>
                      <a:r>
                        <a:rPr lang="en-US" sz="1200" dirty="0"/>
                        <a:t>Uploads ML models to IPFS, interacts with blockchain smart contract, requires MetaMask.</a:t>
                      </a:r>
                      <a:endParaRPr lang="en-IN" sz="1200" dirty="0"/>
                    </a:p>
                  </a:txBody>
                  <a:tcPr/>
                </a:tc>
                <a:extLst>
                  <a:ext uri="{0D108BD9-81ED-4DB2-BD59-A6C34878D82A}">
                    <a16:rowId xmlns:a16="http://schemas.microsoft.com/office/drawing/2014/main" val="3116071364"/>
                  </a:ext>
                </a:extLst>
              </a:tr>
              <a:tr h="570820">
                <a:tc>
                  <a:txBody>
                    <a:bodyPr/>
                    <a:lstStyle/>
                    <a:p>
                      <a:r>
                        <a:rPr lang="en-IN" sz="1600" dirty="0"/>
                        <a:t>Block Chain Connection</a:t>
                      </a:r>
                    </a:p>
                  </a:txBody>
                  <a:tcPr/>
                </a:tc>
                <a:tc>
                  <a:txBody>
                    <a:bodyPr/>
                    <a:lstStyle/>
                    <a:p>
                      <a:r>
                        <a:rPr lang="en-IN" sz="1200" dirty="0"/>
                        <a:t>BlockchainConnect.js</a:t>
                      </a:r>
                    </a:p>
                  </a:txBody>
                  <a:tcPr/>
                </a:tc>
                <a:tc>
                  <a:txBody>
                    <a:bodyPr/>
                    <a:lstStyle/>
                    <a:p>
                      <a:r>
                        <a:rPr lang="en-US" sz="1200" dirty="0"/>
                        <a:t>Handles wallet connections, checks account and network, required for blockchain </a:t>
                      </a:r>
                      <a:r>
                        <a:rPr lang="en-US" sz="1200" dirty="0" err="1"/>
                        <a:t>DApp</a:t>
                      </a:r>
                      <a:r>
                        <a:rPr lang="en-US" sz="1200" dirty="0"/>
                        <a:t> interactions.</a:t>
                      </a:r>
                      <a:endParaRPr lang="en-IN" sz="1200" dirty="0"/>
                    </a:p>
                  </a:txBody>
                  <a:tcPr/>
                </a:tc>
                <a:extLst>
                  <a:ext uri="{0D108BD9-81ED-4DB2-BD59-A6C34878D82A}">
                    <a16:rowId xmlns:a16="http://schemas.microsoft.com/office/drawing/2014/main" val="2323702157"/>
                  </a:ext>
                </a:extLst>
              </a:tr>
              <a:tr h="570820">
                <a:tc>
                  <a:txBody>
                    <a:bodyPr/>
                    <a:lstStyle/>
                    <a:p>
                      <a:r>
                        <a:rPr lang="en-IN" sz="1600" dirty="0"/>
                        <a:t>Model Registry</a:t>
                      </a:r>
                    </a:p>
                  </a:txBody>
                  <a:tcPr/>
                </a:tc>
                <a:tc>
                  <a:txBody>
                    <a:bodyPr/>
                    <a:lstStyle/>
                    <a:p>
                      <a:r>
                        <a:rPr lang="en-IN" sz="1200" dirty="0" err="1"/>
                        <a:t>AIModelRegistryABI.json</a:t>
                      </a:r>
                      <a:endParaRPr lang="en-IN" sz="1200" dirty="0"/>
                    </a:p>
                  </a:txBody>
                  <a:tcPr/>
                </a:tc>
                <a:tc>
                  <a:txBody>
                    <a:bodyPr/>
                    <a:lstStyle/>
                    <a:p>
                      <a:r>
                        <a:rPr lang="en-US" sz="1200" dirty="0"/>
                        <a:t>Defines the smart contract interface; the backend logic for decentralized registry and audit.</a:t>
                      </a:r>
                      <a:endParaRPr lang="en-IN" sz="1200" dirty="0"/>
                    </a:p>
                  </a:txBody>
                  <a:tcPr/>
                </a:tc>
                <a:extLst>
                  <a:ext uri="{0D108BD9-81ED-4DB2-BD59-A6C34878D82A}">
                    <a16:rowId xmlns:a16="http://schemas.microsoft.com/office/drawing/2014/main" val="1917276331"/>
                  </a:ext>
                </a:extLst>
              </a:tr>
            </a:tbl>
          </a:graphicData>
        </a:graphic>
      </p:graphicFrame>
    </p:spTree>
    <p:extLst>
      <p:ext uri="{BB962C8B-B14F-4D97-AF65-F5344CB8AC3E}">
        <p14:creationId xmlns:p14="http://schemas.microsoft.com/office/powerpoint/2010/main" val="14139607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7171EA-5CE4-8175-F269-FB83C054A2BE}"/>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39F65702-B743-4631-458A-95F8E8DA859C}"/>
              </a:ext>
            </a:extLst>
          </p:cNvPr>
          <p:cNvPicPr>
            <a:picLocks noChangeAspect="1"/>
          </p:cNvPicPr>
          <p:nvPr/>
        </p:nvPicPr>
        <p:blipFill>
          <a:blip r:embed="rId3"/>
          <a:stretch>
            <a:fillRect/>
          </a:stretch>
        </p:blipFill>
        <p:spPr>
          <a:xfrm>
            <a:off x="0" y="8819"/>
            <a:ext cx="9144000" cy="5143500"/>
          </a:xfrm>
          <a:prstGeom prst="rect">
            <a:avLst/>
          </a:prstGeom>
        </p:spPr>
      </p:pic>
      <p:sp>
        <p:nvSpPr>
          <p:cNvPr id="8" name="Text 0">
            <a:extLst>
              <a:ext uri="{FF2B5EF4-FFF2-40B4-BE49-F238E27FC236}">
                <a16:creationId xmlns:a16="http://schemas.microsoft.com/office/drawing/2014/main" id="{4FB2F36A-4712-F465-7BA9-CA015A7C2710}"/>
              </a:ext>
            </a:extLst>
          </p:cNvPr>
          <p:cNvSpPr/>
          <p:nvPr/>
        </p:nvSpPr>
        <p:spPr>
          <a:xfrm>
            <a:off x="0" y="82829"/>
            <a:ext cx="9144000" cy="401468"/>
          </a:xfrm>
          <a:prstGeom prst="rect">
            <a:avLst/>
          </a:prstGeom>
          <a:noFill/>
          <a:ln/>
        </p:spPr>
        <p:txBody>
          <a:bodyPr wrap="square" rtlCol="0" anchor="ctr"/>
          <a:lstStyle/>
          <a:p>
            <a:pPr marL="0" indent="0">
              <a:lnSpc>
                <a:spcPts val="3500"/>
              </a:lnSpc>
              <a:buNone/>
            </a:pPr>
            <a:r>
              <a:rPr lang="en-US" sz="2400" b="1" dirty="0">
                <a:solidFill>
                  <a:srgbClr val="17A33E"/>
                </a:solidFill>
                <a:latin typeface="Plus Jakarta Sans" pitchFamily="34" charset="0"/>
                <a:ea typeface="Plus Jakarta Sans" pitchFamily="34" charset="-122"/>
              </a:rPr>
              <a:t>Blockchain Smart Contract</a:t>
            </a:r>
            <a:endParaRPr lang="en-US" sz="2400" dirty="0"/>
          </a:p>
        </p:txBody>
      </p:sp>
      <p:sp>
        <p:nvSpPr>
          <p:cNvPr id="3" name="Text 1">
            <a:extLst>
              <a:ext uri="{FF2B5EF4-FFF2-40B4-BE49-F238E27FC236}">
                <a16:creationId xmlns:a16="http://schemas.microsoft.com/office/drawing/2014/main" id="{47236479-E859-16ED-417F-F6DD16024D13}"/>
              </a:ext>
            </a:extLst>
          </p:cNvPr>
          <p:cNvSpPr/>
          <p:nvPr/>
        </p:nvSpPr>
        <p:spPr>
          <a:xfrm>
            <a:off x="76201" y="598191"/>
            <a:ext cx="8952882" cy="4462480"/>
          </a:xfrm>
          <a:prstGeom prst="rect">
            <a:avLst/>
          </a:prstGeom>
          <a:noFill/>
          <a:ln/>
        </p:spPr>
        <p:txBody>
          <a:bodyPr wrap="square" rtlCol="0" anchor="t"/>
          <a:lstStyle/>
          <a:p>
            <a:pPr>
              <a:spcAft>
                <a:spcPts val="1200"/>
              </a:spcAft>
              <a:buSzPct val="100000"/>
            </a:pPr>
            <a:r>
              <a:rPr lang="en-US" sz="1400" b="1" dirty="0"/>
              <a:t>1. Whitelist Hospital</a:t>
            </a:r>
          </a:p>
          <a:p>
            <a:pPr marL="171450" indent="-171450">
              <a:spcAft>
                <a:spcPts val="1200"/>
              </a:spcAft>
              <a:buSzPct val="100000"/>
              <a:buFont typeface="Arial" panose="020B0604020202020204" pitchFamily="34" charset="0"/>
              <a:buChar char="•"/>
            </a:pPr>
            <a:r>
              <a:rPr lang="en-US" sz="1200" b="1" i="1" dirty="0"/>
              <a:t>Purpose</a:t>
            </a:r>
            <a:r>
              <a:rPr lang="en-US" sz="1200" dirty="0"/>
              <a:t>: Manages approved participant access.</a:t>
            </a:r>
          </a:p>
          <a:p>
            <a:pPr marL="171450" indent="-171450">
              <a:spcAft>
                <a:spcPts val="1200"/>
              </a:spcAft>
              <a:buSzPct val="100000"/>
              <a:buFont typeface="Arial" panose="020B0604020202020204" pitchFamily="34" charset="0"/>
              <a:buChar char="•"/>
            </a:pPr>
            <a:r>
              <a:rPr lang="en-US" sz="1200" b="1" i="1" dirty="0"/>
              <a:t>Functionality:</a:t>
            </a:r>
          </a:p>
          <a:p>
            <a:pPr marL="628650" lvl="1" indent="-171450">
              <a:spcAft>
                <a:spcPts val="1200"/>
              </a:spcAft>
              <a:buSzPct val="100000"/>
              <a:buFont typeface="Arial" panose="020B0604020202020204" pitchFamily="34" charset="0"/>
              <a:buChar char="•"/>
            </a:pPr>
            <a:r>
              <a:rPr lang="en-US" sz="1200" dirty="0"/>
              <a:t>Keeps a mapping (</a:t>
            </a:r>
            <a:r>
              <a:rPr lang="en-US" sz="1200" dirty="0" err="1"/>
              <a:t>whitelistedVendors</a:t>
            </a:r>
            <a:r>
              <a:rPr lang="en-US" sz="1200" dirty="0"/>
              <a:t>[address]) of which hospital/participant addresses are authorized to interact with the contract.</a:t>
            </a:r>
          </a:p>
          <a:p>
            <a:pPr marL="628650" lvl="1" indent="-171450">
              <a:spcAft>
                <a:spcPts val="1200"/>
              </a:spcAft>
              <a:buSzPct val="100000"/>
              <a:buFont typeface="Arial" panose="020B0604020202020204" pitchFamily="34" charset="0"/>
              <a:buChar char="•"/>
            </a:pPr>
            <a:r>
              <a:rPr lang="en-US" sz="1200" dirty="0"/>
              <a:t>Only whitelisted accounts can upload models or perform restricted operations.</a:t>
            </a:r>
          </a:p>
          <a:p>
            <a:pPr>
              <a:spcAft>
                <a:spcPts val="1200"/>
              </a:spcAft>
              <a:buSzPct val="100000"/>
            </a:pPr>
            <a:r>
              <a:rPr lang="en-US" sz="1400" b="1" dirty="0"/>
              <a:t>2. Store Model Metadata</a:t>
            </a:r>
          </a:p>
          <a:p>
            <a:pPr marL="171450" indent="-171450">
              <a:spcAft>
                <a:spcPts val="1200"/>
              </a:spcAft>
              <a:buSzPct val="100000"/>
              <a:buFont typeface="Arial" panose="020B0604020202020204" pitchFamily="34" charset="0"/>
              <a:buChar char="•"/>
            </a:pPr>
            <a:r>
              <a:rPr lang="en-US" sz="1200" b="1" i="1" dirty="0"/>
              <a:t>Purpose:</a:t>
            </a:r>
            <a:r>
              <a:rPr lang="en-US" sz="1200" dirty="0"/>
              <a:t> Registers AI model versions and their storage references.</a:t>
            </a:r>
          </a:p>
          <a:p>
            <a:pPr marL="171450" indent="-171450">
              <a:lnSpc>
                <a:spcPts val="2000"/>
              </a:lnSpc>
              <a:spcAft>
                <a:spcPts val="1200"/>
              </a:spcAft>
              <a:buSzPct val="100000"/>
              <a:buFont typeface="Arial" panose="020B0604020202020204" pitchFamily="34" charset="0"/>
              <a:buChar char="•"/>
            </a:pPr>
            <a:r>
              <a:rPr lang="en-US" sz="1200" b="1" i="1" dirty="0"/>
              <a:t>Functionality:</a:t>
            </a:r>
          </a:p>
          <a:p>
            <a:pPr marL="628650" lvl="1" indent="-171450">
              <a:lnSpc>
                <a:spcPts val="2000"/>
              </a:lnSpc>
              <a:spcAft>
                <a:spcPts val="1200"/>
              </a:spcAft>
              <a:buSzPct val="100000"/>
              <a:buFont typeface="Arial" panose="020B0604020202020204" pitchFamily="34" charset="0"/>
              <a:buChar char="•"/>
            </a:pPr>
            <a:r>
              <a:rPr lang="en-US" sz="1200" dirty="0"/>
              <a:t>Accepts a model name and an IPFS hash when a hospital uploads a new model.</a:t>
            </a:r>
          </a:p>
          <a:p>
            <a:pPr marL="628650" lvl="1" indent="-171450">
              <a:lnSpc>
                <a:spcPts val="2000"/>
              </a:lnSpc>
              <a:spcAft>
                <a:spcPts val="1200"/>
              </a:spcAft>
              <a:buSzPct val="100000"/>
              <a:buFont typeface="Arial" panose="020B0604020202020204" pitchFamily="34" charset="0"/>
              <a:buChar char="•"/>
            </a:pPr>
            <a:r>
              <a:rPr lang="en-US" sz="1200" dirty="0"/>
              <a:t>Records this pairing (</a:t>
            </a:r>
            <a:r>
              <a:rPr lang="en-US" sz="1200" dirty="0" err="1"/>
              <a:t>storeModel</a:t>
            </a:r>
            <a:r>
              <a:rPr lang="en-US" sz="1200" dirty="0"/>
              <a:t>(string </a:t>
            </a:r>
            <a:r>
              <a:rPr lang="en-US" sz="1200" dirty="0" err="1"/>
              <a:t>modelName</a:t>
            </a:r>
            <a:r>
              <a:rPr lang="en-US" sz="1200" dirty="0"/>
              <a:t>, string </a:t>
            </a:r>
            <a:r>
              <a:rPr lang="en-US" sz="1200" dirty="0" err="1"/>
              <a:t>modelHash</a:t>
            </a:r>
            <a:r>
              <a:rPr lang="en-US" sz="1200" dirty="0"/>
              <a:t>)) along with the address of the uploader.</a:t>
            </a:r>
          </a:p>
          <a:p>
            <a:pPr marL="628650" lvl="1" indent="-171450">
              <a:lnSpc>
                <a:spcPts val="2000"/>
              </a:lnSpc>
              <a:spcAft>
                <a:spcPts val="1200"/>
              </a:spcAft>
              <a:buSzPct val="100000"/>
              <a:buFont typeface="Arial" panose="020B0604020202020204" pitchFamily="34" charset="0"/>
              <a:buChar char="•"/>
            </a:pPr>
            <a:r>
              <a:rPr lang="en-US" sz="1200" dirty="0"/>
              <a:t>Ensures the traceability and transparency of every submitted model.</a:t>
            </a:r>
          </a:p>
          <a:p>
            <a:pPr marL="628650" lvl="1" indent="-171450">
              <a:spcAft>
                <a:spcPts val="1200"/>
              </a:spcAft>
              <a:buSzPct val="100000"/>
              <a:buFont typeface="Arial" panose="020B0604020202020204" pitchFamily="34" charset="0"/>
              <a:buChar char="•"/>
            </a:pPr>
            <a:endParaRPr lang="en-US" sz="1200" dirty="0"/>
          </a:p>
        </p:txBody>
      </p:sp>
    </p:spTree>
    <p:extLst>
      <p:ext uri="{BB962C8B-B14F-4D97-AF65-F5344CB8AC3E}">
        <p14:creationId xmlns:p14="http://schemas.microsoft.com/office/powerpoint/2010/main" val="20260054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B8BE7A-D666-2A90-1E77-84A5F5123DD0}"/>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BA5C3884-BBE9-E2CC-4135-E0709393E553}"/>
              </a:ext>
            </a:extLst>
          </p:cNvPr>
          <p:cNvPicPr>
            <a:picLocks noChangeAspect="1"/>
          </p:cNvPicPr>
          <p:nvPr/>
        </p:nvPicPr>
        <p:blipFill>
          <a:blip r:embed="rId3"/>
          <a:stretch>
            <a:fillRect/>
          </a:stretch>
        </p:blipFill>
        <p:spPr>
          <a:xfrm>
            <a:off x="0" y="8819"/>
            <a:ext cx="9144000" cy="5143500"/>
          </a:xfrm>
          <a:prstGeom prst="rect">
            <a:avLst/>
          </a:prstGeom>
        </p:spPr>
      </p:pic>
      <p:sp>
        <p:nvSpPr>
          <p:cNvPr id="8" name="Text 0">
            <a:extLst>
              <a:ext uri="{FF2B5EF4-FFF2-40B4-BE49-F238E27FC236}">
                <a16:creationId xmlns:a16="http://schemas.microsoft.com/office/drawing/2014/main" id="{55FD36A2-A9C7-1191-B6B1-9B3041ED73DB}"/>
              </a:ext>
            </a:extLst>
          </p:cNvPr>
          <p:cNvSpPr/>
          <p:nvPr/>
        </p:nvSpPr>
        <p:spPr>
          <a:xfrm>
            <a:off x="0" y="82829"/>
            <a:ext cx="9144000" cy="401468"/>
          </a:xfrm>
          <a:prstGeom prst="rect">
            <a:avLst/>
          </a:prstGeom>
          <a:noFill/>
          <a:ln/>
        </p:spPr>
        <p:txBody>
          <a:bodyPr wrap="square" rtlCol="0" anchor="ctr"/>
          <a:lstStyle/>
          <a:p>
            <a:pPr marL="0" indent="0">
              <a:lnSpc>
                <a:spcPts val="3500"/>
              </a:lnSpc>
              <a:buNone/>
            </a:pPr>
            <a:r>
              <a:rPr lang="en-US" sz="2400" b="1" dirty="0">
                <a:solidFill>
                  <a:srgbClr val="17A33E"/>
                </a:solidFill>
                <a:latin typeface="Plus Jakarta Sans" pitchFamily="34" charset="0"/>
                <a:ea typeface="Plus Jakarta Sans" pitchFamily="34" charset="-122"/>
              </a:rPr>
              <a:t>Blockchain Smart Contract</a:t>
            </a:r>
            <a:endParaRPr lang="en-US" sz="2400" dirty="0"/>
          </a:p>
        </p:txBody>
      </p:sp>
      <p:sp>
        <p:nvSpPr>
          <p:cNvPr id="3" name="Text 1">
            <a:extLst>
              <a:ext uri="{FF2B5EF4-FFF2-40B4-BE49-F238E27FC236}">
                <a16:creationId xmlns:a16="http://schemas.microsoft.com/office/drawing/2014/main" id="{F5B5E9C7-8195-73CE-B45F-31182D231859}"/>
              </a:ext>
            </a:extLst>
          </p:cNvPr>
          <p:cNvSpPr/>
          <p:nvPr/>
        </p:nvSpPr>
        <p:spPr>
          <a:xfrm>
            <a:off x="76201" y="598191"/>
            <a:ext cx="8952882" cy="4462480"/>
          </a:xfrm>
          <a:prstGeom prst="rect">
            <a:avLst/>
          </a:prstGeom>
          <a:noFill/>
          <a:ln/>
        </p:spPr>
        <p:txBody>
          <a:bodyPr wrap="square" rtlCol="0" anchor="t"/>
          <a:lstStyle/>
          <a:p>
            <a:pPr>
              <a:spcAft>
                <a:spcPts val="1200"/>
              </a:spcAft>
              <a:buSzPct val="100000"/>
            </a:pPr>
            <a:r>
              <a:rPr lang="en-US" sz="1400" b="1" dirty="0"/>
              <a:t>3. Emit Events</a:t>
            </a:r>
          </a:p>
          <a:p>
            <a:pPr marL="171450" indent="-171450">
              <a:spcAft>
                <a:spcPts val="1200"/>
              </a:spcAft>
              <a:buSzPct val="100000"/>
              <a:buFont typeface="Arial" panose="020B0604020202020204" pitchFamily="34" charset="0"/>
              <a:buChar char="•"/>
            </a:pPr>
            <a:r>
              <a:rPr lang="en-US" sz="1200" b="1" i="1" dirty="0"/>
              <a:t>Purpose</a:t>
            </a:r>
            <a:r>
              <a:rPr lang="en-US" sz="1200" dirty="0"/>
              <a:t>: Provides an immutable audit trail and system transparency.</a:t>
            </a:r>
          </a:p>
          <a:p>
            <a:pPr marL="171450" indent="-171450">
              <a:spcAft>
                <a:spcPts val="1200"/>
              </a:spcAft>
              <a:buSzPct val="100000"/>
              <a:buFont typeface="Arial" panose="020B0604020202020204" pitchFamily="34" charset="0"/>
              <a:buChar char="•"/>
            </a:pPr>
            <a:r>
              <a:rPr lang="en-US" sz="1200" b="1" i="1" dirty="0"/>
              <a:t>Functionality:</a:t>
            </a:r>
          </a:p>
          <a:p>
            <a:pPr marL="628650" lvl="1" indent="-171450">
              <a:spcAft>
                <a:spcPts val="1200"/>
              </a:spcAft>
              <a:buSzPct val="100000"/>
              <a:buFont typeface="Arial" panose="020B0604020202020204" pitchFamily="34" charset="0"/>
              <a:buChar char="•"/>
            </a:pPr>
            <a:r>
              <a:rPr lang="en-US" sz="1200" dirty="0"/>
              <a:t>Emits events on critical actions such as:</a:t>
            </a:r>
          </a:p>
          <a:p>
            <a:pPr marL="1085850" lvl="2" indent="-171450">
              <a:spcAft>
                <a:spcPts val="1200"/>
              </a:spcAft>
              <a:buSzPct val="100000"/>
              <a:buFont typeface="Arial" panose="020B0604020202020204" pitchFamily="34" charset="0"/>
              <a:buChar char="•"/>
            </a:pPr>
            <a:r>
              <a:rPr lang="en-US" sz="1200" b="1" dirty="0" err="1"/>
              <a:t>ModelStored</a:t>
            </a:r>
            <a:r>
              <a:rPr lang="en-US" sz="1200" dirty="0"/>
              <a:t>: Triggered when new model metadata is recorded.</a:t>
            </a:r>
          </a:p>
          <a:p>
            <a:pPr marL="1085850" lvl="2" indent="-171450">
              <a:spcAft>
                <a:spcPts val="1200"/>
              </a:spcAft>
              <a:buSzPct val="100000"/>
              <a:buFont typeface="Arial" panose="020B0604020202020204" pitchFamily="34" charset="0"/>
              <a:buChar char="•"/>
            </a:pPr>
            <a:r>
              <a:rPr lang="en-US" sz="1200" b="1" dirty="0" err="1"/>
              <a:t>VendorWhitelisted</a:t>
            </a:r>
            <a:r>
              <a:rPr lang="en-US" sz="1200" dirty="0"/>
              <a:t>: Announced whenever a hospital/participant is authorized.</a:t>
            </a:r>
          </a:p>
          <a:p>
            <a:pPr marL="1085850" lvl="2" indent="-171450">
              <a:spcAft>
                <a:spcPts val="1200"/>
              </a:spcAft>
              <a:buSzPct val="100000"/>
              <a:buFont typeface="Arial" panose="020B0604020202020204" pitchFamily="34" charset="0"/>
              <a:buChar char="•"/>
            </a:pPr>
            <a:r>
              <a:rPr lang="en-US" sz="1200" b="1" dirty="0" err="1"/>
              <a:t>VendorRemoved</a:t>
            </a:r>
            <a:r>
              <a:rPr lang="en-US" sz="1200" dirty="0"/>
              <a:t>: Indicates removal of participant's authorization.</a:t>
            </a:r>
          </a:p>
          <a:p>
            <a:pPr>
              <a:spcAft>
                <a:spcPts val="1200"/>
              </a:spcAft>
              <a:buSzPct val="100000"/>
            </a:pPr>
            <a:r>
              <a:rPr lang="en-US" sz="1400" b="1" dirty="0"/>
              <a:t>4. Log All Transactions</a:t>
            </a:r>
          </a:p>
          <a:p>
            <a:pPr marL="171450" indent="-171450">
              <a:spcAft>
                <a:spcPts val="1200"/>
              </a:spcAft>
              <a:buSzPct val="100000"/>
              <a:buFont typeface="Arial" panose="020B0604020202020204" pitchFamily="34" charset="0"/>
              <a:buChar char="•"/>
            </a:pPr>
            <a:r>
              <a:rPr lang="en-US" sz="1200" b="1" i="1" dirty="0"/>
              <a:t>Purpose:</a:t>
            </a:r>
            <a:r>
              <a:rPr lang="en-US" sz="1200" dirty="0"/>
              <a:t> Ensures transparency, compliance, and accountability..</a:t>
            </a:r>
          </a:p>
          <a:p>
            <a:pPr marL="171450" indent="-171450">
              <a:lnSpc>
                <a:spcPts val="2000"/>
              </a:lnSpc>
              <a:spcAft>
                <a:spcPts val="1200"/>
              </a:spcAft>
              <a:buSzPct val="100000"/>
              <a:buFont typeface="Arial" panose="020B0604020202020204" pitchFamily="34" charset="0"/>
              <a:buChar char="•"/>
            </a:pPr>
            <a:r>
              <a:rPr lang="en-US" sz="1200" b="1" i="1" dirty="0"/>
              <a:t>Functionality:</a:t>
            </a:r>
          </a:p>
          <a:p>
            <a:pPr marL="628650" lvl="1" indent="-171450">
              <a:lnSpc>
                <a:spcPts val="2000"/>
              </a:lnSpc>
              <a:spcAft>
                <a:spcPts val="1200"/>
              </a:spcAft>
              <a:buSzPct val="100000"/>
              <a:buFont typeface="Arial" panose="020B0604020202020204" pitchFamily="34" charset="0"/>
              <a:buChar char="•"/>
            </a:pPr>
            <a:r>
              <a:rPr lang="en-US" sz="1200" dirty="0"/>
              <a:t>Every model upload, vendor whitelist/removal, and admin action is written to the blockchain.</a:t>
            </a:r>
          </a:p>
          <a:p>
            <a:pPr marL="628650" lvl="1" indent="-171450">
              <a:lnSpc>
                <a:spcPts val="2000"/>
              </a:lnSpc>
              <a:spcAft>
                <a:spcPts val="1200"/>
              </a:spcAft>
              <a:buSzPct val="100000"/>
              <a:buFont typeface="Arial" panose="020B0604020202020204" pitchFamily="34" charset="0"/>
              <a:buChar char="•"/>
            </a:pPr>
            <a:r>
              <a:rPr lang="en-US" sz="1200" dirty="0"/>
              <a:t>The log is public and immutable, enabling compliance reviews and dispute resolution.</a:t>
            </a:r>
          </a:p>
        </p:txBody>
      </p:sp>
    </p:spTree>
    <p:extLst>
      <p:ext uri="{BB962C8B-B14F-4D97-AF65-F5344CB8AC3E}">
        <p14:creationId xmlns:p14="http://schemas.microsoft.com/office/powerpoint/2010/main" val="32817464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2A0A25-3588-5624-1317-3FA6A42EF594}"/>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E5EE537A-80EC-2D6B-AA3A-F9782159E6E2}"/>
              </a:ext>
            </a:extLst>
          </p:cNvPr>
          <p:cNvPicPr>
            <a:picLocks noChangeAspect="1"/>
          </p:cNvPicPr>
          <p:nvPr/>
        </p:nvPicPr>
        <p:blipFill>
          <a:blip r:embed="rId3"/>
          <a:stretch>
            <a:fillRect/>
          </a:stretch>
        </p:blipFill>
        <p:spPr>
          <a:xfrm>
            <a:off x="0" y="8819"/>
            <a:ext cx="9144000" cy="5143500"/>
          </a:xfrm>
          <a:prstGeom prst="rect">
            <a:avLst/>
          </a:prstGeom>
        </p:spPr>
      </p:pic>
      <p:sp>
        <p:nvSpPr>
          <p:cNvPr id="4" name="Text 0">
            <a:extLst>
              <a:ext uri="{FF2B5EF4-FFF2-40B4-BE49-F238E27FC236}">
                <a16:creationId xmlns:a16="http://schemas.microsoft.com/office/drawing/2014/main" id="{1592A450-C29D-370A-2665-2A79BF8EB2BD}"/>
              </a:ext>
            </a:extLst>
          </p:cNvPr>
          <p:cNvSpPr/>
          <p:nvPr/>
        </p:nvSpPr>
        <p:spPr>
          <a:xfrm>
            <a:off x="0" y="82829"/>
            <a:ext cx="9144000" cy="401468"/>
          </a:xfrm>
          <a:prstGeom prst="rect">
            <a:avLst/>
          </a:prstGeom>
          <a:noFill/>
          <a:ln/>
        </p:spPr>
        <p:txBody>
          <a:bodyPr wrap="square" rtlCol="0" anchor="ctr"/>
          <a:lstStyle/>
          <a:p>
            <a:pPr marL="0" indent="0">
              <a:lnSpc>
                <a:spcPts val="3500"/>
              </a:lnSpc>
              <a:buNone/>
            </a:pPr>
            <a:r>
              <a:rPr lang="en-US" sz="2400" b="1" dirty="0">
                <a:solidFill>
                  <a:srgbClr val="17A33E"/>
                </a:solidFill>
                <a:latin typeface="Plus Jakarta Sans" pitchFamily="34" charset="0"/>
                <a:ea typeface="Plus Jakarta Sans" pitchFamily="34" charset="-122"/>
              </a:rPr>
              <a:t>How these work together</a:t>
            </a:r>
            <a:endParaRPr lang="en-US" sz="2400" dirty="0"/>
          </a:p>
        </p:txBody>
      </p:sp>
      <p:sp>
        <p:nvSpPr>
          <p:cNvPr id="7" name="Text 1">
            <a:extLst>
              <a:ext uri="{FF2B5EF4-FFF2-40B4-BE49-F238E27FC236}">
                <a16:creationId xmlns:a16="http://schemas.microsoft.com/office/drawing/2014/main" id="{C3FD3D0D-6FAD-2C07-A766-15C033D94AB4}"/>
              </a:ext>
            </a:extLst>
          </p:cNvPr>
          <p:cNvSpPr/>
          <p:nvPr/>
        </p:nvSpPr>
        <p:spPr>
          <a:xfrm>
            <a:off x="76201" y="598191"/>
            <a:ext cx="8952882" cy="4462480"/>
          </a:xfrm>
          <a:prstGeom prst="rect">
            <a:avLst/>
          </a:prstGeom>
          <a:noFill/>
          <a:ln/>
        </p:spPr>
        <p:txBody>
          <a:bodyPr wrap="square" rtlCol="0" anchor="t"/>
          <a:lstStyle/>
          <a:p>
            <a:pPr marL="171450" indent="-171450">
              <a:spcAft>
                <a:spcPts val="1200"/>
              </a:spcAft>
              <a:buSzPct val="100000"/>
              <a:buFont typeface="Arial" panose="020B0604020202020204" pitchFamily="34" charset="0"/>
              <a:buChar char="•"/>
            </a:pPr>
            <a:r>
              <a:rPr lang="en-US" sz="1200" b="1" dirty="0"/>
              <a:t>Admin</a:t>
            </a:r>
            <a:r>
              <a:rPr lang="en-US" sz="1200" dirty="0"/>
              <a:t> manages whitelisting and roles.</a:t>
            </a:r>
          </a:p>
          <a:p>
            <a:pPr marL="171450" indent="-171450">
              <a:spcAft>
                <a:spcPts val="1200"/>
              </a:spcAft>
              <a:buSzPct val="100000"/>
              <a:buFont typeface="Arial" panose="020B0604020202020204" pitchFamily="34" charset="0"/>
              <a:buChar char="•"/>
            </a:pPr>
            <a:r>
              <a:rPr lang="en-US" sz="1200" b="1" dirty="0"/>
              <a:t>Hospitals (when whitelisted) </a:t>
            </a:r>
            <a:r>
              <a:rPr lang="en-US" sz="1200" dirty="0"/>
              <a:t>can upload models (metadata only), triggering on-chain events.</a:t>
            </a:r>
          </a:p>
          <a:p>
            <a:pPr marL="171450" indent="-171450">
              <a:spcAft>
                <a:spcPts val="1200"/>
              </a:spcAft>
              <a:buSzPct val="100000"/>
              <a:buFont typeface="Arial" panose="020B0604020202020204" pitchFamily="34" charset="0"/>
              <a:buChar char="•"/>
            </a:pPr>
            <a:r>
              <a:rPr lang="en-US" sz="1200" b="1" dirty="0"/>
              <a:t>Auditors/External </a:t>
            </a:r>
            <a:r>
              <a:rPr lang="en-US" sz="1200" dirty="0"/>
              <a:t>Users can verify every transaction, download model artifacts by IPFS hash, and confirm participant status—all through the public blockchain.</a:t>
            </a:r>
          </a:p>
          <a:p>
            <a:pPr marL="171450" indent="-171450">
              <a:spcAft>
                <a:spcPts val="1200"/>
              </a:spcAft>
              <a:buSzPct val="100000"/>
              <a:buFont typeface="Arial" panose="020B0604020202020204" pitchFamily="34" charset="0"/>
              <a:buChar char="•"/>
            </a:pPr>
            <a:r>
              <a:rPr lang="en-US" sz="1200" dirty="0"/>
              <a:t>These sub-blocks collectively enforce trust, security, and auditability in your decentralized federated learning ecosystem.</a:t>
            </a:r>
          </a:p>
        </p:txBody>
      </p:sp>
      <p:graphicFrame>
        <p:nvGraphicFramePr>
          <p:cNvPr id="12" name="Table 11">
            <a:extLst>
              <a:ext uri="{FF2B5EF4-FFF2-40B4-BE49-F238E27FC236}">
                <a16:creationId xmlns:a16="http://schemas.microsoft.com/office/drawing/2014/main" id="{D7D51282-FAD6-9E87-BDD3-25B132286246}"/>
              </a:ext>
            </a:extLst>
          </p:cNvPr>
          <p:cNvGraphicFramePr>
            <a:graphicFrameLocks noGrp="1"/>
          </p:cNvGraphicFramePr>
          <p:nvPr>
            <p:extLst>
              <p:ext uri="{D42A27DB-BD31-4B8C-83A1-F6EECF244321}">
                <p14:modId xmlns:p14="http://schemas.microsoft.com/office/powerpoint/2010/main" val="3866847372"/>
              </p:ext>
            </p:extLst>
          </p:nvPr>
        </p:nvGraphicFramePr>
        <p:xfrm>
          <a:off x="371167" y="2226638"/>
          <a:ext cx="8362950" cy="2442704"/>
        </p:xfrm>
        <a:graphic>
          <a:graphicData uri="http://schemas.openxmlformats.org/drawingml/2006/table">
            <a:tbl>
              <a:tblPr firstRow="1" bandRow="1">
                <a:tableStyleId>{5C22544A-7EE6-4342-B048-85BDC9FD1C3A}</a:tableStyleId>
              </a:tblPr>
              <a:tblGrid>
                <a:gridCol w="2457450">
                  <a:extLst>
                    <a:ext uri="{9D8B030D-6E8A-4147-A177-3AD203B41FA5}">
                      <a16:colId xmlns:a16="http://schemas.microsoft.com/office/drawing/2014/main" val="583925624"/>
                    </a:ext>
                  </a:extLst>
                </a:gridCol>
                <a:gridCol w="5905500">
                  <a:extLst>
                    <a:ext uri="{9D8B030D-6E8A-4147-A177-3AD203B41FA5}">
                      <a16:colId xmlns:a16="http://schemas.microsoft.com/office/drawing/2014/main" val="1911108297"/>
                    </a:ext>
                  </a:extLst>
                </a:gridCol>
              </a:tblGrid>
              <a:tr h="294229">
                <a:tc>
                  <a:txBody>
                    <a:bodyPr/>
                    <a:lstStyle/>
                    <a:p>
                      <a:r>
                        <a:rPr lang="en-IN" dirty="0"/>
                        <a:t>Sub-Block</a:t>
                      </a:r>
                    </a:p>
                  </a:txBody>
                  <a:tcPr/>
                </a:tc>
                <a:tc>
                  <a:txBody>
                    <a:bodyPr/>
                    <a:lstStyle/>
                    <a:p>
                      <a:r>
                        <a:rPr lang="en-IN" dirty="0"/>
                        <a:t>Blockchain Integration Role</a:t>
                      </a:r>
                    </a:p>
                  </a:txBody>
                  <a:tcPr/>
                </a:tc>
                <a:extLst>
                  <a:ext uri="{0D108BD9-81ED-4DB2-BD59-A6C34878D82A}">
                    <a16:rowId xmlns:a16="http://schemas.microsoft.com/office/drawing/2014/main" val="3899489886"/>
                  </a:ext>
                </a:extLst>
              </a:tr>
              <a:tr h="338830">
                <a:tc>
                  <a:txBody>
                    <a:bodyPr/>
                    <a:lstStyle/>
                    <a:p>
                      <a:r>
                        <a:rPr lang="en-IN" sz="1400" dirty="0"/>
                        <a:t>Whitelist Hospital</a:t>
                      </a:r>
                    </a:p>
                  </a:txBody>
                  <a:tcPr/>
                </a:tc>
                <a:tc>
                  <a:txBody>
                    <a:bodyPr/>
                    <a:lstStyle/>
                    <a:p>
                      <a:r>
                        <a:rPr lang="en-US" sz="1400" dirty="0"/>
                        <a:t>Access control and permission management</a:t>
                      </a:r>
                      <a:endParaRPr lang="en-IN" sz="1400" dirty="0"/>
                    </a:p>
                  </a:txBody>
                  <a:tcPr/>
                </a:tc>
                <a:extLst>
                  <a:ext uri="{0D108BD9-81ED-4DB2-BD59-A6C34878D82A}">
                    <a16:rowId xmlns:a16="http://schemas.microsoft.com/office/drawing/2014/main" val="4058804899"/>
                  </a:ext>
                </a:extLst>
              </a:tr>
              <a:tr h="338830">
                <a:tc>
                  <a:txBody>
                    <a:bodyPr/>
                    <a:lstStyle/>
                    <a:p>
                      <a:r>
                        <a:rPr lang="en-IN" sz="1400" dirty="0"/>
                        <a:t>Store Model Metadata</a:t>
                      </a:r>
                    </a:p>
                  </a:txBody>
                  <a:tcPr/>
                </a:tc>
                <a:tc>
                  <a:txBody>
                    <a:bodyPr/>
                    <a:lstStyle/>
                    <a:p>
                      <a:r>
                        <a:rPr lang="en-US" sz="1400" dirty="0"/>
                        <a:t>Decentralized registry of model submissions</a:t>
                      </a:r>
                      <a:endParaRPr lang="en-IN" sz="1400" dirty="0"/>
                    </a:p>
                  </a:txBody>
                  <a:tcPr/>
                </a:tc>
                <a:extLst>
                  <a:ext uri="{0D108BD9-81ED-4DB2-BD59-A6C34878D82A}">
                    <a16:rowId xmlns:a16="http://schemas.microsoft.com/office/drawing/2014/main" val="892683011"/>
                  </a:ext>
                </a:extLst>
              </a:tr>
              <a:tr h="245191">
                <a:tc>
                  <a:txBody>
                    <a:bodyPr/>
                    <a:lstStyle/>
                    <a:p>
                      <a:r>
                        <a:rPr lang="en-IN" sz="1400" dirty="0"/>
                        <a:t>Emit Events</a:t>
                      </a:r>
                    </a:p>
                  </a:txBody>
                  <a:tcPr/>
                </a:tc>
                <a:tc>
                  <a:txBody>
                    <a:bodyPr/>
                    <a:lstStyle/>
                    <a:p>
                      <a:r>
                        <a:rPr lang="en-US" sz="1400" dirty="0"/>
                        <a:t>Transparent audit trail of key actions</a:t>
                      </a:r>
                      <a:endParaRPr lang="en-IN" sz="1400" dirty="0"/>
                    </a:p>
                  </a:txBody>
                  <a:tcPr/>
                </a:tc>
                <a:extLst>
                  <a:ext uri="{0D108BD9-81ED-4DB2-BD59-A6C34878D82A}">
                    <a16:rowId xmlns:a16="http://schemas.microsoft.com/office/drawing/2014/main" val="3240724316"/>
                  </a:ext>
                </a:extLst>
              </a:tr>
              <a:tr h="416824">
                <a:tc>
                  <a:txBody>
                    <a:bodyPr/>
                    <a:lstStyle/>
                    <a:p>
                      <a:r>
                        <a:rPr lang="en-IN" sz="1400" dirty="0"/>
                        <a:t>Role Management</a:t>
                      </a:r>
                    </a:p>
                  </a:txBody>
                  <a:tcPr/>
                </a:tc>
                <a:tc>
                  <a:txBody>
                    <a:bodyPr/>
                    <a:lstStyle/>
                    <a:p>
                      <a:r>
                        <a:rPr lang="en-US" sz="1400" dirty="0"/>
                        <a:t>Assignment and enforcement of user/admin vendor rights</a:t>
                      </a:r>
                      <a:endParaRPr lang="en-IN" sz="1400" dirty="0"/>
                    </a:p>
                  </a:txBody>
                  <a:tcPr/>
                </a:tc>
                <a:extLst>
                  <a:ext uri="{0D108BD9-81ED-4DB2-BD59-A6C34878D82A}">
                    <a16:rowId xmlns:a16="http://schemas.microsoft.com/office/drawing/2014/main" val="2042663290"/>
                  </a:ext>
                </a:extLst>
              </a:tr>
              <a:tr h="338830">
                <a:tc>
                  <a:txBody>
                    <a:bodyPr/>
                    <a:lstStyle/>
                    <a:p>
                      <a:r>
                        <a:rPr lang="en-IN" sz="1400" dirty="0"/>
                        <a:t>Log All Transactions</a:t>
                      </a:r>
                    </a:p>
                  </a:txBody>
                  <a:tcPr/>
                </a:tc>
                <a:tc>
                  <a:txBody>
                    <a:bodyPr/>
                    <a:lstStyle/>
                    <a:p>
                      <a:r>
                        <a:rPr lang="en-US" sz="1400" dirty="0"/>
                        <a:t>Immutable, public activity and state logging</a:t>
                      </a:r>
                      <a:endParaRPr lang="en-IN" sz="1400" dirty="0"/>
                    </a:p>
                  </a:txBody>
                  <a:tcPr/>
                </a:tc>
                <a:extLst>
                  <a:ext uri="{0D108BD9-81ED-4DB2-BD59-A6C34878D82A}">
                    <a16:rowId xmlns:a16="http://schemas.microsoft.com/office/drawing/2014/main" val="1427985468"/>
                  </a:ext>
                </a:extLst>
              </a:tr>
              <a:tr h="338830">
                <a:tc>
                  <a:txBody>
                    <a:bodyPr/>
                    <a:lstStyle/>
                    <a:p>
                      <a:r>
                        <a:rPr lang="en-IN" sz="1400" dirty="0"/>
                        <a:t>Verification &amp; Querying</a:t>
                      </a:r>
                    </a:p>
                  </a:txBody>
                  <a:tcPr/>
                </a:tc>
                <a:tc>
                  <a:txBody>
                    <a:bodyPr/>
                    <a:lstStyle/>
                    <a:p>
                      <a:r>
                        <a:rPr lang="en-US" sz="1400" dirty="0"/>
                        <a:t>Public checks for permissions, models, and role status</a:t>
                      </a:r>
                      <a:endParaRPr lang="en-IN" sz="1400" dirty="0"/>
                    </a:p>
                  </a:txBody>
                  <a:tcPr/>
                </a:tc>
                <a:extLst>
                  <a:ext uri="{0D108BD9-81ED-4DB2-BD59-A6C34878D82A}">
                    <a16:rowId xmlns:a16="http://schemas.microsoft.com/office/drawing/2014/main" val="1967593658"/>
                  </a:ext>
                </a:extLst>
              </a:tr>
            </a:tbl>
          </a:graphicData>
        </a:graphic>
      </p:graphicFrame>
    </p:spTree>
    <p:extLst>
      <p:ext uri="{BB962C8B-B14F-4D97-AF65-F5344CB8AC3E}">
        <p14:creationId xmlns:p14="http://schemas.microsoft.com/office/powerpoint/2010/main" val="27689443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616CCC-7A8C-7DAC-538D-D313926EC80D}"/>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8A7B0F21-CE38-97C0-8C8F-80AF08D3F491}"/>
              </a:ext>
            </a:extLst>
          </p:cNvPr>
          <p:cNvPicPr>
            <a:picLocks noChangeAspect="1"/>
          </p:cNvPicPr>
          <p:nvPr/>
        </p:nvPicPr>
        <p:blipFill>
          <a:blip r:embed="rId3"/>
          <a:stretch>
            <a:fillRect/>
          </a:stretch>
        </p:blipFill>
        <p:spPr>
          <a:xfrm>
            <a:off x="0" y="8819"/>
            <a:ext cx="9144000" cy="5143500"/>
          </a:xfrm>
          <a:prstGeom prst="rect">
            <a:avLst/>
          </a:prstGeom>
        </p:spPr>
      </p:pic>
      <p:sp>
        <p:nvSpPr>
          <p:cNvPr id="4" name="Text 0">
            <a:extLst>
              <a:ext uri="{FF2B5EF4-FFF2-40B4-BE49-F238E27FC236}">
                <a16:creationId xmlns:a16="http://schemas.microsoft.com/office/drawing/2014/main" id="{FD6E4CCE-4007-4527-73BC-F779FA3D112C}"/>
              </a:ext>
            </a:extLst>
          </p:cNvPr>
          <p:cNvSpPr/>
          <p:nvPr/>
        </p:nvSpPr>
        <p:spPr>
          <a:xfrm>
            <a:off x="191116" y="82829"/>
            <a:ext cx="8952883" cy="401468"/>
          </a:xfrm>
          <a:prstGeom prst="rect">
            <a:avLst/>
          </a:prstGeom>
          <a:noFill/>
          <a:ln/>
        </p:spPr>
        <p:txBody>
          <a:bodyPr wrap="square" rtlCol="0" anchor="ctr"/>
          <a:lstStyle/>
          <a:p>
            <a:pPr marL="0" indent="0">
              <a:lnSpc>
                <a:spcPts val="3500"/>
              </a:lnSpc>
              <a:buNone/>
            </a:pPr>
            <a:r>
              <a:rPr lang="en-US" sz="2400" b="1" dirty="0">
                <a:solidFill>
                  <a:srgbClr val="17A33E"/>
                </a:solidFill>
                <a:latin typeface="Plus Jakarta Sans" pitchFamily="34" charset="0"/>
                <a:ea typeface="Plus Jakarta Sans" pitchFamily="34" charset="-122"/>
              </a:rPr>
              <a:t>Auditor</a:t>
            </a:r>
            <a:endParaRPr lang="en-US" sz="2400" dirty="0"/>
          </a:p>
        </p:txBody>
      </p:sp>
      <p:sp>
        <p:nvSpPr>
          <p:cNvPr id="3" name="Text 1">
            <a:extLst>
              <a:ext uri="{FF2B5EF4-FFF2-40B4-BE49-F238E27FC236}">
                <a16:creationId xmlns:a16="http://schemas.microsoft.com/office/drawing/2014/main" id="{C6D6CAA3-18A8-7E56-82CB-6EBCB612AFBA}"/>
              </a:ext>
            </a:extLst>
          </p:cNvPr>
          <p:cNvSpPr/>
          <p:nvPr/>
        </p:nvSpPr>
        <p:spPr>
          <a:xfrm>
            <a:off x="76201" y="598191"/>
            <a:ext cx="8952882" cy="4462480"/>
          </a:xfrm>
          <a:prstGeom prst="rect">
            <a:avLst/>
          </a:prstGeom>
          <a:noFill/>
          <a:ln/>
        </p:spPr>
        <p:txBody>
          <a:bodyPr wrap="square" rtlCol="0" anchor="t"/>
          <a:lstStyle/>
          <a:p>
            <a:pPr>
              <a:spcAft>
                <a:spcPts val="1200"/>
              </a:spcAft>
              <a:buSzPct val="100000"/>
            </a:pPr>
            <a:r>
              <a:rPr lang="en-US" sz="1400" b="1" dirty="0"/>
              <a:t>1. Query On-Chain Records</a:t>
            </a:r>
          </a:p>
          <a:p>
            <a:pPr marL="171450" indent="-171450">
              <a:spcAft>
                <a:spcPts val="1200"/>
              </a:spcAft>
              <a:buSzPct val="100000"/>
              <a:buFont typeface="Arial" panose="020B0604020202020204" pitchFamily="34" charset="0"/>
              <a:buChar char="•"/>
            </a:pPr>
            <a:r>
              <a:rPr lang="en-US" sz="1200" b="1" i="1" dirty="0"/>
              <a:t>Purpose</a:t>
            </a:r>
            <a:r>
              <a:rPr lang="en-US" sz="1200" dirty="0"/>
              <a:t>: Allows auditors and other users to access and review the blockchain ledger to examine every approved action.</a:t>
            </a:r>
          </a:p>
          <a:p>
            <a:pPr marL="171450" indent="-171450">
              <a:spcAft>
                <a:spcPts val="1200"/>
              </a:spcAft>
              <a:buSzPct val="100000"/>
              <a:buFont typeface="Arial" panose="020B0604020202020204" pitchFamily="34" charset="0"/>
              <a:buChar char="•"/>
            </a:pPr>
            <a:r>
              <a:rPr lang="en-US" sz="1200" b="1" i="1" dirty="0"/>
              <a:t>Functionality:</a:t>
            </a:r>
          </a:p>
          <a:p>
            <a:pPr marL="628650" lvl="1" indent="-171450">
              <a:spcAft>
                <a:spcPts val="1200"/>
              </a:spcAft>
              <a:buSzPct val="100000"/>
              <a:buFont typeface="Arial" panose="020B0604020202020204" pitchFamily="34" charset="0"/>
              <a:buChar char="•"/>
            </a:pPr>
            <a:r>
              <a:rPr lang="en-US" sz="1200" dirty="0"/>
              <a:t>Retrieve immutable logs of all model uploads (including model name, IPFS hash, and uploader).</a:t>
            </a:r>
          </a:p>
          <a:p>
            <a:pPr marL="628650" lvl="1" indent="-171450">
              <a:spcAft>
                <a:spcPts val="1200"/>
              </a:spcAft>
              <a:buSzPct val="100000"/>
              <a:buFont typeface="Arial" panose="020B0604020202020204" pitchFamily="34" charset="0"/>
              <a:buChar char="•"/>
            </a:pPr>
            <a:r>
              <a:rPr lang="en-US" sz="1200" dirty="0"/>
              <a:t>Track participant whitelisting, removals, and admin actions through events.</a:t>
            </a:r>
          </a:p>
          <a:p>
            <a:pPr marL="628650" lvl="1" indent="-171450">
              <a:spcAft>
                <a:spcPts val="1200"/>
              </a:spcAft>
              <a:buSzPct val="100000"/>
              <a:buFont typeface="Arial" panose="020B0604020202020204" pitchFamily="34" charset="0"/>
              <a:buChar char="•"/>
            </a:pPr>
            <a:r>
              <a:rPr lang="en-US" sz="1200" dirty="0"/>
              <a:t>Verify timestamps and sequence of transactions for compliance and auditing.</a:t>
            </a:r>
          </a:p>
          <a:p>
            <a:pPr>
              <a:spcAft>
                <a:spcPts val="1200"/>
              </a:spcAft>
              <a:buSzPct val="100000"/>
            </a:pPr>
            <a:r>
              <a:rPr lang="en-US" sz="1400" b="1" dirty="0"/>
              <a:t>2. Download Model from IPFS</a:t>
            </a:r>
          </a:p>
          <a:p>
            <a:pPr marL="171450" indent="-171450">
              <a:spcAft>
                <a:spcPts val="1200"/>
              </a:spcAft>
              <a:buSzPct val="100000"/>
              <a:buFont typeface="Arial" panose="020B0604020202020204" pitchFamily="34" charset="0"/>
              <a:buChar char="•"/>
            </a:pPr>
            <a:r>
              <a:rPr lang="en-US" sz="1200" b="1" i="1" dirty="0"/>
              <a:t>Purpose:</a:t>
            </a:r>
            <a:r>
              <a:rPr lang="en-US" sz="1200" dirty="0"/>
              <a:t> Enables retrieval of the actual machine learning models for evaluation, validation, or research purposes.</a:t>
            </a:r>
          </a:p>
          <a:p>
            <a:pPr marL="171450" indent="-171450">
              <a:lnSpc>
                <a:spcPts val="2000"/>
              </a:lnSpc>
              <a:spcAft>
                <a:spcPts val="1200"/>
              </a:spcAft>
              <a:buSzPct val="100000"/>
              <a:buFont typeface="Arial" panose="020B0604020202020204" pitchFamily="34" charset="0"/>
              <a:buChar char="•"/>
            </a:pPr>
            <a:r>
              <a:rPr lang="en-US" sz="1200" b="1" i="1" dirty="0"/>
              <a:t>Functionality:</a:t>
            </a:r>
          </a:p>
          <a:p>
            <a:pPr marL="628650" lvl="1" indent="-171450">
              <a:lnSpc>
                <a:spcPts val="2000"/>
              </a:lnSpc>
              <a:spcAft>
                <a:spcPts val="1200"/>
              </a:spcAft>
              <a:buSzPct val="100000"/>
              <a:buFont typeface="Arial" panose="020B0604020202020204" pitchFamily="34" charset="0"/>
              <a:buChar char="•"/>
            </a:pPr>
            <a:r>
              <a:rPr lang="en-US" sz="1200" dirty="0"/>
              <a:t>Uses publicly stored IPFS hashes (from blockchain registry) to fetch model binaries directly from decentralized storage.</a:t>
            </a:r>
          </a:p>
          <a:p>
            <a:pPr marL="628650" lvl="1" indent="-171450">
              <a:lnSpc>
                <a:spcPts val="2000"/>
              </a:lnSpc>
              <a:spcAft>
                <a:spcPts val="1200"/>
              </a:spcAft>
              <a:buSzPct val="100000"/>
              <a:buFont typeface="Arial" panose="020B0604020202020204" pitchFamily="34" charset="0"/>
              <a:buChar char="•"/>
            </a:pPr>
            <a:r>
              <a:rPr lang="en-US" sz="1200" dirty="0"/>
              <a:t>Can cross-check that the on-chain hash matches the file content, validating authenticity.</a:t>
            </a:r>
          </a:p>
        </p:txBody>
      </p:sp>
    </p:spTree>
    <p:extLst>
      <p:ext uri="{BB962C8B-B14F-4D97-AF65-F5344CB8AC3E}">
        <p14:creationId xmlns:p14="http://schemas.microsoft.com/office/powerpoint/2010/main" val="30362893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EEDE0E-3419-67B9-AFBA-CD2FFB265FEB}"/>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D1BE45B3-B9DD-F519-EFDC-467A3771C104}"/>
              </a:ext>
            </a:extLst>
          </p:cNvPr>
          <p:cNvPicPr>
            <a:picLocks noChangeAspect="1"/>
          </p:cNvPicPr>
          <p:nvPr/>
        </p:nvPicPr>
        <p:blipFill>
          <a:blip r:embed="rId3"/>
          <a:stretch>
            <a:fillRect/>
          </a:stretch>
        </p:blipFill>
        <p:spPr>
          <a:xfrm>
            <a:off x="0" y="8819"/>
            <a:ext cx="9144000" cy="5143500"/>
          </a:xfrm>
          <a:prstGeom prst="rect">
            <a:avLst/>
          </a:prstGeom>
        </p:spPr>
      </p:pic>
      <p:sp>
        <p:nvSpPr>
          <p:cNvPr id="4" name="Text 0">
            <a:extLst>
              <a:ext uri="{FF2B5EF4-FFF2-40B4-BE49-F238E27FC236}">
                <a16:creationId xmlns:a16="http://schemas.microsoft.com/office/drawing/2014/main" id="{EF5C6C30-BE78-04D5-4D5E-8EC1302D32C3}"/>
              </a:ext>
            </a:extLst>
          </p:cNvPr>
          <p:cNvSpPr/>
          <p:nvPr/>
        </p:nvSpPr>
        <p:spPr>
          <a:xfrm>
            <a:off x="0" y="82829"/>
            <a:ext cx="9144000" cy="401468"/>
          </a:xfrm>
          <a:prstGeom prst="rect">
            <a:avLst/>
          </a:prstGeom>
          <a:noFill/>
          <a:ln/>
        </p:spPr>
        <p:txBody>
          <a:bodyPr wrap="square" rtlCol="0" anchor="ctr"/>
          <a:lstStyle/>
          <a:p>
            <a:pPr marL="0" indent="0">
              <a:lnSpc>
                <a:spcPts val="3500"/>
              </a:lnSpc>
              <a:buNone/>
            </a:pPr>
            <a:r>
              <a:rPr lang="en-US" sz="2400" b="1" dirty="0">
                <a:solidFill>
                  <a:srgbClr val="17A33E"/>
                </a:solidFill>
                <a:latin typeface="Plus Jakarta Sans" pitchFamily="34" charset="0"/>
                <a:ea typeface="Plus Jakarta Sans" pitchFamily="34" charset="-122"/>
              </a:rPr>
              <a:t>Blockchain Data Flow</a:t>
            </a:r>
            <a:endParaRPr lang="en-US" sz="2400" dirty="0"/>
          </a:p>
        </p:txBody>
      </p:sp>
      <p:pic>
        <p:nvPicPr>
          <p:cNvPr id="6" name="Picture 5">
            <a:extLst>
              <a:ext uri="{FF2B5EF4-FFF2-40B4-BE49-F238E27FC236}">
                <a16:creationId xmlns:a16="http://schemas.microsoft.com/office/drawing/2014/main" id="{02E1F6FC-0C6A-BBA4-6AEF-2FAB5BF398D4}"/>
              </a:ext>
            </a:extLst>
          </p:cNvPr>
          <p:cNvPicPr>
            <a:picLocks noChangeAspect="1"/>
          </p:cNvPicPr>
          <p:nvPr/>
        </p:nvPicPr>
        <p:blipFill>
          <a:blip r:embed="rId4"/>
          <a:stretch>
            <a:fillRect/>
          </a:stretch>
        </p:blipFill>
        <p:spPr>
          <a:xfrm>
            <a:off x="219074" y="1194718"/>
            <a:ext cx="8572501" cy="2754063"/>
          </a:xfrm>
          <a:prstGeom prst="rect">
            <a:avLst/>
          </a:prstGeom>
        </p:spPr>
      </p:pic>
    </p:spTree>
    <p:extLst>
      <p:ext uri="{BB962C8B-B14F-4D97-AF65-F5344CB8AC3E}">
        <p14:creationId xmlns:p14="http://schemas.microsoft.com/office/powerpoint/2010/main" val="36064905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64706F-8543-2ACE-CE4E-7CD4D4230164}"/>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04D78067-D186-534D-F830-21CA31BFA7C1}"/>
              </a:ext>
            </a:extLst>
          </p:cNvPr>
          <p:cNvPicPr>
            <a:picLocks noChangeAspect="1"/>
          </p:cNvPicPr>
          <p:nvPr/>
        </p:nvPicPr>
        <p:blipFill>
          <a:blip r:embed="rId3"/>
          <a:stretch>
            <a:fillRect/>
          </a:stretch>
        </p:blipFill>
        <p:spPr>
          <a:xfrm>
            <a:off x="0" y="8819"/>
            <a:ext cx="9144000" cy="5143500"/>
          </a:xfrm>
          <a:prstGeom prst="rect">
            <a:avLst/>
          </a:prstGeom>
        </p:spPr>
      </p:pic>
      <p:sp>
        <p:nvSpPr>
          <p:cNvPr id="4" name="Text 0">
            <a:extLst>
              <a:ext uri="{FF2B5EF4-FFF2-40B4-BE49-F238E27FC236}">
                <a16:creationId xmlns:a16="http://schemas.microsoft.com/office/drawing/2014/main" id="{3593E553-23F8-C38E-276E-BD2464A77484}"/>
              </a:ext>
            </a:extLst>
          </p:cNvPr>
          <p:cNvSpPr/>
          <p:nvPr/>
        </p:nvSpPr>
        <p:spPr>
          <a:xfrm>
            <a:off x="0" y="82829"/>
            <a:ext cx="9144000" cy="401468"/>
          </a:xfrm>
          <a:prstGeom prst="rect">
            <a:avLst/>
          </a:prstGeom>
          <a:noFill/>
          <a:ln/>
        </p:spPr>
        <p:txBody>
          <a:bodyPr wrap="square" rtlCol="0" anchor="ctr"/>
          <a:lstStyle/>
          <a:p>
            <a:pPr>
              <a:lnSpc>
                <a:spcPts val="3500"/>
              </a:lnSpc>
            </a:pPr>
            <a:r>
              <a:rPr lang="en-US" sz="2400" b="1" dirty="0">
                <a:solidFill>
                  <a:srgbClr val="17A33E"/>
                </a:solidFill>
                <a:latin typeface="Plus Jakarta Sans" pitchFamily="34" charset="0"/>
                <a:ea typeface="Plus Jakarta Sans" pitchFamily="34" charset="-122"/>
              </a:rPr>
              <a:t>IPFS – Inter Planetary File System</a:t>
            </a:r>
            <a:endParaRPr lang="en-US" sz="2400" dirty="0"/>
          </a:p>
        </p:txBody>
      </p:sp>
      <p:sp>
        <p:nvSpPr>
          <p:cNvPr id="3" name="Text 1">
            <a:extLst>
              <a:ext uri="{FF2B5EF4-FFF2-40B4-BE49-F238E27FC236}">
                <a16:creationId xmlns:a16="http://schemas.microsoft.com/office/drawing/2014/main" id="{3072883A-CA97-0ECA-52EF-F725B7FFDA31}"/>
              </a:ext>
            </a:extLst>
          </p:cNvPr>
          <p:cNvSpPr/>
          <p:nvPr/>
        </p:nvSpPr>
        <p:spPr>
          <a:xfrm>
            <a:off x="76201" y="312440"/>
            <a:ext cx="8952882" cy="4698415"/>
          </a:xfrm>
          <a:prstGeom prst="rect">
            <a:avLst/>
          </a:prstGeom>
          <a:noFill/>
          <a:ln/>
        </p:spPr>
        <p:txBody>
          <a:bodyPr wrap="square" rtlCol="0" anchor="t"/>
          <a:lstStyle/>
          <a:p>
            <a:pPr>
              <a:lnSpc>
                <a:spcPct val="200000"/>
              </a:lnSpc>
            </a:pPr>
            <a:r>
              <a:rPr lang="en-US" sz="1200" b="1" dirty="0"/>
              <a:t>It is a </a:t>
            </a:r>
            <a:r>
              <a:rPr lang="en-IN" sz="1200" b="1" dirty="0"/>
              <a:t>peer-to-peer, content-addressed protocol and network designed to create a decentralized, resilient, and verifiable file storage and sharing system.</a:t>
            </a:r>
          </a:p>
          <a:p>
            <a:pPr>
              <a:lnSpc>
                <a:spcPct val="200000"/>
              </a:lnSpc>
            </a:pPr>
            <a:r>
              <a:rPr lang="en-IN" sz="1200" b="1" dirty="0"/>
              <a:t>Content Addressing and CIDs</a:t>
            </a:r>
          </a:p>
          <a:p>
            <a:pPr marL="171450" indent="-171450">
              <a:lnSpc>
                <a:spcPct val="200000"/>
              </a:lnSpc>
              <a:buFont typeface="Arial" panose="020B0604020202020204" pitchFamily="34" charset="0"/>
              <a:buChar char="•"/>
            </a:pPr>
            <a:r>
              <a:rPr lang="en-IN" sz="1200" dirty="0"/>
              <a:t>Traditional web protocols (HTTP/HTTPS) use location-based addressing, where a URL points to a specific server and path. </a:t>
            </a:r>
          </a:p>
          <a:p>
            <a:pPr marL="171450" indent="-171450">
              <a:lnSpc>
                <a:spcPct val="200000"/>
              </a:lnSpc>
              <a:buFont typeface="Arial" panose="020B0604020202020204" pitchFamily="34" charset="0"/>
              <a:buChar char="•"/>
            </a:pPr>
            <a:r>
              <a:rPr lang="en-IN" sz="1200" dirty="0"/>
              <a:t>IPFS uses content-based addressing: each file (or data “object”) is cryptographically hashed to produce a </a:t>
            </a:r>
            <a:r>
              <a:rPr lang="en-IN" sz="1200" b="1" dirty="0"/>
              <a:t>Content Identifier (CID).</a:t>
            </a:r>
          </a:p>
          <a:p>
            <a:pPr marL="171450" indent="-171450" fontAlgn="ctr">
              <a:lnSpc>
                <a:spcPct val="200000"/>
              </a:lnSpc>
              <a:buFont typeface="Arial" panose="020B0604020202020204" pitchFamily="34" charset="0"/>
              <a:buChar char="•"/>
            </a:pPr>
            <a:r>
              <a:rPr lang="en-IN" sz="1200" dirty="0"/>
              <a:t>The CID uniquely represents the file’s content: any change in the file yields a new CID.</a:t>
            </a:r>
          </a:p>
          <a:p>
            <a:pPr marL="171450" indent="-171450" fontAlgn="ctr">
              <a:lnSpc>
                <a:spcPct val="200000"/>
              </a:lnSpc>
              <a:buFont typeface="Arial" panose="020B0604020202020204" pitchFamily="34" charset="0"/>
              <a:buChar char="•"/>
            </a:pPr>
            <a:r>
              <a:rPr lang="en-IN" sz="1200" dirty="0"/>
              <a:t>To retrieve data, peers query the network for the CID instead of a URL.</a:t>
            </a:r>
          </a:p>
          <a:p>
            <a:pPr>
              <a:lnSpc>
                <a:spcPct val="200000"/>
              </a:lnSpc>
            </a:pPr>
            <a:r>
              <a:rPr lang="en-IN" sz="1200" b="1" dirty="0"/>
              <a:t>Data Chunking and Merkle DAG</a:t>
            </a:r>
          </a:p>
          <a:p>
            <a:pPr marL="171450" indent="-171450">
              <a:lnSpc>
                <a:spcPct val="200000"/>
              </a:lnSpc>
              <a:buFont typeface="Arial" panose="020B0604020202020204" pitchFamily="34" charset="0"/>
              <a:buChar char="•"/>
            </a:pPr>
            <a:r>
              <a:rPr lang="en-IN" sz="1200" dirty="0"/>
              <a:t>When a file is added to IPFS:</a:t>
            </a:r>
          </a:p>
          <a:p>
            <a:pPr marL="628650" lvl="1" indent="-171450" fontAlgn="ctr">
              <a:lnSpc>
                <a:spcPct val="200000"/>
              </a:lnSpc>
              <a:buFont typeface="Arial" panose="020B0604020202020204" pitchFamily="34" charset="0"/>
              <a:buChar char="•"/>
            </a:pPr>
            <a:r>
              <a:rPr lang="en-IN" sz="1200" dirty="0"/>
              <a:t>It is split into fixed-size blocks.</a:t>
            </a:r>
          </a:p>
          <a:p>
            <a:pPr marL="628650" lvl="1" indent="-171450" fontAlgn="ctr">
              <a:lnSpc>
                <a:spcPct val="200000"/>
              </a:lnSpc>
              <a:buFont typeface="Arial" panose="020B0604020202020204" pitchFamily="34" charset="0"/>
              <a:buChar char="•"/>
            </a:pPr>
            <a:r>
              <a:rPr lang="en-IN" sz="1200" dirty="0"/>
              <a:t>Each block is hashed, producing its own CID.</a:t>
            </a:r>
          </a:p>
          <a:p>
            <a:pPr marL="628650" lvl="1" indent="-171450" fontAlgn="ctr">
              <a:lnSpc>
                <a:spcPct val="200000"/>
              </a:lnSpc>
              <a:buFont typeface="Arial" panose="020B0604020202020204" pitchFamily="34" charset="0"/>
              <a:buChar char="•"/>
            </a:pPr>
            <a:r>
              <a:rPr lang="en-IN" sz="1200" dirty="0"/>
              <a:t>Blocks are organized into a </a:t>
            </a:r>
            <a:r>
              <a:rPr lang="en-IN" sz="1200" b="1" dirty="0"/>
              <a:t>Merkle Directed Acyclic Graph (DAG)</a:t>
            </a:r>
            <a:r>
              <a:rPr lang="en-IN" sz="1200" dirty="0"/>
              <a:t>, enabling efficient versioning, deduplication, and integrity verification.</a:t>
            </a:r>
          </a:p>
          <a:p>
            <a:pPr marL="171450" indent="-171450">
              <a:spcAft>
                <a:spcPts val="1200"/>
              </a:spcAft>
              <a:buSzPct val="100000"/>
              <a:buFont typeface="Arial" panose="020B0604020202020204" pitchFamily="34" charset="0"/>
              <a:buChar char="•"/>
            </a:pPr>
            <a:endParaRPr lang="en-US" sz="1200" dirty="0"/>
          </a:p>
        </p:txBody>
      </p:sp>
    </p:spTree>
    <p:extLst>
      <p:ext uri="{BB962C8B-B14F-4D97-AF65-F5344CB8AC3E}">
        <p14:creationId xmlns:p14="http://schemas.microsoft.com/office/powerpoint/2010/main" val="31698707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BBBE00-1778-2160-7C6C-F846F4F07673}"/>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DB12BA5D-20A9-4992-EAFC-BAF5F96D9C7F}"/>
              </a:ext>
            </a:extLst>
          </p:cNvPr>
          <p:cNvPicPr>
            <a:picLocks noChangeAspect="1"/>
          </p:cNvPicPr>
          <p:nvPr/>
        </p:nvPicPr>
        <p:blipFill>
          <a:blip r:embed="rId3"/>
          <a:stretch>
            <a:fillRect/>
          </a:stretch>
        </p:blipFill>
        <p:spPr>
          <a:xfrm>
            <a:off x="0" y="8819"/>
            <a:ext cx="9144000" cy="5143500"/>
          </a:xfrm>
          <a:prstGeom prst="rect">
            <a:avLst/>
          </a:prstGeom>
        </p:spPr>
      </p:pic>
      <p:sp>
        <p:nvSpPr>
          <p:cNvPr id="4" name="Text 0">
            <a:extLst>
              <a:ext uri="{FF2B5EF4-FFF2-40B4-BE49-F238E27FC236}">
                <a16:creationId xmlns:a16="http://schemas.microsoft.com/office/drawing/2014/main" id="{C309C64D-3BFA-6714-49E9-9037C493E2BB}"/>
              </a:ext>
            </a:extLst>
          </p:cNvPr>
          <p:cNvSpPr/>
          <p:nvPr/>
        </p:nvSpPr>
        <p:spPr>
          <a:xfrm>
            <a:off x="0" y="82829"/>
            <a:ext cx="9144000" cy="401468"/>
          </a:xfrm>
          <a:prstGeom prst="rect">
            <a:avLst/>
          </a:prstGeom>
          <a:noFill/>
          <a:ln/>
        </p:spPr>
        <p:txBody>
          <a:bodyPr wrap="square" rtlCol="0" anchor="ctr"/>
          <a:lstStyle/>
          <a:p>
            <a:pPr>
              <a:lnSpc>
                <a:spcPts val="3500"/>
              </a:lnSpc>
            </a:pPr>
            <a:r>
              <a:rPr lang="en-US" sz="2400" b="1" dirty="0">
                <a:solidFill>
                  <a:srgbClr val="17A33E"/>
                </a:solidFill>
                <a:latin typeface="Plus Jakarta Sans" pitchFamily="34" charset="0"/>
                <a:ea typeface="Plus Jakarta Sans" pitchFamily="34" charset="-122"/>
              </a:rPr>
              <a:t>IPFS - </a:t>
            </a:r>
            <a:r>
              <a:rPr lang="en-US" sz="2400" b="1" dirty="0" err="1">
                <a:solidFill>
                  <a:srgbClr val="17A33E"/>
                </a:solidFill>
                <a:latin typeface="Plus Jakarta Sans" pitchFamily="34" charset="0"/>
                <a:ea typeface="Plus Jakarta Sans" pitchFamily="34" charset="-122"/>
              </a:rPr>
              <a:t>InterPlanetary</a:t>
            </a:r>
            <a:r>
              <a:rPr lang="en-US" sz="2400" b="1" dirty="0">
                <a:solidFill>
                  <a:srgbClr val="17A33E"/>
                </a:solidFill>
                <a:latin typeface="Plus Jakarta Sans" pitchFamily="34" charset="0"/>
                <a:ea typeface="Plus Jakarta Sans" pitchFamily="34" charset="-122"/>
              </a:rPr>
              <a:t> File System</a:t>
            </a:r>
            <a:endParaRPr lang="en-US" sz="2400" dirty="0"/>
          </a:p>
        </p:txBody>
      </p:sp>
      <p:sp>
        <p:nvSpPr>
          <p:cNvPr id="3" name="Text 1">
            <a:extLst>
              <a:ext uri="{FF2B5EF4-FFF2-40B4-BE49-F238E27FC236}">
                <a16:creationId xmlns:a16="http://schemas.microsoft.com/office/drawing/2014/main" id="{3024FB0E-4B5A-F670-00E7-E1DBDCF33E5A}"/>
              </a:ext>
            </a:extLst>
          </p:cNvPr>
          <p:cNvSpPr/>
          <p:nvPr/>
        </p:nvSpPr>
        <p:spPr>
          <a:xfrm>
            <a:off x="76201" y="598191"/>
            <a:ext cx="8952882" cy="4462480"/>
          </a:xfrm>
          <a:prstGeom prst="rect">
            <a:avLst/>
          </a:prstGeom>
          <a:noFill/>
          <a:ln/>
        </p:spPr>
        <p:txBody>
          <a:bodyPr wrap="square" rtlCol="0" anchor="t"/>
          <a:lstStyle/>
          <a:p>
            <a:pPr>
              <a:lnSpc>
                <a:spcPct val="200000"/>
              </a:lnSpc>
            </a:pPr>
            <a:r>
              <a:rPr lang="en-IN" sz="1200" b="1" dirty="0"/>
              <a:t>Distributed Hash Table (DHT)</a:t>
            </a:r>
          </a:p>
          <a:p>
            <a:pPr marL="171450" indent="-171450">
              <a:lnSpc>
                <a:spcPct val="200000"/>
              </a:lnSpc>
              <a:buFont typeface="Arial" panose="020B0604020202020204" pitchFamily="34" charset="0"/>
              <a:buChar char="•"/>
            </a:pPr>
            <a:r>
              <a:rPr lang="en-IN" sz="1200" dirty="0"/>
              <a:t>IPFS nodes form a peer-to-peer network. A Distributed Hash Table (DHT) maps CIDs to the addresses of nodes storing the corresponding blocks.</a:t>
            </a:r>
          </a:p>
          <a:p>
            <a:pPr marL="171450" indent="-171450" fontAlgn="ctr">
              <a:lnSpc>
                <a:spcPct val="200000"/>
              </a:lnSpc>
              <a:buFont typeface="Arial" panose="020B0604020202020204" pitchFamily="34" charset="0"/>
              <a:buChar char="•"/>
            </a:pPr>
            <a:r>
              <a:rPr lang="en-IN" sz="1200" dirty="0"/>
              <a:t>To fetch a CID, a node locates peers advertising that CID in the DHT, then downloads blocks in parallel from multiple sources.</a:t>
            </a:r>
          </a:p>
          <a:p>
            <a:pPr>
              <a:lnSpc>
                <a:spcPct val="200000"/>
              </a:lnSpc>
            </a:pPr>
            <a:r>
              <a:rPr lang="en-IN" sz="1200" b="1" dirty="0"/>
              <a:t>Benefits of IPFS</a:t>
            </a:r>
          </a:p>
          <a:p>
            <a:pPr marL="171450" indent="-171450" fontAlgn="ctr">
              <a:lnSpc>
                <a:spcPct val="200000"/>
              </a:lnSpc>
              <a:buFont typeface="Arial" panose="020B0604020202020204" pitchFamily="34" charset="0"/>
              <a:buChar char="•"/>
            </a:pPr>
            <a:r>
              <a:rPr lang="en-IN" sz="1200" i="1" dirty="0"/>
              <a:t>Decentralization &amp; Resilience</a:t>
            </a:r>
            <a:r>
              <a:rPr lang="en-IN" sz="1200" dirty="0"/>
              <a:t>: Files are served by any node holding the data; no single point of failure or censorship.</a:t>
            </a:r>
          </a:p>
          <a:p>
            <a:pPr marL="171450" indent="-171450" fontAlgn="ctr">
              <a:lnSpc>
                <a:spcPct val="200000"/>
              </a:lnSpc>
              <a:buFont typeface="Arial" panose="020B0604020202020204" pitchFamily="34" charset="0"/>
              <a:buChar char="•"/>
            </a:pPr>
            <a:r>
              <a:rPr lang="en-IN" sz="1200" i="1" dirty="0"/>
              <a:t>Integrity &amp; Immutability</a:t>
            </a:r>
            <a:r>
              <a:rPr lang="en-IN" sz="1200" dirty="0"/>
              <a:t>: Content addressing and Merkle DAG ensure tamper resistance—any alteration breaks the CID chain.</a:t>
            </a:r>
          </a:p>
          <a:p>
            <a:pPr marL="171450" indent="-171450" fontAlgn="ctr">
              <a:lnSpc>
                <a:spcPct val="200000"/>
              </a:lnSpc>
              <a:buFont typeface="Arial" panose="020B0604020202020204" pitchFamily="34" charset="0"/>
              <a:buChar char="•"/>
            </a:pPr>
            <a:r>
              <a:rPr lang="en-IN" sz="1200" i="1" dirty="0"/>
              <a:t>Versioning</a:t>
            </a:r>
            <a:r>
              <a:rPr lang="en-IN" sz="1200" dirty="0"/>
              <a:t>: Merkle DAG inherently tracks historical versions; each update yields a new CID, while preserving links to prior versions.</a:t>
            </a:r>
          </a:p>
          <a:p>
            <a:pPr marL="171450" indent="-171450" fontAlgn="ctr">
              <a:lnSpc>
                <a:spcPct val="200000"/>
              </a:lnSpc>
              <a:buFont typeface="Arial" panose="020B0604020202020204" pitchFamily="34" charset="0"/>
              <a:buChar char="•"/>
            </a:pPr>
            <a:r>
              <a:rPr lang="en-IN" sz="1200" i="1" dirty="0"/>
              <a:t>Efficiency</a:t>
            </a:r>
            <a:r>
              <a:rPr lang="en-IN" sz="1200" dirty="0"/>
              <a:t>: Parallel block downloads from multiple peers accelerate retrieval, and deduplication conserves bandwidth and storage.</a:t>
            </a:r>
          </a:p>
          <a:p>
            <a:pPr>
              <a:spcAft>
                <a:spcPts val="1200"/>
              </a:spcAft>
              <a:buSzPct val="100000"/>
            </a:pPr>
            <a:endParaRPr lang="en-US" sz="1200" dirty="0"/>
          </a:p>
        </p:txBody>
      </p:sp>
    </p:spTree>
    <p:extLst>
      <p:ext uri="{BB962C8B-B14F-4D97-AF65-F5344CB8AC3E}">
        <p14:creationId xmlns:p14="http://schemas.microsoft.com/office/powerpoint/2010/main" val="14610438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4A0010-39A1-340A-F3D2-45FCDCB304E9}"/>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6BD7864D-E698-75EB-3C4C-2380DE5065DD}"/>
              </a:ext>
            </a:extLst>
          </p:cNvPr>
          <p:cNvPicPr>
            <a:picLocks noChangeAspect="1"/>
          </p:cNvPicPr>
          <p:nvPr/>
        </p:nvPicPr>
        <p:blipFill>
          <a:blip r:embed="rId3"/>
          <a:stretch>
            <a:fillRect/>
          </a:stretch>
        </p:blipFill>
        <p:spPr>
          <a:xfrm>
            <a:off x="0" y="8819"/>
            <a:ext cx="9144000" cy="5143500"/>
          </a:xfrm>
          <a:prstGeom prst="rect">
            <a:avLst/>
          </a:prstGeom>
        </p:spPr>
      </p:pic>
      <p:sp>
        <p:nvSpPr>
          <p:cNvPr id="4" name="Text 0">
            <a:extLst>
              <a:ext uri="{FF2B5EF4-FFF2-40B4-BE49-F238E27FC236}">
                <a16:creationId xmlns:a16="http://schemas.microsoft.com/office/drawing/2014/main" id="{8F46B850-4DF8-AF02-CF3A-F98194E61947}"/>
              </a:ext>
            </a:extLst>
          </p:cNvPr>
          <p:cNvSpPr/>
          <p:nvPr/>
        </p:nvSpPr>
        <p:spPr>
          <a:xfrm>
            <a:off x="0" y="82829"/>
            <a:ext cx="9144000" cy="401468"/>
          </a:xfrm>
          <a:prstGeom prst="rect">
            <a:avLst/>
          </a:prstGeom>
          <a:noFill/>
          <a:ln/>
        </p:spPr>
        <p:txBody>
          <a:bodyPr wrap="square" rtlCol="0" anchor="ctr"/>
          <a:lstStyle/>
          <a:p>
            <a:pPr>
              <a:lnSpc>
                <a:spcPts val="3500"/>
              </a:lnSpc>
            </a:pPr>
            <a:r>
              <a:rPr lang="en-US" sz="2400" b="1" dirty="0">
                <a:solidFill>
                  <a:srgbClr val="17A33E"/>
                </a:solidFill>
                <a:latin typeface="Plus Jakarta Sans" pitchFamily="34" charset="0"/>
                <a:ea typeface="Plus Jakarta Sans" pitchFamily="34" charset="-122"/>
              </a:rPr>
              <a:t>IPFS in my work</a:t>
            </a:r>
            <a:endParaRPr lang="en-US" sz="2400" dirty="0"/>
          </a:p>
        </p:txBody>
      </p:sp>
      <p:sp>
        <p:nvSpPr>
          <p:cNvPr id="3" name="Text 1">
            <a:extLst>
              <a:ext uri="{FF2B5EF4-FFF2-40B4-BE49-F238E27FC236}">
                <a16:creationId xmlns:a16="http://schemas.microsoft.com/office/drawing/2014/main" id="{3FE7CCCF-3BC3-2C14-105D-11BB5B7BA360}"/>
              </a:ext>
            </a:extLst>
          </p:cNvPr>
          <p:cNvSpPr/>
          <p:nvPr/>
        </p:nvSpPr>
        <p:spPr>
          <a:xfrm>
            <a:off x="76201" y="463364"/>
            <a:ext cx="7905749" cy="401468"/>
          </a:xfrm>
          <a:prstGeom prst="rect">
            <a:avLst/>
          </a:prstGeom>
          <a:noFill/>
          <a:ln/>
        </p:spPr>
        <p:txBody>
          <a:bodyPr wrap="square" rtlCol="0" anchor="t"/>
          <a:lstStyle/>
          <a:p>
            <a:pPr>
              <a:lnSpc>
                <a:spcPct val="200000"/>
              </a:lnSpc>
            </a:pPr>
            <a:r>
              <a:rPr lang="en-IN" sz="1200" dirty="0"/>
              <a:t>Our work, holds a sophisticated IPFS Integration as follows:</a:t>
            </a:r>
          </a:p>
          <a:p>
            <a:pPr>
              <a:lnSpc>
                <a:spcPct val="200000"/>
              </a:lnSpc>
            </a:pPr>
            <a:endParaRPr lang="en-IN" sz="1200" dirty="0"/>
          </a:p>
          <a:p>
            <a:pPr>
              <a:spcAft>
                <a:spcPts val="1200"/>
              </a:spcAft>
              <a:buSzPct val="100000"/>
            </a:pPr>
            <a:endParaRPr lang="en-US" sz="1200" dirty="0"/>
          </a:p>
        </p:txBody>
      </p:sp>
      <p:graphicFrame>
        <p:nvGraphicFramePr>
          <p:cNvPr id="5" name="Table 4">
            <a:extLst>
              <a:ext uri="{FF2B5EF4-FFF2-40B4-BE49-F238E27FC236}">
                <a16:creationId xmlns:a16="http://schemas.microsoft.com/office/drawing/2014/main" id="{74A867B1-2297-FA07-B2B2-B0695417BA09}"/>
              </a:ext>
            </a:extLst>
          </p:cNvPr>
          <p:cNvGraphicFramePr>
            <a:graphicFrameLocks noGrp="1"/>
          </p:cNvGraphicFramePr>
          <p:nvPr>
            <p:extLst>
              <p:ext uri="{D42A27DB-BD31-4B8C-83A1-F6EECF244321}">
                <p14:modId xmlns:p14="http://schemas.microsoft.com/office/powerpoint/2010/main" val="3474432963"/>
              </p:ext>
            </p:extLst>
          </p:nvPr>
        </p:nvGraphicFramePr>
        <p:xfrm>
          <a:off x="190500" y="1101725"/>
          <a:ext cx="8296275" cy="2225040"/>
        </p:xfrm>
        <a:graphic>
          <a:graphicData uri="http://schemas.openxmlformats.org/drawingml/2006/table">
            <a:tbl>
              <a:tblPr firstRow="1" bandRow="1">
                <a:tableStyleId>{5C22544A-7EE6-4342-B048-85BDC9FD1C3A}</a:tableStyleId>
              </a:tblPr>
              <a:tblGrid>
                <a:gridCol w="2085975">
                  <a:extLst>
                    <a:ext uri="{9D8B030D-6E8A-4147-A177-3AD203B41FA5}">
                      <a16:colId xmlns:a16="http://schemas.microsoft.com/office/drawing/2014/main" val="1286519701"/>
                    </a:ext>
                  </a:extLst>
                </a:gridCol>
                <a:gridCol w="3444875">
                  <a:extLst>
                    <a:ext uri="{9D8B030D-6E8A-4147-A177-3AD203B41FA5}">
                      <a16:colId xmlns:a16="http://schemas.microsoft.com/office/drawing/2014/main" val="3661927334"/>
                    </a:ext>
                  </a:extLst>
                </a:gridCol>
                <a:gridCol w="2765425">
                  <a:extLst>
                    <a:ext uri="{9D8B030D-6E8A-4147-A177-3AD203B41FA5}">
                      <a16:colId xmlns:a16="http://schemas.microsoft.com/office/drawing/2014/main" val="3533197299"/>
                    </a:ext>
                  </a:extLst>
                </a:gridCol>
              </a:tblGrid>
              <a:tr h="370840">
                <a:tc>
                  <a:txBody>
                    <a:bodyPr/>
                    <a:lstStyle/>
                    <a:p>
                      <a:r>
                        <a:rPr lang="en-IN" sz="1400" dirty="0"/>
                        <a:t>Step</a:t>
                      </a:r>
                    </a:p>
                  </a:txBody>
                  <a:tcPr/>
                </a:tc>
                <a:tc>
                  <a:txBody>
                    <a:bodyPr/>
                    <a:lstStyle/>
                    <a:p>
                      <a:r>
                        <a:rPr lang="en-IN" sz="1400" dirty="0"/>
                        <a:t>Process</a:t>
                      </a:r>
                    </a:p>
                  </a:txBody>
                  <a:tcPr/>
                </a:tc>
                <a:tc>
                  <a:txBody>
                    <a:bodyPr/>
                    <a:lstStyle/>
                    <a:p>
                      <a:r>
                        <a:rPr lang="en-IN" sz="1400" dirty="0"/>
                        <a:t>Technology</a:t>
                      </a:r>
                    </a:p>
                  </a:txBody>
                  <a:tcPr/>
                </a:tc>
                <a:extLst>
                  <a:ext uri="{0D108BD9-81ED-4DB2-BD59-A6C34878D82A}">
                    <a16:rowId xmlns:a16="http://schemas.microsoft.com/office/drawing/2014/main" val="319848076"/>
                  </a:ext>
                </a:extLst>
              </a:tr>
              <a:tr h="370840">
                <a:tc>
                  <a:txBody>
                    <a:bodyPr/>
                    <a:lstStyle/>
                    <a:p>
                      <a:r>
                        <a:rPr lang="en-IN" sz="1200" dirty="0"/>
                        <a:t>1. File Upload</a:t>
                      </a:r>
                    </a:p>
                  </a:txBody>
                  <a:tcPr/>
                </a:tc>
                <a:tc>
                  <a:txBody>
                    <a:bodyPr/>
                    <a:lstStyle/>
                    <a:p>
                      <a:r>
                        <a:rPr lang="en-IN" sz="1200" dirty="0"/>
                        <a:t>User Selects AI Model</a:t>
                      </a:r>
                    </a:p>
                  </a:txBody>
                  <a:tcPr/>
                </a:tc>
                <a:tc>
                  <a:txBody>
                    <a:bodyPr/>
                    <a:lstStyle/>
                    <a:p>
                      <a:r>
                        <a:rPr lang="en-IN" sz="1200" dirty="0"/>
                        <a:t>React File Input, Form Data</a:t>
                      </a:r>
                    </a:p>
                  </a:txBody>
                  <a:tcPr/>
                </a:tc>
                <a:extLst>
                  <a:ext uri="{0D108BD9-81ED-4DB2-BD59-A6C34878D82A}">
                    <a16:rowId xmlns:a16="http://schemas.microsoft.com/office/drawing/2014/main" val="2645797"/>
                  </a:ext>
                </a:extLst>
              </a:tr>
              <a:tr h="370840">
                <a:tc>
                  <a:txBody>
                    <a:bodyPr/>
                    <a:lstStyle/>
                    <a:p>
                      <a:r>
                        <a:rPr lang="en-IN" sz="1200" dirty="0"/>
                        <a:t>2. IPFS Storage</a:t>
                      </a:r>
                    </a:p>
                  </a:txBody>
                  <a:tcPr/>
                </a:tc>
                <a:tc>
                  <a:txBody>
                    <a:bodyPr/>
                    <a:lstStyle/>
                    <a:p>
                      <a:r>
                        <a:rPr lang="en-IN" sz="1200" dirty="0"/>
                        <a:t>Upload to Pinata via API</a:t>
                      </a:r>
                    </a:p>
                  </a:txBody>
                  <a:tcPr/>
                </a:tc>
                <a:tc>
                  <a:txBody>
                    <a:bodyPr/>
                    <a:lstStyle/>
                    <a:p>
                      <a:r>
                        <a:rPr lang="en-IN" sz="1200" dirty="0"/>
                        <a:t>Pinata Cloud API, JWT Authentication</a:t>
                      </a:r>
                    </a:p>
                  </a:txBody>
                  <a:tcPr/>
                </a:tc>
                <a:extLst>
                  <a:ext uri="{0D108BD9-81ED-4DB2-BD59-A6C34878D82A}">
                    <a16:rowId xmlns:a16="http://schemas.microsoft.com/office/drawing/2014/main" val="3040962190"/>
                  </a:ext>
                </a:extLst>
              </a:tr>
              <a:tr h="370840">
                <a:tc>
                  <a:txBody>
                    <a:bodyPr/>
                    <a:lstStyle/>
                    <a:p>
                      <a:r>
                        <a:rPr lang="en-IN" sz="1200" dirty="0"/>
                        <a:t>3. Hash Generation</a:t>
                      </a:r>
                    </a:p>
                  </a:txBody>
                  <a:tcPr/>
                </a:tc>
                <a:tc>
                  <a:txBody>
                    <a:bodyPr/>
                    <a:lstStyle/>
                    <a:p>
                      <a:r>
                        <a:rPr lang="en-IN" sz="1200" dirty="0"/>
                        <a:t>IPFS generates unique CID</a:t>
                      </a:r>
                    </a:p>
                  </a:txBody>
                  <a:tcPr/>
                </a:tc>
                <a:tc>
                  <a:txBody>
                    <a:bodyPr/>
                    <a:lstStyle/>
                    <a:p>
                      <a:r>
                        <a:rPr lang="en-IN" sz="1200" dirty="0"/>
                        <a:t>Content Addressing (CID)</a:t>
                      </a:r>
                    </a:p>
                  </a:txBody>
                  <a:tcPr/>
                </a:tc>
                <a:extLst>
                  <a:ext uri="{0D108BD9-81ED-4DB2-BD59-A6C34878D82A}">
                    <a16:rowId xmlns:a16="http://schemas.microsoft.com/office/drawing/2014/main" val="1792253010"/>
                  </a:ext>
                </a:extLst>
              </a:tr>
              <a:tr h="370840">
                <a:tc>
                  <a:txBody>
                    <a:bodyPr/>
                    <a:lstStyle/>
                    <a:p>
                      <a:r>
                        <a:rPr lang="en-IN" sz="1200" dirty="0"/>
                        <a:t>4. Blockchain Storage</a:t>
                      </a:r>
                    </a:p>
                  </a:txBody>
                  <a:tcPr/>
                </a:tc>
                <a:tc>
                  <a:txBody>
                    <a:bodyPr/>
                    <a:lstStyle/>
                    <a:p>
                      <a:r>
                        <a:rPr lang="en-IN" sz="1200" dirty="0"/>
                        <a:t>Store model name and IPFS hash</a:t>
                      </a:r>
                    </a:p>
                  </a:txBody>
                  <a:tcPr/>
                </a:tc>
                <a:tc>
                  <a:txBody>
                    <a:bodyPr/>
                    <a:lstStyle/>
                    <a:p>
                      <a:r>
                        <a:rPr lang="en-IN" sz="1200" dirty="0"/>
                        <a:t>Smart Contract, ether </a:t>
                      </a:r>
                      <a:r>
                        <a:rPr lang="en-IN" sz="1200" dirty="0" err="1"/>
                        <a:t>js</a:t>
                      </a:r>
                      <a:endParaRPr lang="en-IN" sz="1200" dirty="0"/>
                    </a:p>
                  </a:txBody>
                  <a:tcPr/>
                </a:tc>
                <a:extLst>
                  <a:ext uri="{0D108BD9-81ED-4DB2-BD59-A6C34878D82A}">
                    <a16:rowId xmlns:a16="http://schemas.microsoft.com/office/drawing/2014/main" val="1879072352"/>
                  </a:ext>
                </a:extLst>
              </a:tr>
              <a:tr h="370840">
                <a:tc>
                  <a:txBody>
                    <a:bodyPr/>
                    <a:lstStyle/>
                    <a:p>
                      <a:r>
                        <a:rPr lang="en-IN" sz="1200" dirty="0"/>
                        <a:t>5. File Retrieval</a:t>
                      </a:r>
                    </a:p>
                  </a:txBody>
                  <a:tcPr/>
                </a:tc>
                <a:tc>
                  <a:txBody>
                    <a:bodyPr/>
                    <a:lstStyle/>
                    <a:p>
                      <a:r>
                        <a:rPr lang="en-IN" sz="1200" dirty="0"/>
                        <a:t>Download via IPFS Gateway</a:t>
                      </a:r>
                    </a:p>
                  </a:txBody>
                  <a:tcPr/>
                </a:tc>
                <a:tc>
                  <a:txBody>
                    <a:bodyPr/>
                    <a:lstStyle/>
                    <a:p>
                      <a:r>
                        <a:rPr lang="en-IN" sz="1200" dirty="0"/>
                        <a:t>Gateway URL with blob handling</a:t>
                      </a:r>
                    </a:p>
                  </a:txBody>
                  <a:tcPr/>
                </a:tc>
                <a:extLst>
                  <a:ext uri="{0D108BD9-81ED-4DB2-BD59-A6C34878D82A}">
                    <a16:rowId xmlns:a16="http://schemas.microsoft.com/office/drawing/2014/main" val="3529256509"/>
                  </a:ext>
                </a:extLst>
              </a:tr>
            </a:tbl>
          </a:graphicData>
        </a:graphic>
      </p:graphicFrame>
      <p:sp>
        <p:nvSpPr>
          <p:cNvPr id="6" name="Text 1">
            <a:extLst>
              <a:ext uri="{FF2B5EF4-FFF2-40B4-BE49-F238E27FC236}">
                <a16:creationId xmlns:a16="http://schemas.microsoft.com/office/drawing/2014/main" id="{55FE1C5D-3E15-999B-2351-09DBDB46286F}"/>
              </a:ext>
            </a:extLst>
          </p:cNvPr>
          <p:cNvSpPr/>
          <p:nvPr/>
        </p:nvSpPr>
        <p:spPr>
          <a:xfrm>
            <a:off x="190500" y="3435164"/>
            <a:ext cx="7905749" cy="1232086"/>
          </a:xfrm>
          <a:prstGeom prst="rect">
            <a:avLst/>
          </a:prstGeom>
          <a:noFill/>
          <a:ln/>
        </p:spPr>
        <p:txBody>
          <a:bodyPr wrap="square" rtlCol="0" anchor="t"/>
          <a:lstStyle/>
          <a:p>
            <a:r>
              <a:rPr lang="en-US" sz="1200" b="1" dirty="0"/>
              <a:t>The IPFS implementation provides:</a:t>
            </a:r>
          </a:p>
          <a:p>
            <a:endParaRPr lang="en-US" sz="1200" dirty="0"/>
          </a:p>
          <a:p>
            <a:pPr marL="171450" indent="-171450">
              <a:buFont typeface="Arial" panose="020B0604020202020204" pitchFamily="34" charset="0"/>
              <a:buChar char="•"/>
            </a:pPr>
            <a:r>
              <a:rPr lang="en-US" sz="1200" b="1" dirty="0"/>
              <a:t>Decentralized Storage</a:t>
            </a:r>
            <a:r>
              <a:rPr lang="en-US" sz="1200" dirty="0"/>
              <a:t>: Files distributed across IPFS network</a:t>
            </a:r>
          </a:p>
          <a:p>
            <a:pPr marL="171450" indent="-171450">
              <a:buFont typeface="Arial" panose="020B0604020202020204" pitchFamily="34" charset="0"/>
              <a:buChar char="•"/>
            </a:pPr>
            <a:r>
              <a:rPr lang="en-US" sz="1200" b="1" dirty="0"/>
              <a:t>Content Integrity</a:t>
            </a:r>
            <a:r>
              <a:rPr lang="en-US" sz="1200" dirty="0"/>
              <a:t>: Cryptographic hashing ensures file authenticity</a:t>
            </a:r>
          </a:p>
          <a:p>
            <a:pPr marL="171450" indent="-171450">
              <a:buFont typeface="Arial" panose="020B0604020202020204" pitchFamily="34" charset="0"/>
              <a:buChar char="•"/>
            </a:pPr>
            <a:r>
              <a:rPr lang="en-US" sz="1200" b="1" dirty="0"/>
              <a:t>Cost Efficiency</a:t>
            </a:r>
            <a:r>
              <a:rPr lang="en-US" sz="1200" dirty="0"/>
              <a:t>: Only hash stored on-chain, reducing blockchain storage costs</a:t>
            </a:r>
          </a:p>
          <a:p>
            <a:pPr marL="171450" indent="-171450">
              <a:buFont typeface="Arial" panose="020B0604020202020204" pitchFamily="34" charset="0"/>
              <a:buChar char="•"/>
            </a:pPr>
            <a:r>
              <a:rPr lang="en-US" sz="1200" b="1" dirty="0"/>
              <a:t>Availability</a:t>
            </a:r>
            <a:r>
              <a:rPr lang="en-US" sz="1200" dirty="0"/>
              <a:t>: Files accessible as long as pinned on IPFS nodes</a:t>
            </a:r>
          </a:p>
        </p:txBody>
      </p:sp>
    </p:spTree>
    <p:extLst>
      <p:ext uri="{BB962C8B-B14F-4D97-AF65-F5344CB8AC3E}">
        <p14:creationId xmlns:p14="http://schemas.microsoft.com/office/powerpoint/2010/main" val="23270764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BBA4A9-6B52-B9CF-6ECC-A534EBEDCA76}"/>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9C6B5BDA-1D38-41A8-4F35-541D2F6C0CB6}"/>
              </a:ext>
            </a:extLst>
          </p:cNvPr>
          <p:cNvPicPr>
            <a:picLocks noChangeAspect="1"/>
          </p:cNvPicPr>
          <p:nvPr/>
        </p:nvPicPr>
        <p:blipFill>
          <a:blip r:embed="rId3"/>
          <a:stretch>
            <a:fillRect/>
          </a:stretch>
        </p:blipFill>
        <p:spPr>
          <a:xfrm>
            <a:off x="0" y="8819"/>
            <a:ext cx="9144000" cy="5143500"/>
          </a:xfrm>
          <a:prstGeom prst="rect">
            <a:avLst/>
          </a:prstGeom>
        </p:spPr>
      </p:pic>
      <p:sp>
        <p:nvSpPr>
          <p:cNvPr id="4" name="Text 0">
            <a:extLst>
              <a:ext uri="{FF2B5EF4-FFF2-40B4-BE49-F238E27FC236}">
                <a16:creationId xmlns:a16="http://schemas.microsoft.com/office/drawing/2014/main" id="{80EC0011-7344-8DDD-2F4A-907DB17A13CD}"/>
              </a:ext>
            </a:extLst>
          </p:cNvPr>
          <p:cNvSpPr/>
          <p:nvPr/>
        </p:nvSpPr>
        <p:spPr>
          <a:xfrm>
            <a:off x="0" y="82829"/>
            <a:ext cx="9144000" cy="401468"/>
          </a:xfrm>
          <a:prstGeom prst="rect">
            <a:avLst/>
          </a:prstGeom>
          <a:noFill/>
          <a:ln/>
        </p:spPr>
        <p:txBody>
          <a:bodyPr wrap="square" rtlCol="0" anchor="ctr"/>
          <a:lstStyle/>
          <a:p>
            <a:pPr marL="0" indent="0">
              <a:lnSpc>
                <a:spcPts val="3500"/>
              </a:lnSpc>
              <a:buNone/>
            </a:pPr>
            <a:r>
              <a:rPr lang="en-US" sz="2400" b="1" dirty="0">
                <a:solidFill>
                  <a:srgbClr val="17A33E"/>
                </a:solidFill>
                <a:latin typeface="Plus Jakarta Sans" pitchFamily="34" charset="0"/>
                <a:ea typeface="Plus Jakarta Sans" pitchFamily="34" charset="-122"/>
              </a:rPr>
              <a:t>Consensus Algorithm</a:t>
            </a:r>
            <a:endParaRPr lang="en-US" sz="2400" dirty="0"/>
          </a:p>
        </p:txBody>
      </p:sp>
      <p:sp>
        <p:nvSpPr>
          <p:cNvPr id="5" name="Text 0">
            <a:extLst>
              <a:ext uri="{FF2B5EF4-FFF2-40B4-BE49-F238E27FC236}">
                <a16:creationId xmlns:a16="http://schemas.microsoft.com/office/drawing/2014/main" id="{F8A178DD-DBA2-4EAC-71E2-1EAAFB0C8BD7}"/>
              </a:ext>
            </a:extLst>
          </p:cNvPr>
          <p:cNvSpPr/>
          <p:nvPr/>
        </p:nvSpPr>
        <p:spPr>
          <a:xfrm>
            <a:off x="152400" y="235229"/>
            <a:ext cx="9144000" cy="401468"/>
          </a:xfrm>
          <a:prstGeom prst="rect">
            <a:avLst/>
          </a:prstGeom>
          <a:noFill/>
          <a:ln/>
        </p:spPr>
        <p:txBody>
          <a:bodyPr wrap="square" rtlCol="0" anchor="ctr"/>
          <a:lstStyle/>
          <a:p>
            <a:pPr marL="0" indent="0">
              <a:lnSpc>
                <a:spcPts val="3500"/>
              </a:lnSpc>
              <a:buNone/>
            </a:pPr>
            <a:endParaRPr lang="en-US" sz="2400" dirty="0"/>
          </a:p>
        </p:txBody>
      </p:sp>
      <p:sp>
        <p:nvSpPr>
          <p:cNvPr id="3" name="Text 1">
            <a:extLst>
              <a:ext uri="{FF2B5EF4-FFF2-40B4-BE49-F238E27FC236}">
                <a16:creationId xmlns:a16="http://schemas.microsoft.com/office/drawing/2014/main" id="{F005242C-77DA-2857-EFC0-C809AEAF9C12}"/>
              </a:ext>
            </a:extLst>
          </p:cNvPr>
          <p:cNvSpPr/>
          <p:nvPr/>
        </p:nvSpPr>
        <p:spPr>
          <a:xfrm>
            <a:off x="76201" y="484297"/>
            <a:ext cx="8952882" cy="734903"/>
          </a:xfrm>
          <a:prstGeom prst="rect">
            <a:avLst/>
          </a:prstGeom>
          <a:noFill/>
          <a:ln/>
        </p:spPr>
        <p:txBody>
          <a:bodyPr wrap="square" rtlCol="0" anchor="t"/>
          <a:lstStyle/>
          <a:p>
            <a:r>
              <a:rPr lang="en-US" sz="1200" dirty="0"/>
              <a:t>A consensus algorithm is a protocol used by distributed systems and blockchains to ensure that all network participants (nodes) agree on a single, valid version of the system's data—despite the presence of failures or malicious actors. Its primary function is to maintain integrity, prevent double spending, and enable decentralized trust.</a:t>
            </a:r>
          </a:p>
        </p:txBody>
      </p:sp>
      <p:sp>
        <p:nvSpPr>
          <p:cNvPr id="6" name="Text 0">
            <a:extLst>
              <a:ext uri="{FF2B5EF4-FFF2-40B4-BE49-F238E27FC236}">
                <a16:creationId xmlns:a16="http://schemas.microsoft.com/office/drawing/2014/main" id="{E017BB10-A331-E495-1AB5-F2ECD85BB0D5}"/>
              </a:ext>
            </a:extLst>
          </p:cNvPr>
          <p:cNvSpPr/>
          <p:nvPr/>
        </p:nvSpPr>
        <p:spPr>
          <a:xfrm>
            <a:off x="0" y="1066800"/>
            <a:ext cx="9144000" cy="401468"/>
          </a:xfrm>
          <a:prstGeom prst="rect">
            <a:avLst/>
          </a:prstGeom>
          <a:noFill/>
          <a:ln/>
        </p:spPr>
        <p:txBody>
          <a:bodyPr wrap="square" rtlCol="0" anchor="ctr"/>
          <a:lstStyle/>
          <a:p>
            <a:pPr>
              <a:lnSpc>
                <a:spcPts val="3500"/>
              </a:lnSpc>
            </a:pPr>
            <a:r>
              <a:rPr lang="en-US" sz="2400" b="1" dirty="0">
                <a:solidFill>
                  <a:srgbClr val="17A33E"/>
                </a:solidFill>
                <a:latin typeface="Plus Jakarta Sans" pitchFamily="34" charset="0"/>
                <a:ea typeface="Plus Jakarta Sans" pitchFamily="34" charset="-122"/>
              </a:rPr>
              <a:t>Why Is Consensus Essential?</a:t>
            </a:r>
          </a:p>
        </p:txBody>
      </p:sp>
      <p:sp>
        <p:nvSpPr>
          <p:cNvPr id="7" name="Text 1">
            <a:extLst>
              <a:ext uri="{FF2B5EF4-FFF2-40B4-BE49-F238E27FC236}">
                <a16:creationId xmlns:a16="http://schemas.microsoft.com/office/drawing/2014/main" id="{A1D547D3-8109-37C7-6029-2313891CE6BD}"/>
              </a:ext>
            </a:extLst>
          </p:cNvPr>
          <p:cNvSpPr/>
          <p:nvPr/>
        </p:nvSpPr>
        <p:spPr>
          <a:xfrm>
            <a:off x="95559" y="1530919"/>
            <a:ext cx="8952882" cy="1040831"/>
          </a:xfrm>
          <a:prstGeom prst="rect">
            <a:avLst/>
          </a:prstGeom>
          <a:noFill/>
          <a:ln/>
        </p:spPr>
        <p:txBody>
          <a:bodyPr wrap="square" rtlCol="0" anchor="t"/>
          <a:lstStyle/>
          <a:p>
            <a:r>
              <a:rPr lang="en-US" sz="1200" dirty="0"/>
              <a:t>• Agreement: Ensures all nodes record the same transactions and data.</a:t>
            </a:r>
          </a:p>
          <a:p>
            <a:r>
              <a:rPr lang="en-US" sz="1200" dirty="0"/>
              <a:t>• Security: Protects against fraud, conflicting records, and attacks.</a:t>
            </a:r>
          </a:p>
          <a:p>
            <a:r>
              <a:rPr lang="en-US" sz="1200" dirty="0"/>
              <a:t>• Decentralization: Operates without relying on a central authority.</a:t>
            </a:r>
          </a:p>
          <a:p>
            <a:r>
              <a:rPr lang="en-US" sz="1200" dirty="0"/>
              <a:t>• Fault Tolerance: Handles failures, network delays, or compromised participants.</a:t>
            </a:r>
          </a:p>
        </p:txBody>
      </p:sp>
      <p:sp>
        <p:nvSpPr>
          <p:cNvPr id="8" name="Text 0">
            <a:extLst>
              <a:ext uri="{FF2B5EF4-FFF2-40B4-BE49-F238E27FC236}">
                <a16:creationId xmlns:a16="http://schemas.microsoft.com/office/drawing/2014/main" id="{94B521F7-072C-0330-357E-E29A767D289C}"/>
              </a:ext>
            </a:extLst>
          </p:cNvPr>
          <p:cNvSpPr/>
          <p:nvPr/>
        </p:nvSpPr>
        <p:spPr>
          <a:xfrm>
            <a:off x="0" y="2310168"/>
            <a:ext cx="9144000" cy="401468"/>
          </a:xfrm>
          <a:prstGeom prst="rect">
            <a:avLst/>
          </a:prstGeom>
          <a:noFill/>
          <a:ln/>
        </p:spPr>
        <p:txBody>
          <a:bodyPr wrap="square" rtlCol="0" anchor="ctr"/>
          <a:lstStyle/>
          <a:p>
            <a:pPr>
              <a:lnSpc>
                <a:spcPts val="3500"/>
              </a:lnSpc>
            </a:pPr>
            <a:r>
              <a:rPr lang="en-US" sz="2400" b="1" dirty="0">
                <a:solidFill>
                  <a:srgbClr val="17A33E"/>
                </a:solidFill>
                <a:latin typeface="Plus Jakarta Sans" pitchFamily="34" charset="0"/>
                <a:ea typeface="Plus Jakarta Sans" pitchFamily="34" charset="-122"/>
              </a:rPr>
              <a:t>Polygon’s Proof of Stake (</a:t>
            </a:r>
            <a:r>
              <a:rPr lang="en-US" sz="2400" b="1" dirty="0" err="1">
                <a:solidFill>
                  <a:srgbClr val="17A33E"/>
                </a:solidFill>
                <a:latin typeface="Plus Jakarta Sans" pitchFamily="34" charset="0"/>
                <a:ea typeface="Plus Jakarta Sans" pitchFamily="34" charset="-122"/>
              </a:rPr>
              <a:t>PoS</a:t>
            </a:r>
            <a:r>
              <a:rPr lang="en-US" sz="2400" b="1" dirty="0">
                <a:solidFill>
                  <a:srgbClr val="17A33E"/>
                </a:solidFill>
                <a:latin typeface="Plus Jakarta Sans" pitchFamily="34" charset="0"/>
                <a:ea typeface="Plus Jakarta Sans" pitchFamily="34" charset="-122"/>
              </a:rPr>
              <a:t>)</a:t>
            </a:r>
          </a:p>
        </p:txBody>
      </p:sp>
      <p:sp>
        <p:nvSpPr>
          <p:cNvPr id="9" name="Text 1">
            <a:extLst>
              <a:ext uri="{FF2B5EF4-FFF2-40B4-BE49-F238E27FC236}">
                <a16:creationId xmlns:a16="http://schemas.microsoft.com/office/drawing/2014/main" id="{88F1FF91-2036-3CB0-4FDA-AC705C2F3B2A}"/>
              </a:ext>
            </a:extLst>
          </p:cNvPr>
          <p:cNvSpPr/>
          <p:nvPr/>
        </p:nvSpPr>
        <p:spPr>
          <a:xfrm>
            <a:off x="152400" y="2830583"/>
            <a:ext cx="8952882" cy="1040831"/>
          </a:xfrm>
          <a:prstGeom prst="rect">
            <a:avLst/>
          </a:prstGeom>
          <a:noFill/>
          <a:ln/>
        </p:spPr>
        <p:txBody>
          <a:bodyPr wrap="square" rtlCol="0" anchor="t"/>
          <a:lstStyle/>
          <a:p>
            <a:pPr marL="171450" indent="-171450">
              <a:buFont typeface="Arial" panose="020B0604020202020204" pitchFamily="34" charset="0"/>
              <a:buChar char="•"/>
            </a:pPr>
            <a:r>
              <a:rPr lang="en-US" sz="1200" dirty="0"/>
              <a:t> Validators lock up (stake) MATIC tokens.</a:t>
            </a:r>
          </a:p>
          <a:p>
            <a:pPr marL="171450" indent="-171450">
              <a:buFont typeface="Arial" panose="020B0604020202020204" pitchFamily="34" charset="0"/>
              <a:buChar char="•"/>
            </a:pPr>
            <a:r>
              <a:rPr lang="en-US" sz="1200" dirty="0"/>
              <a:t>Selection of validators is proportional to their stake.</a:t>
            </a:r>
          </a:p>
          <a:p>
            <a:pPr marL="171450" indent="-171450">
              <a:buFont typeface="Arial" panose="020B0604020202020204" pitchFamily="34" charset="0"/>
              <a:buChar char="•"/>
            </a:pPr>
            <a:r>
              <a:rPr lang="en-US" sz="1200" dirty="0"/>
              <a:t>Block Approval: Validators propose and validate new blocks.</a:t>
            </a:r>
          </a:p>
          <a:p>
            <a:pPr marL="171450" indent="-171450">
              <a:buFont typeface="Arial" panose="020B0604020202020204" pitchFamily="34" charset="0"/>
              <a:buChar char="•"/>
            </a:pPr>
            <a:r>
              <a:rPr lang="en-US" sz="1200" dirty="0"/>
              <a:t>Security: Misbehavior (fraudulent validation) can cause loss of staked funds.</a:t>
            </a:r>
          </a:p>
          <a:p>
            <a:pPr marL="171450" indent="-171450">
              <a:buFont typeface="Arial" panose="020B0604020202020204" pitchFamily="34" charset="0"/>
              <a:buChar char="•"/>
            </a:pPr>
            <a:r>
              <a:rPr lang="en-US" sz="1200" dirty="0"/>
              <a:t>Efficiency: Lower energy consumption and faster throughput than PoW.</a:t>
            </a:r>
          </a:p>
          <a:p>
            <a:r>
              <a:rPr lang="en-US" sz="1200" dirty="0"/>
              <a:t>How Consensus Fits in Blockchain Applications</a:t>
            </a:r>
          </a:p>
          <a:p>
            <a:r>
              <a:rPr lang="en-US" sz="1200" dirty="0"/>
              <a:t>Data Flow Steps:</a:t>
            </a:r>
          </a:p>
          <a:p>
            <a:r>
              <a:rPr lang="en-US" sz="1200" dirty="0"/>
              <a:t>	1. Transaction Submission: A user’s request (e.g., storing AI model data) is broadcast to the network.</a:t>
            </a:r>
          </a:p>
          <a:p>
            <a:r>
              <a:rPr lang="en-US" sz="1200" dirty="0"/>
              <a:t>	2. Validation: Nodes (validators/miners) verify the transaction follows protocol rules.</a:t>
            </a:r>
          </a:p>
          <a:p>
            <a:r>
              <a:rPr lang="en-US" sz="1200" dirty="0"/>
              <a:t>	3. Block Formation: A valid transaction is bundled into a block proposal.</a:t>
            </a:r>
          </a:p>
          <a:p>
            <a:r>
              <a:rPr lang="en-US" sz="1200" dirty="0"/>
              <a:t>	4. Network Agreement: The consensus mechanism determines whether to accept the block.</a:t>
            </a:r>
          </a:p>
          <a:p>
            <a:r>
              <a:rPr lang="en-US" sz="1200" dirty="0"/>
              <a:t>	5. Chain Update: Once agreed, the block becomes part of an immutable chain.</a:t>
            </a:r>
          </a:p>
          <a:p>
            <a:r>
              <a:rPr lang="en-US" sz="1200" dirty="0"/>
              <a:t>	6. Finality: Updates are finalized; the state is updated across all nodes.</a:t>
            </a:r>
          </a:p>
          <a:p>
            <a:r>
              <a:rPr lang="en-US" sz="1200" dirty="0"/>
              <a:t>Key Benefits</a:t>
            </a:r>
          </a:p>
          <a:p>
            <a:r>
              <a:rPr lang="en-US" sz="1200" dirty="0"/>
              <a:t>	• Prevents Double Spending: Ensures each transaction is unique and non-duplicatable.</a:t>
            </a:r>
          </a:p>
          <a:p>
            <a:r>
              <a:rPr lang="en-US" sz="1200" dirty="0"/>
              <a:t>	• Enables Decentralization: Makes it possible for anyone to participate, removing single points of control.</a:t>
            </a:r>
          </a:p>
          <a:p>
            <a:r>
              <a:rPr lang="en-US" sz="1200" dirty="0"/>
              <a:t>	• Scales Trust: Allows global participants to agree on history without prior relationships.</a:t>
            </a:r>
          </a:p>
          <a:p>
            <a:r>
              <a:rPr lang="en-US" sz="1200" dirty="0"/>
              <a:t>.</a:t>
            </a:r>
          </a:p>
        </p:txBody>
      </p:sp>
    </p:spTree>
    <p:extLst>
      <p:ext uri="{BB962C8B-B14F-4D97-AF65-F5344CB8AC3E}">
        <p14:creationId xmlns:p14="http://schemas.microsoft.com/office/powerpoint/2010/main" val="27401115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273153-65F1-75D5-C5B7-3F9EE956A145}"/>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01B9B810-8810-511D-0B69-B3EA3B5ECBDD}"/>
              </a:ext>
            </a:extLst>
          </p:cNvPr>
          <p:cNvPicPr>
            <a:picLocks noChangeAspect="1"/>
          </p:cNvPicPr>
          <p:nvPr/>
        </p:nvPicPr>
        <p:blipFill>
          <a:blip r:embed="rId3"/>
          <a:stretch>
            <a:fillRect/>
          </a:stretch>
        </p:blipFill>
        <p:spPr>
          <a:xfrm>
            <a:off x="0" y="8819"/>
            <a:ext cx="9144000" cy="5143500"/>
          </a:xfrm>
          <a:prstGeom prst="rect">
            <a:avLst/>
          </a:prstGeom>
        </p:spPr>
      </p:pic>
      <p:sp>
        <p:nvSpPr>
          <p:cNvPr id="4" name="Text 0">
            <a:extLst>
              <a:ext uri="{FF2B5EF4-FFF2-40B4-BE49-F238E27FC236}">
                <a16:creationId xmlns:a16="http://schemas.microsoft.com/office/drawing/2014/main" id="{9D593AC5-1F75-0DC7-1965-FC86404C2493}"/>
              </a:ext>
            </a:extLst>
          </p:cNvPr>
          <p:cNvSpPr/>
          <p:nvPr/>
        </p:nvSpPr>
        <p:spPr>
          <a:xfrm>
            <a:off x="0" y="82829"/>
            <a:ext cx="9144000" cy="401468"/>
          </a:xfrm>
          <a:prstGeom prst="rect">
            <a:avLst/>
          </a:prstGeom>
          <a:noFill/>
          <a:ln/>
        </p:spPr>
        <p:txBody>
          <a:bodyPr wrap="square" rtlCol="0" anchor="ctr"/>
          <a:lstStyle/>
          <a:p>
            <a:pPr marL="0" indent="0">
              <a:lnSpc>
                <a:spcPts val="3500"/>
              </a:lnSpc>
              <a:buNone/>
            </a:pPr>
            <a:r>
              <a:rPr lang="en-US" sz="2400" b="1" dirty="0">
                <a:solidFill>
                  <a:srgbClr val="17A33E"/>
                </a:solidFill>
                <a:latin typeface="Plus Jakarta Sans" pitchFamily="34" charset="0"/>
                <a:ea typeface="Plus Jakarta Sans" pitchFamily="34" charset="-122"/>
              </a:rPr>
              <a:t>How Consensus Algorithm Fits in Blockchain Application</a:t>
            </a:r>
            <a:endParaRPr lang="en-US" sz="2400" dirty="0"/>
          </a:p>
        </p:txBody>
      </p:sp>
      <p:sp>
        <p:nvSpPr>
          <p:cNvPr id="5" name="Text 0">
            <a:extLst>
              <a:ext uri="{FF2B5EF4-FFF2-40B4-BE49-F238E27FC236}">
                <a16:creationId xmlns:a16="http://schemas.microsoft.com/office/drawing/2014/main" id="{8D9198D9-0500-7AFF-394F-76C3FD29646E}"/>
              </a:ext>
            </a:extLst>
          </p:cNvPr>
          <p:cNvSpPr/>
          <p:nvPr/>
        </p:nvSpPr>
        <p:spPr>
          <a:xfrm>
            <a:off x="152400" y="235229"/>
            <a:ext cx="9144000" cy="401468"/>
          </a:xfrm>
          <a:prstGeom prst="rect">
            <a:avLst/>
          </a:prstGeom>
          <a:noFill/>
          <a:ln/>
        </p:spPr>
        <p:txBody>
          <a:bodyPr wrap="square" rtlCol="0" anchor="ctr"/>
          <a:lstStyle/>
          <a:p>
            <a:pPr marL="0" indent="0">
              <a:lnSpc>
                <a:spcPts val="3500"/>
              </a:lnSpc>
              <a:buNone/>
            </a:pPr>
            <a:endParaRPr lang="en-US" sz="2400" dirty="0"/>
          </a:p>
        </p:txBody>
      </p:sp>
      <p:sp>
        <p:nvSpPr>
          <p:cNvPr id="9" name="Text 1">
            <a:extLst>
              <a:ext uri="{FF2B5EF4-FFF2-40B4-BE49-F238E27FC236}">
                <a16:creationId xmlns:a16="http://schemas.microsoft.com/office/drawing/2014/main" id="{A5FDECD3-EAA8-C047-8684-DFBD0D3D88F4}"/>
              </a:ext>
            </a:extLst>
          </p:cNvPr>
          <p:cNvSpPr/>
          <p:nvPr/>
        </p:nvSpPr>
        <p:spPr>
          <a:xfrm>
            <a:off x="210168" y="636697"/>
            <a:ext cx="8952882" cy="4271574"/>
          </a:xfrm>
          <a:prstGeom prst="rect">
            <a:avLst/>
          </a:prstGeom>
          <a:noFill/>
          <a:ln/>
        </p:spPr>
        <p:txBody>
          <a:bodyPr wrap="square" rtlCol="0" anchor="t"/>
          <a:lstStyle/>
          <a:p>
            <a:pPr>
              <a:lnSpc>
                <a:spcPct val="200000"/>
              </a:lnSpc>
            </a:pPr>
            <a:r>
              <a:rPr lang="en-US" sz="1200" b="1" dirty="0"/>
              <a:t>Data Flow Steps:</a:t>
            </a:r>
          </a:p>
          <a:p>
            <a:pPr>
              <a:lnSpc>
                <a:spcPct val="200000"/>
              </a:lnSpc>
            </a:pPr>
            <a:r>
              <a:rPr lang="en-US" sz="1200" dirty="0"/>
              <a:t>1. Transaction Submission: A user’s request (e.g., storing AI model data) is broadcast to the network.</a:t>
            </a:r>
          </a:p>
          <a:p>
            <a:pPr>
              <a:lnSpc>
                <a:spcPct val="200000"/>
              </a:lnSpc>
            </a:pPr>
            <a:r>
              <a:rPr lang="en-US" sz="1200" dirty="0"/>
              <a:t>2. Validation: Nodes (validators/miners) verify the transaction follows protocol rules.</a:t>
            </a:r>
          </a:p>
          <a:p>
            <a:pPr>
              <a:lnSpc>
                <a:spcPct val="200000"/>
              </a:lnSpc>
            </a:pPr>
            <a:r>
              <a:rPr lang="en-US" sz="1200" dirty="0"/>
              <a:t>3. Block Formation: A valid transaction is bundled into a block proposal.</a:t>
            </a:r>
          </a:p>
          <a:p>
            <a:pPr>
              <a:lnSpc>
                <a:spcPct val="200000"/>
              </a:lnSpc>
            </a:pPr>
            <a:r>
              <a:rPr lang="en-US" sz="1200" dirty="0"/>
              <a:t>4. Network Agreement: The consensus mechanism determines whether to accept the block.</a:t>
            </a:r>
          </a:p>
          <a:p>
            <a:pPr>
              <a:lnSpc>
                <a:spcPct val="200000"/>
              </a:lnSpc>
            </a:pPr>
            <a:r>
              <a:rPr lang="en-US" sz="1200" dirty="0"/>
              <a:t>5. Chain Update: Once agreed, the block becomes part of an immutable chain.</a:t>
            </a:r>
          </a:p>
          <a:p>
            <a:pPr>
              <a:lnSpc>
                <a:spcPct val="200000"/>
              </a:lnSpc>
            </a:pPr>
            <a:r>
              <a:rPr lang="en-US" sz="1200" dirty="0"/>
              <a:t>6. Finality: Updates are finalized; the state is updated across all nodes.</a:t>
            </a:r>
          </a:p>
          <a:p>
            <a:pPr>
              <a:lnSpc>
                <a:spcPct val="200000"/>
              </a:lnSpc>
            </a:pPr>
            <a:r>
              <a:rPr lang="en-US" sz="1200" b="1" dirty="0"/>
              <a:t>Key Benefits</a:t>
            </a:r>
          </a:p>
          <a:p>
            <a:pPr marL="171450" indent="-171450">
              <a:lnSpc>
                <a:spcPct val="200000"/>
              </a:lnSpc>
              <a:buFont typeface="Arial" panose="020B0604020202020204" pitchFamily="34" charset="0"/>
              <a:buChar char="•"/>
            </a:pPr>
            <a:r>
              <a:rPr lang="en-US" sz="1200" dirty="0"/>
              <a:t>Prevents Double Spending: Ensures each transaction is unique and non-duplicatable.</a:t>
            </a:r>
          </a:p>
          <a:p>
            <a:pPr marL="171450" indent="-171450">
              <a:lnSpc>
                <a:spcPct val="200000"/>
              </a:lnSpc>
              <a:buFont typeface="Arial" panose="020B0604020202020204" pitchFamily="34" charset="0"/>
              <a:buChar char="•"/>
            </a:pPr>
            <a:r>
              <a:rPr lang="en-US" sz="1200" dirty="0"/>
              <a:t>Enables Decentralization: Makes it possible for anyone to participate, removing single points of control.</a:t>
            </a:r>
          </a:p>
          <a:p>
            <a:pPr marL="171450" indent="-171450">
              <a:lnSpc>
                <a:spcPct val="200000"/>
              </a:lnSpc>
              <a:buFont typeface="Arial" panose="020B0604020202020204" pitchFamily="34" charset="0"/>
              <a:buChar char="•"/>
            </a:pPr>
            <a:r>
              <a:rPr lang="en-US" sz="1200" dirty="0"/>
              <a:t>Scales Trust: Allows global participants to agree on history without prior relationships.</a:t>
            </a:r>
          </a:p>
          <a:p>
            <a:pPr>
              <a:lnSpc>
                <a:spcPct val="200000"/>
              </a:lnSpc>
            </a:pPr>
            <a:r>
              <a:rPr lang="en-US" sz="1200" dirty="0"/>
              <a:t>.</a:t>
            </a:r>
          </a:p>
        </p:txBody>
      </p:sp>
    </p:spTree>
    <p:extLst>
      <p:ext uri="{BB962C8B-B14F-4D97-AF65-F5344CB8AC3E}">
        <p14:creationId xmlns:p14="http://schemas.microsoft.com/office/powerpoint/2010/main" val="37119199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8C1F62-1C2C-6987-A0F7-5565EADABFCF}"/>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DE1AD5B3-8298-FF6B-1232-842C7611914E}"/>
              </a:ext>
            </a:extLst>
          </p:cNvPr>
          <p:cNvPicPr>
            <a:picLocks noChangeAspect="1"/>
          </p:cNvPicPr>
          <p:nvPr/>
        </p:nvPicPr>
        <p:blipFill>
          <a:blip r:embed="rId2"/>
          <a:stretch>
            <a:fillRect/>
          </a:stretch>
        </p:blipFill>
        <p:spPr>
          <a:xfrm>
            <a:off x="0" y="0"/>
            <a:ext cx="9144000" cy="5143500"/>
          </a:xfrm>
          <a:prstGeom prst="rect">
            <a:avLst/>
          </a:prstGeom>
        </p:spPr>
      </p:pic>
      <p:sp>
        <p:nvSpPr>
          <p:cNvPr id="3" name="Text 0">
            <a:extLst>
              <a:ext uri="{FF2B5EF4-FFF2-40B4-BE49-F238E27FC236}">
                <a16:creationId xmlns:a16="http://schemas.microsoft.com/office/drawing/2014/main" id="{D73C8726-5DC9-862B-80D1-E8F6BBBDBF69}"/>
              </a:ext>
            </a:extLst>
          </p:cNvPr>
          <p:cNvSpPr/>
          <p:nvPr/>
        </p:nvSpPr>
        <p:spPr>
          <a:xfrm>
            <a:off x="65314" y="83127"/>
            <a:ext cx="8229600" cy="607572"/>
          </a:xfrm>
          <a:prstGeom prst="rect">
            <a:avLst/>
          </a:prstGeom>
          <a:noFill/>
          <a:ln/>
        </p:spPr>
        <p:txBody>
          <a:bodyPr wrap="square" rtlCol="0" anchor="ctr"/>
          <a:lstStyle/>
          <a:p>
            <a:pPr marL="0" indent="0">
              <a:lnSpc>
                <a:spcPts val="3500"/>
              </a:lnSpc>
              <a:buNone/>
            </a:pPr>
            <a:r>
              <a:rPr lang="en-US" sz="3300" b="1" dirty="0">
                <a:solidFill>
                  <a:srgbClr val="17A33E"/>
                </a:solidFill>
                <a:latin typeface="Plus Jakarta Sans" pitchFamily="34" charset="0"/>
                <a:ea typeface="Plus Jakarta Sans" pitchFamily="34" charset="-122"/>
              </a:rPr>
              <a:t>References</a:t>
            </a:r>
            <a:endParaRPr lang="en-US" sz="3300" dirty="0"/>
          </a:p>
        </p:txBody>
      </p:sp>
      <p:sp>
        <p:nvSpPr>
          <p:cNvPr id="4" name="Text 1">
            <a:extLst>
              <a:ext uri="{FF2B5EF4-FFF2-40B4-BE49-F238E27FC236}">
                <a16:creationId xmlns:a16="http://schemas.microsoft.com/office/drawing/2014/main" id="{55377CFA-3722-14DB-CAB1-09271A6A9CE2}"/>
              </a:ext>
            </a:extLst>
          </p:cNvPr>
          <p:cNvSpPr/>
          <p:nvPr/>
        </p:nvSpPr>
        <p:spPr>
          <a:xfrm>
            <a:off x="124097" y="690699"/>
            <a:ext cx="8795459" cy="4296937"/>
          </a:xfrm>
          <a:prstGeom prst="rect">
            <a:avLst/>
          </a:prstGeom>
          <a:noFill/>
          <a:ln/>
        </p:spPr>
        <p:txBody>
          <a:bodyPr wrap="square" rtlCol="0" anchor="t"/>
          <a:lstStyle/>
          <a:p>
            <a:pPr>
              <a:lnSpc>
                <a:spcPct val="150000"/>
              </a:lnSpc>
            </a:pPr>
            <a:r>
              <a:rPr lang="en-IN" sz="1200" dirty="0"/>
              <a:t>[1] A. Sharma, R. K. Kaushal, and N. Kumar, “A comprehensive assessment of blockchain technology in the healthcare industry and techniques to store medical image,” in 2024 Third International Conference on Electrical, Electronics, Information and Communication Technologies (ICEEICT), 2024, pp. 1–6, </a:t>
            </a:r>
            <a:r>
              <a:rPr lang="en-IN" sz="1200" dirty="0" err="1"/>
              <a:t>doi</a:t>
            </a:r>
            <a:r>
              <a:rPr lang="en-IN" sz="1200" dirty="0"/>
              <a:t>: 10.1109/ICEEICT61591.2024.10718467. </a:t>
            </a:r>
          </a:p>
          <a:p>
            <a:pPr>
              <a:lnSpc>
                <a:spcPct val="150000"/>
              </a:lnSpc>
            </a:pPr>
            <a:r>
              <a:rPr lang="en-IN" sz="1200" dirty="0"/>
              <a:t>[2] Y. Fu, X. Niu, L. Zhou, X. Cai, F. R. Yu, N. Cheng, and C. Li, “A hierarchical blockchain-enabled secure aggregation algorithm for federated learning in IoV,” IEEE Internet of Things Journal, vol. 12, no. 5, pp. 5876–5889, Mar. 2025, </a:t>
            </a:r>
            <a:r>
              <a:rPr lang="en-IN" sz="1200" dirty="0" err="1"/>
              <a:t>doi</a:t>
            </a:r>
            <a:r>
              <a:rPr lang="en-IN" sz="1200" dirty="0"/>
              <a:t>: 10.1109/JIOT.2024.3489032. </a:t>
            </a:r>
          </a:p>
          <a:p>
            <a:pPr>
              <a:lnSpc>
                <a:spcPct val="150000"/>
              </a:lnSpc>
            </a:pPr>
            <a:r>
              <a:rPr lang="en-IN" sz="1200" dirty="0"/>
              <a:t>[3] D. </a:t>
            </a:r>
            <a:r>
              <a:rPr lang="en-IN" sz="1200" dirty="0" err="1"/>
              <a:t>Bouslimi</a:t>
            </a:r>
            <a:r>
              <a:rPr lang="en-IN" sz="1200" dirty="0"/>
              <a:t>, G. </a:t>
            </a:r>
            <a:r>
              <a:rPr lang="en-IN" sz="1200" dirty="0" err="1"/>
              <a:t>Coatrieux</a:t>
            </a:r>
            <a:r>
              <a:rPr lang="en-IN" sz="1200" dirty="0"/>
              <a:t>, M. </a:t>
            </a:r>
            <a:r>
              <a:rPr lang="en-IN" sz="1200" dirty="0" err="1"/>
              <a:t>Cozic</a:t>
            </a:r>
            <a:r>
              <a:rPr lang="en-IN" sz="1200" dirty="0"/>
              <a:t>, and C. Roux, “A joint encryption/watermarking system for verifying the reliability of medical images,” IEEE Transactions on Information Technology in Biomedicine, vol. 16, no. 5, pp. 891–899, Sep. 2012, </a:t>
            </a:r>
            <a:r>
              <a:rPr lang="en-IN" sz="1200" dirty="0" err="1"/>
              <a:t>doi</a:t>
            </a:r>
            <a:r>
              <a:rPr lang="en-IN" sz="1200" dirty="0"/>
              <a:t>: 10.1109/TITB.2012.2207730. </a:t>
            </a:r>
          </a:p>
          <a:p>
            <a:pPr>
              <a:lnSpc>
                <a:spcPct val="150000"/>
              </a:lnSpc>
            </a:pPr>
            <a:r>
              <a:rPr lang="en-IN" sz="1200" dirty="0"/>
              <a:t>[4] P. Liu, Q. He, Y. Chen, S. Jiang, B. Zhao, and X. Wang, “A lightweight authentication and privacy-preserving aggregation for blockchain-enabled federated learning in VANETs,” IEEE Transactions on Consumer Electronics, vol. 71, no. 1, pp. 1274–1287, Feb. 2025, </a:t>
            </a:r>
          </a:p>
          <a:p>
            <a:pPr>
              <a:lnSpc>
                <a:spcPct val="150000"/>
              </a:lnSpc>
            </a:pPr>
            <a:r>
              <a:rPr lang="en-IN" sz="1200" dirty="0"/>
              <a:t>[5] J. Li, J. Sun, F. Li, X. Yang, and Y. Wang, “BIFLC: A blockchain and IPFS-based multi-consensus federated learning framework,” in 2023 26th International Conference on Computer Supported Cooperative Work in Design (CSCWD), 2023, pp. 1–6, </a:t>
            </a:r>
          </a:p>
          <a:p>
            <a:pPr marL="342900" indent="-342900">
              <a:lnSpc>
                <a:spcPts val="2000"/>
              </a:lnSpc>
              <a:spcAft>
                <a:spcPts val="1200"/>
              </a:spcAft>
              <a:buSzPct val="100000"/>
              <a:buFont typeface="+mj-lt"/>
              <a:buAutoNum type="arabicPeriod"/>
            </a:pPr>
            <a:endParaRPr lang="en-US" sz="1200" dirty="0"/>
          </a:p>
          <a:p>
            <a:pPr marL="342900" indent="-342900">
              <a:lnSpc>
                <a:spcPts val="2000"/>
              </a:lnSpc>
              <a:spcAft>
                <a:spcPts val="1200"/>
              </a:spcAft>
              <a:buSzPct val="100000"/>
              <a:buFont typeface="+mj-lt"/>
              <a:buAutoNum type="arabicPeriod"/>
            </a:pPr>
            <a:endParaRPr lang="en-US" sz="1200" dirty="0"/>
          </a:p>
          <a:p>
            <a:pPr marL="342900" indent="-342900">
              <a:lnSpc>
                <a:spcPts val="2000"/>
              </a:lnSpc>
              <a:spcAft>
                <a:spcPts val="1200"/>
              </a:spcAft>
              <a:buSzPct val="100000"/>
              <a:buFont typeface="+mj-lt"/>
              <a:buAutoNum type="arabicPeriod"/>
            </a:pPr>
            <a:endParaRPr lang="en-US" sz="1200" dirty="0"/>
          </a:p>
        </p:txBody>
      </p:sp>
    </p:spTree>
    <p:extLst>
      <p:ext uri="{BB962C8B-B14F-4D97-AF65-F5344CB8AC3E}">
        <p14:creationId xmlns:p14="http://schemas.microsoft.com/office/powerpoint/2010/main" val="424821994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74085B-D73D-2D4C-12CB-68DED823DDB5}"/>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20C8D270-7149-C537-BD1D-EC378B1C9CB2}"/>
              </a:ext>
            </a:extLst>
          </p:cNvPr>
          <p:cNvPicPr>
            <a:picLocks noChangeAspect="1"/>
          </p:cNvPicPr>
          <p:nvPr/>
        </p:nvPicPr>
        <p:blipFill>
          <a:blip r:embed="rId2"/>
          <a:stretch>
            <a:fillRect/>
          </a:stretch>
        </p:blipFill>
        <p:spPr>
          <a:xfrm>
            <a:off x="0" y="0"/>
            <a:ext cx="9144000" cy="5143500"/>
          </a:xfrm>
          <a:prstGeom prst="rect">
            <a:avLst/>
          </a:prstGeom>
        </p:spPr>
      </p:pic>
      <p:sp>
        <p:nvSpPr>
          <p:cNvPr id="3" name="Text 0">
            <a:extLst>
              <a:ext uri="{FF2B5EF4-FFF2-40B4-BE49-F238E27FC236}">
                <a16:creationId xmlns:a16="http://schemas.microsoft.com/office/drawing/2014/main" id="{E08885B8-5F3C-9116-AF6D-76FDADA06067}"/>
              </a:ext>
            </a:extLst>
          </p:cNvPr>
          <p:cNvSpPr/>
          <p:nvPr/>
        </p:nvSpPr>
        <p:spPr>
          <a:xfrm>
            <a:off x="65314" y="83127"/>
            <a:ext cx="8229600" cy="607572"/>
          </a:xfrm>
          <a:prstGeom prst="rect">
            <a:avLst/>
          </a:prstGeom>
          <a:noFill/>
          <a:ln/>
        </p:spPr>
        <p:txBody>
          <a:bodyPr wrap="square" rtlCol="0" anchor="ctr"/>
          <a:lstStyle/>
          <a:p>
            <a:pPr marL="0" indent="0">
              <a:lnSpc>
                <a:spcPts val="3500"/>
              </a:lnSpc>
              <a:buNone/>
            </a:pPr>
            <a:r>
              <a:rPr lang="en-US" sz="3300" b="1" dirty="0">
                <a:solidFill>
                  <a:srgbClr val="17A33E"/>
                </a:solidFill>
                <a:latin typeface="Plus Jakarta Sans" pitchFamily="34" charset="0"/>
                <a:ea typeface="Plus Jakarta Sans" pitchFamily="34" charset="-122"/>
              </a:rPr>
              <a:t>References</a:t>
            </a:r>
            <a:endParaRPr lang="en-US" sz="3300" dirty="0"/>
          </a:p>
        </p:txBody>
      </p:sp>
      <p:sp>
        <p:nvSpPr>
          <p:cNvPr id="4" name="Text 1">
            <a:extLst>
              <a:ext uri="{FF2B5EF4-FFF2-40B4-BE49-F238E27FC236}">
                <a16:creationId xmlns:a16="http://schemas.microsoft.com/office/drawing/2014/main" id="{94EB8BCC-A4A6-5194-17FB-A42FFC067632}"/>
              </a:ext>
            </a:extLst>
          </p:cNvPr>
          <p:cNvSpPr/>
          <p:nvPr/>
        </p:nvSpPr>
        <p:spPr>
          <a:xfrm>
            <a:off x="124097" y="690699"/>
            <a:ext cx="8795459" cy="4296937"/>
          </a:xfrm>
          <a:prstGeom prst="rect">
            <a:avLst/>
          </a:prstGeom>
          <a:noFill/>
          <a:ln/>
        </p:spPr>
        <p:txBody>
          <a:bodyPr wrap="square" rtlCol="0" anchor="t"/>
          <a:lstStyle/>
          <a:p>
            <a:pPr>
              <a:lnSpc>
                <a:spcPct val="150000"/>
              </a:lnSpc>
            </a:pPr>
            <a:r>
              <a:rPr lang="en-IN" sz="1200" dirty="0"/>
              <a:t>[6] J. Indumathi, A. Shankar, M. R. Ghalib, J. Gitanjali, Q. Hua, Z. Wen, and X. Qi, “Block chain-based Internet of Medical Things for uninterrupted, ubiquitous, user-friendly, unflappable, unblemished, unlimited health care services (BC IoMT U6 HCS),” IEEE Access, vol. 8, pp. 216856–216871, 2020, </a:t>
            </a:r>
            <a:r>
              <a:rPr lang="en-IN" sz="1200" dirty="0" err="1"/>
              <a:t>doi</a:t>
            </a:r>
            <a:r>
              <a:rPr lang="en-IN" sz="1200" dirty="0"/>
              <a:t>: 10.1109/ACCESS.2020.3040240. </a:t>
            </a:r>
          </a:p>
          <a:p>
            <a:pPr>
              <a:lnSpc>
                <a:spcPct val="150000"/>
              </a:lnSpc>
            </a:pPr>
            <a:r>
              <a:rPr lang="en-IN" sz="1200" dirty="0"/>
              <a:t>[7] </a:t>
            </a:r>
            <a:r>
              <a:rPr lang="en-US" sz="1200" dirty="0"/>
              <a:t>B. C. Priya, M. Dhanalakshmi, B. T. Kumar Reddy, A. Rohith and B. R. Reddy, "Block chain Based Inter-Organizational Secure File Sharing System," 2024 International Conference on Computational Intelligence for Security, Communication and Sustainable Development (CISCSD), Port Blair, India, 2024, pp. 230-235, </a:t>
            </a:r>
            <a:r>
              <a:rPr lang="en-US" sz="1200" dirty="0" err="1"/>
              <a:t>doi</a:t>
            </a:r>
            <a:r>
              <a:rPr lang="en-US" sz="1200" dirty="0"/>
              <a:t>: 10.1109/CISCSD63381.2024.00059. </a:t>
            </a:r>
            <a:endParaRPr lang="en-IN" sz="1200" dirty="0"/>
          </a:p>
          <a:p>
            <a:pPr>
              <a:lnSpc>
                <a:spcPct val="150000"/>
              </a:lnSpc>
            </a:pPr>
            <a:r>
              <a:rPr lang="en-IN" sz="1200" dirty="0"/>
              <a:t>[8] N. </a:t>
            </a:r>
            <a:r>
              <a:rPr lang="en-IN" sz="1200" dirty="0" err="1"/>
              <a:t>Nezhadsistani</a:t>
            </a:r>
            <a:r>
              <a:rPr lang="en-IN" sz="1200" dirty="0"/>
              <a:t>, N. S. </a:t>
            </a:r>
            <a:r>
              <a:rPr lang="en-IN" sz="1200" dirty="0" err="1"/>
              <a:t>Moayedian</a:t>
            </a:r>
            <a:r>
              <a:rPr lang="en-IN" sz="1200" dirty="0"/>
              <a:t>, and B. Stiller, “Blockchain-enabled federated learning in healthcare: Survey and state-of-the-art,” IEEE Access, vol. 13, pp. 119922–119941, 2025</a:t>
            </a:r>
          </a:p>
          <a:p>
            <a:pPr>
              <a:lnSpc>
                <a:spcPct val="150000"/>
              </a:lnSpc>
            </a:pPr>
            <a:r>
              <a:rPr lang="en-IN" sz="1200" dirty="0"/>
              <a:t>[9] R. Kumar, A. A. Khan, J. Kumar, Zakria, N. A. </a:t>
            </a:r>
            <a:r>
              <a:rPr lang="en-IN" sz="1200" dirty="0" err="1"/>
              <a:t>Golilarz</a:t>
            </a:r>
            <a:r>
              <a:rPr lang="en-IN" sz="1200" dirty="0"/>
              <a:t>, S. Zhang, Y. Ting, C. Zheng, and W. Wang, “Blockchain-federated-learning and deep learning models for COVID-19 detection using CT imaging,” IEEE Sensors Journal, vol. 21, no. 14, pp. 16301–16314, Jul. 2021, </a:t>
            </a:r>
            <a:r>
              <a:rPr lang="en-IN" sz="1200" dirty="0" err="1"/>
              <a:t>doi</a:t>
            </a:r>
            <a:r>
              <a:rPr lang="en-IN" sz="1200" dirty="0"/>
              <a:t>: 10.1109/JSEN.2021.3076767.</a:t>
            </a:r>
          </a:p>
          <a:p>
            <a:pPr marL="342900" indent="-342900">
              <a:lnSpc>
                <a:spcPts val="2000"/>
              </a:lnSpc>
              <a:spcAft>
                <a:spcPts val="1200"/>
              </a:spcAft>
              <a:buSzPct val="100000"/>
              <a:buFont typeface="+mj-lt"/>
              <a:buAutoNum type="arabicPeriod"/>
            </a:pPr>
            <a:endParaRPr lang="en-US" sz="1200" dirty="0"/>
          </a:p>
          <a:p>
            <a:pPr marL="342900" indent="-342900">
              <a:lnSpc>
                <a:spcPts val="2000"/>
              </a:lnSpc>
              <a:spcAft>
                <a:spcPts val="1200"/>
              </a:spcAft>
              <a:buSzPct val="100000"/>
              <a:buFont typeface="+mj-lt"/>
              <a:buAutoNum type="arabicPeriod"/>
            </a:pPr>
            <a:endParaRPr lang="en-US" sz="1200" dirty="0"/>
          </a:p>
          <a:p>
            <a:pPr marL="342900" indent="-342900">
              <a:lnSpc>
                <a:spcPts val="2000"/>
              </a:lnSpc>
              <a:spcAft>
                <a:spcPts val="1200"/>
              </a:spcAft>
              <a:buSzPct val="100000"/>
              <a:buFont typeface="+mj-lt"/>
              <a:buAutoNum type="arabicPeriod"/>
            </a:pPr>
            <a:endParaRPr lang="en-US" sz="1200" dirty="0"/>
          </a:p>
        </p:txBody>
      </p:sp>
    </p:spTree>
    <p:extLst>
      <p:ext uri="{BB962C8B-B14F-4D97-AF65-F5344CB8AC3E}">
        <p14:creationId xmlns:p14="http://schemas.microsoft.com/office/powerpoint/2010/main" val="316910104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2036618" y="1729828"/>
            <a:ext cx="7107382" cy="1683843"/>
          </a:xfrm>
          <a:prstGeom prst="rect">
            <a:avLst/>
          </a:prstGeom>
          <a:noFill/>
          <a:ln/>
        </p:spPr>
        <p:txBody>
          <a:bodyPr wrap="square" rtlCol="0" anchor="ctr"/>
          <a:lstStyle/>
          <a:p>
            <a:pPr marL="0" indent="0">
              <a:lnSpc>
                <a:spcPts val="3500"/>
              </a:lnSpc>
              <a:buNone/>
            </a:pPr>
            <a:r>
              <a:rPr lang="en-US" sz="8800" b="1" dirty="0">
                <a:solidFill>
                  <a:srgbClr val="17A33E"/>
                </a:solidFill>
                <a:latin typeface="Plus Jakarta Sans" pitchFamily="34" charset="0"/>
                <a:ea typeface="Plus Jakarta Sans" pitchFamily="34" charset="-122"/>
                <a:cs typeface="Plus Jakarta Sans" pitchFamily="34" charset="-120"/>
              </a:rPr>
              <a:t>Thank You!</a:t>
            </a:r>
            <a:endParaRPr lang="en-US" sz="8800" dirty="0"/>
          </a:p>
        </p:txBody>
      </p:sp>
      <p:sp>
        <p:nvSpPr>
          <p:cNvPr id="9" name="Text 5"/>
          <p:cNvSpPr/>
          <p:nvPr/>
        </p:nvSpPr>
        <p:spPr>
          <a:xfrm>
            <a:off x="7223760" y="4114800"/>
            <a:ext cx="1828800" cy="457200"/>
          </a:xfrm>
          <a:prstGeom prst="rect">
            <a:avLst/>
          </a:prstGeom>
          <a:noFill/>
          <a:ln/>
        </p:spPr>
        <p:txBody>
          <a:bodyPr wrap="square" rtlCol="0" anchor="ctr"/>
          <a:lstStyle/>
          <a:p>
            <a:pPr marL="0" indent="0">
              <a:buNone/>
            </a:pPr>
            <a:r>
              <a:rPr lang="en-US" sz="800" u="sng" dirty="0">
                <a:solidFill>
                  <a:srgbClr val="FFFFFF"/>
                </a:solidFill>
                <a:hlinkClick r:id="rId4" tooltip="Pexel">
                  <a:extLst>
                    <a:ext uri="{A12FA001-AC4F-418D-AE19-62706E023703}">
                      <ahyp:hlinkClr xmlns:ahyp="http://schemas.microsoft.com/office/drawing/2018/hyperlinkcolor" val="tx"/>
                    </a:ext>
                  </a:extLst>
                </a:hlinkClick>
              </a:rPr>
              <a:t>Photo by Pexels</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3608</TotalTime>
  <Words>3744</Words>
  <Application>Microsoft Office PowerPoint</Application>
  <PresentationFormat>On-screen Show (16:9)</PresentationFormat>
  <Paragraphs>339</Paragraphs>
  <Slides>24</Slides>
  <Notes>21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Arial</vt:lpstr>
      <vt:lpstr>Cambria</vt:lpstr>
      <vt:lpstr>Plus Jakarta Sans</vt:lpstr>
      <vt:lpstr>Plus Jakarta Sans Light</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Kirti Swagat Mohanty</cp:lastModifiedBy>
  <cp:revision>66</cp:revision>
  <dcterms:created xsi:type="dcterms:W3CDTF">2024-11-24T21:58:04Z</dcterms:created>
  <dcterms:modified xsi:type="dcterms:W3CDTF">2025-07-22T05:30:00Z</dcterms:modified>
</cp:coreProperties>
</file>