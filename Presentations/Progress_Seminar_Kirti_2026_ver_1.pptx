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13" r:id="rId4"/>
    <p:sldId id="270" r:id="rId5"/>
    <p:sldId id="327" r:id="rId6"/>
    <p:sldId id="328" r:id="rId7"/>
    <p:sldId id="347" r:id="rId8"/>
    <p:sldId id="343" r:id="rId9"/>
    <p:sldId id="348" r:id="rId10"/>
    <p:sldId id="344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296" r:id="rId24"/>
    <p:sldId id="361" r:id="rId25"/>
    <p:sldId id="269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688" autoAdjust="0"/>
  </p:normalViewPr>
  <p:slideViewPr>
    <p:cSldViewPr snapToGrid="0" snapToObjects="1">
      <p:cViewPr>
        <p:scale>
          <a:sx n="83" d="100"/>
          <a:sy n="83" d="100"/>
        </p:scale>
        <p:origin x="242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0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421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A6207-1DA3-1CBF-BDAA-FC3F59A6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5D152-0917-86A5-10AE-CA438F3D6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E3117-682A-4C3A-F4EC-3C9D48374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53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9535-91B1-5758-4E29-201A6393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C1A42-F40D-ED4E-79F1-D7406A01D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208FB-0FE8-957D-470C-C6ECC4FF6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076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7871-C21C-2C54-2AAD-5613E0CA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8F749-8A0E-49C7-91B1-3AF4E6A5F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0C95B-8238-98AC-F6AE-8E0C1E7B4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542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F250-2ABB-D969-0DE6-B60B530B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DF7B5-D11C-817C-FEAC-468DD37E3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73F9E-80B6-91AC-2152-A754D15BB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673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34A17-73E8-85C1-19AD-A3B6CF9D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E5A640-8260-B1DD-274E-2CEE1749C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5B2C5-0A1E-CE0D-7C9B-EBCFEFC3F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395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412B-47AA-C6ED-3231-E765FC09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45B8E-67F7-3F4D-3A2A-A13B9ED36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6596D-4983-32ED-FE05-3499EDD1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8027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6D95A-1046-9B10-F9C0-C25BF2B4A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6E7FE-9DDA-F295-5492-D9E17EA09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0EA8C-C420-0073-B863-E6908C611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686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How to read a confusion matrix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 = Actual (ground truth)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 = Predicted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Diagonal values = Correct predictions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Off-diagonal values = Misclassifications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Darker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⇒ higher count.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class has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 samples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X-RAY CONFUSION MATRIX (Left)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Classes: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Pleural Effusion</a:t>
            </a:r>
          </a:p>
          <a:p>
            <a:pPr rtl="0" fontAlgn="ctr"/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Opacity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Predicted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        PE    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LO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           126      24      0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20     122      8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Opacity   5     103     42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Pleural Effusion (Very strong)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126 / 150 correctly classified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confusion: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mislabeled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Almost never confused with Lung Opacity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Explains: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precision (0.83)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recall (0.84)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AP (0.82)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(Recall-focused)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122 / 150 correctly classified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Misclassified as: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Pleural Effusion → 20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Opacity → 8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Model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aggressively predicts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explains: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recall (0.81)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model catches most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precision (0.49)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many false positives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 Focal Loss pushes the model to detect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even when uncertain.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Lung Opacity (Major issue)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 / 150 correctly classified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103 misclassified as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This is the biggest problem in X-ray task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Explains: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recall (0.28)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precision (0.84) → when predicted, usually correct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≈ 0.70 but recall collapse at threshold = 0.5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Visually: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Opacity features are being absorbed by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🔎 X-ray takeaway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acting like a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magnet class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Opacity is being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suppressed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Classic side-effect of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Focal Loss + weighting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CANCER CONFUSION MATRIX (Right)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Classes: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Benign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Malignant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Predicted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        Benign  Malignant  Normal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Benign          131      18         1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Malignant        32     113         5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           9     104        37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Benign (Excellent)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131 / 150 correct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few misclassifications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Explains: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precision (0.76)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recall (0.87)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AP (0.82)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 Malignant (Recall-prioritized)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113 / 150 correct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 misclassified as Benign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Model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favors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catching malignant cases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Acceptable for medical screening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precision drops (0.48)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 False positives increase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Normal (Severely under-detected)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37 / 150 correct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104 predicted as Malignant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Model almost never trusts “Normal”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Explains: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= 0.25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high (0.86)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Focal Loss suppresses easy classes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🔎 Cancer takeaway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behaves like a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screening system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Over-alerts malignant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Avoids predicting Normal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How this matches your earlier metrics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Curves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Confusion Matrix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recall ↑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low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0.81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 predicted as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Opacity recall ↓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0.70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0.28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Mostly →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Malignant recall ↑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0.58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0.75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 false positives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recall ↓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0.74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0.25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Mostly → Malignant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✔️ All outputs are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internally consistent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5️⃣ Is this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good or bad?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Good for: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Medical screening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disease detection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Risk-averse systems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Bad for: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diagnosis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 reporting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deployment without calibration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6️⃣ What to do next (actionable fixes)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High-impact fixes: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Per-class decision thresholds</a:t>
            </a:r>
          </a:p>
          <a:p>
            <a:pPr lvl="1" rtl="0" fontAlgn="ctr"/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 threshold for Lung Opacity &amp; Normal</a:t>
            </a:r>
          </a:p>
          <a:p>
            <a:pPr rtl="0" fontAlgn="ctr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focal gamma (e.g. γ = 1.5)</a:t>
            </a:r>
          </a:p>
          <a:p>
            <a:pPr rtl="0" fontAlgn="ctr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 loss = BCE + Focal</a:t>
            </a:r>
          </a:p>
          <a:p>
            <a:pPr rtl="0" fontAlgn="ctr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disentanglement (DenseNet-121)</a:t>
            </a:r>
          </a:p>
          <a:p>
            <a:pPr rtl="0" fontAlgn="ctr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Cost-sensitive post-processing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2656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How to read this report (very important)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row = one class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column means: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the model predicts this class, how often it is correct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 of all real cases of this class, how many the model detected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F1-score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Harmonic mean of precision &amp; recall (balance metric)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Number of samples (here all are balanced: 150)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X-RAY DIAGNOSTIC REPORT (Focal Loss Optimized)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Pleural Effusion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Precision: 0.83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Recall:    0.84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F1-score:  0.84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Excellent and well-balanced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finds most pleural effusion cases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Predictions are reliable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Matches your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AP (0.82)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PR curve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class is learned very well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Precision: 0.49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Recall:    0.81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F1-score:  0.61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recall, low precision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this means: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detects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(81%)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almost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 of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predictions are wrong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The model is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over-predicting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Why this happens:</a:t>
            </a:r>
          </a:p>
          <a:p>
            <a:pPr rtl="0" fontAlgn="ctr"/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visually overlaps with Lung Opacity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Focal Loss pushes the model to catch hard positives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sacrifices precision to improve recall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explains why:</a:t>
            </a:r>
          </a:p>
          <a:p>
            <a:pPr rtl="0" fontAlgn="ctr"/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 was low (0.45)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PR curve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drops fast as recall increases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Lung Opacity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Precision: 0.84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Recall:    0.28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F1-score:  0.42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conservative predictions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this means: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model predicts Lung Opacity → usually correct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it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misses most true cases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Model is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under-predicting lung opacity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Likely reason: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Focal Loss shifted attention toward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feature overlap → model avoids ambiguous decisions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🔎 Overall X-ray performance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Accuracy:     0.64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F1: 0.62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 is decent but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meaningful alone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 F1 shows imbalance in class learning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CANCER DIAGNOSTIC REPORT (Focal Loss Optimized)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Benign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Precision: 0.76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Recall:    0.87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F1-score:  0.81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and reliable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benign cases detected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balance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= 0.82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 Malignant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Precision: 0.48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Recall:    0.75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F1-score:  0.59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Recall-heavy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catches most malignant cases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many false positives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This is actually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acceptable in medical diagnosis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 positives are safer than false negatives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trade-off in cancer detection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= 0.58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PR curve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Normal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Precision: 0.86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Recall:    0.25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F1-score:  0.38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Severely under-detected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almost never predicts “Normal”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when it does → correct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📌 Focal Loss suppresses “easy” classes like Normal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🔎 Overall Cancer performance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Accuracy:     0.62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avg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F1: 0.59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Why Focal Loss caused this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(key insight)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Focal Loss: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Focuses on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hard-to-classify samples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Down-weights easy / majority classes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Type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/ subtle (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Malignant)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↑ Recall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 / obvious (Normal, Lung Opacity)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↓ Recall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Ambiguous classes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drops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✔️ This is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a bug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5️⃣ How this aligns with your PR curves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Curve AP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Pleural Effusion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Balanced precision &amp; recall</a:t>
            </a:r>
          </a:p>
          <a:p>
            <a:pPr rtl="0" fontAlgn="t"/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recall, poor precision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Opacity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precision, low recall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Benign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Balanced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Malignant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Recall-focused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</a:t>
            </a:r>
          </a:p>
          <a:p>
            <a:pPr rtl="0" fontAlgn="t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Precision-heavy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metrics are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internally consistent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👍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6️⃣ Is this model “good”?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 medical AI perspective: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Yes, especially for: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Screening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support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High-recall detection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 deployment perspective: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 Needs tuning: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Class-wise thresholds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Calibration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Possibly hybrid loss (Focal + BCE)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7️⃣ What I’d recommend next (very practical)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Per-class thresholds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(NOT 0.5 for all)</a:t>
            </a:r>
            <a:endParaRPr lang="en-I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focal gamma slightly (e.g., γ = 1.5)</a:t>
            </a:r>
          </a:p>
          <a:p>
            <a:pPr rtl="0" fontAlgn="ctr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class-wise AUC reporting</a:t>
            </a: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 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DenseNet-121 backbone</a:t>
            </a:r>
            <a:endParaRPr lang="en-I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 uncertainty handling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(-1 soft labels)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🧠 One-line summary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Focal Loss improved detection of hard diseases (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Malignant) by boosting recall, but caused under-detection of easy classes—your model is behaving exactly as expected for a medical screening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634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1️⃣ What a Precision–Recall curve means (quick refresher)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the predictions the model marked as positive, how many were correct?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I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all actual positive cases, how many did the model find?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curve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how precision changes as recall increases by varying the decision threshold.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Top-right corner is ideal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(high precision, high recall)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Under the PR Curve = Average Precision (AP)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AP ⇒ better class-wise performance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= 1.0 is perfect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 ≈ class prevalence is close to random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2️⃣ Left plot: X-ray Precision–Recall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Classes: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Pleural Effusion (AP = 0.82)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🟦</a:t>
            </a:r>
          </a:p>
          <a:p>
            <a:pPr rtl="0" fontAlgn="ctr"/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(AP = 0.45)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🟧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Opacity (AP = 0.70)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🟩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Pleural Effusion (AP = 0.82) — 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performance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precision even at higher recall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confidently distinguishes this condition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Likely has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 visual patterns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and/or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label quality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This class is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 learned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Lung Opacity (AP = 0.70) — 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but imperfect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gradually decreases as recall increases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confusion with similar findings (e.g.,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pneumonia)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 Acceptable performance, but can improve with: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feature separation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 / attention refinement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balanced samples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 </a:t>
            </a:r>
            <a:r>
              <a:rPr lang="en-I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(AP = 0.45) — 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 performance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is low across most recall values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struggles to reliably detect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Likely causes: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 similarity with other lung conditions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imbalance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 noise (-1 uncertain labels in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CheXpert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3️⃣ Right plot: Cancer Precision–Recall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Classes: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Benign (AP = 0.82)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🟦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Malignant (AP = 0.58)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🟧</a:t>
            </a: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(AP = 0.74) 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🟩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🔵 Benign (AP = 0.82) — 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 strong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precision maintained over wide recall range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is confident when identifying benign cases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Reliable predictions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🟢 Normal (AP = 0.74) — 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Reasonably strong curve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drops slowly as recall increases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Model can identify normal samples fairly well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🟠 Malignant (AP = 0.58) — </a:t>
            </a:r>
            <a:r>
              <a:rPr lang="en-IN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Moderate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fluctuates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Drops faster as recall increases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⚠️ This is common because: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Malignant cases are visually heterogeneous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 fewer samples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Harder boundaries than benign/normal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4️⃣ Big-picture insights from your results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What your model is doing well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 conditions (Pleural Effusion, Benign, Normal)</a:t>
            </a: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Likely benefits from: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 backbone features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Graph-level context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mechanisms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❌ Where the model struggles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Ambiguous or overlapping conditions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ctr"/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Edema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Malignant </a:t>
            </a:r>
            <a:r>
              <a:rPr lang="en-I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tumors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 in medical imaging due to: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 labels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 similarity</a:t>
            </a:r>
          </a:p>
          <a:p>
            <a:pPr lvl="1" rtl="0" fontAlgn="ctr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imbalance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62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pexels.com/?utm_source=magicslides.app&amp;utm_medium=presentati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exels.com/?utm_source=magicslides.app&amp;utm_medium=present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8611" y="821624"/>
            <a:ext cx="7257787" cy="3940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/>
            <a:r>
              <a:rPr lang="en-US" sz="16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GMED-X: Graph-Guided Multi-Modal Encoding for Lung Disease Classification</a:t>
            </a:r>
          </a:p>
        </p:txBody>
      </p:sp>
      <p:sp>
        <p:nvSpPr>
          <p:cNvPr id="11" name="Text 5"/>
          <p:cNvSpPr/>
          <p:nvPr/>
        </p:nvSpPr>
        <p:spPr>
          <a:xfrm>
            <a:off x="5852160" y="375475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FFFFFF"/>
                </a:solidFill>
                <a:hlinkClick r:id="rId4" tooltip="Pe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Pexels</a:t>
            </a:r>
            <a:endParaRPr lang="en-US" sz="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078A08-B003-2FCC-95CB-CF42DFCF3B12}"/>
              </a:ext>
            </a:extLst>
          </p:cNvPr>
          <p:cNvSpPr txBox="1">
            <a:spLocks/>
          </p:cNvSpPr>
          <p:nvPr/>
        </p:nvSpPr>
        <p:spPr>
          <a:xfrm>
            <a:off x="1431385" y="307274"/>
            <a:ext cx="6492240" cy="51435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Progress Seminar</a:t>
            </a:r>
            <a:endParaRPr lang="en-IN" sz="3600" b="1" dirty="0">
              <a:solidFill>
                <a:srgbClr val="17A33E"/>
              </a:solidFill>
              <a:latin typeface="Times New Roman" panose="02020603050405020304" pitchFamily="18" charset="0"/>
              <a:ea typeface="Plus Jakarta Sans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55196023-A3E0-DAA6-B768-72775827CC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10" y="4102879"/>
            <a:ext cx="921373" cy="9213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48188D-346D-B48C-775C-B7CD2EE65B75}"/>
              </a:ext>
            </a:extLst>
          </p:cNvPr>
          <p:cNvSpPr txBox="1"/>
          <p:nvPr/>
        </p:nvSpPr>
        <p:spPr>
          <a:xfrm>
            <a:off x="7537" y="4153165"/>
            <a:ext cx="9144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Department of Electronics and Communication Engineering,</a:t>
            </a:r>
          </a:p>
          <a:p>
            <a:pPr algn="ctr"/>
            <a:r>
              <a:rPr lang="en-IN" sz="20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National Institute of Technology, Silchar</a:t>
            </a:r>
            <a:endParaRPr lang="en-US" sz="2000" b="1" dirty="0">
              <a:solidFill>
                <a:srgbClr val="17A33E"/>
              </a:solidFill>
              <a:latin typeface="Times New Roman" panose="02020603050405020304" pitchFamily="18" charset="0"/>
              <a:ea typeface="Plus Jakarta Sans" pitchFamily="34" charset="-122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9B746-5975-DC52-EE86-67BC74D02EB2}"/>
              </a:ext>
            </a:extLst>
          </p:cNvPr>
          <p:cNvSpPr txBox="1"/>
          <p:nvPr/>
        </p:nvSpPr>
        <p:spPr>
          <a:xfrm>
            <a:off x="-7537" y="2188733"/>
            <a:ext cx="9151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       </a:t>
            </a:r>
            <a:r>
              <a:rPr lang="en-US" sz="1600" b="1" i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Under the Supervision of </a:t>
            </a:r>
          </a:p>
          <a:p>
            <a:pPr algn="ctr"/>
            <a:r>
              <a:rPr lang="en-US" sz="16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       Dr. </a:t>
            </a:r>
            <a:r>
              <a:rPr lang="en-US" sz="1600" b="1" dirty="0" err="1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Prabina</a:t>
            </a:r>
            <a:r>
              <a:rPr lang="en-US" sz="16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 Pattanayak and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IN" sz="1600" b="1" dirty="0" err="1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Dr.</a:t>
            </a:r>
            <a:r>
              <a:rPr lang="en-IN" sz="16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 Chandrajit Choudhury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D40726-2329-C6F5-DEFB-42F1723F4AC6}"/>
              </a:ext>
            </a:extLst>
          </p:cNvPr>
          <p:cNvSpPr txBox="1"/>
          <p:nvPr/>
        </p:nvSpPr>
        <p:spPr>
          <a:xfrm>
            <a:off x="7537" y="3096790"/>
            <a:ext cx="9151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Presented By </a:t>
            </a:r>
          </a:p>
          <a:p>
            <a:pPr algn="ctr"/>
            <a:r>
              <a:rPr lang="en-US" sz="16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Kirti Swagat Mohanty</a:t>
            </a:r>
          </a:p>
          <a:p>
            <a:pPr algn="ctr"/>
            <a:r>
              <a:rPr lang="en-US" sz="1600" b="1" dirty="0">
                <a:solidFill>
                  <a:srgbClr val="17A33E"/>
                </a:solidFill>
                <a:latin typeface="Times New Roman" panose="02020603050405020304" pitchFamily="18" charset="0"/>
                <a:ea typeface="Plus Jakarta Sans" pitchFamily="34" charset="-122"/>
                <a:cs typeface="Times New Roman" panose="02020603050405020304" pitchFamily="18" charset="0"/>
              </a:rPr>
              <a:t>21-3-04-068</a:t>
            </a:r>
            <a:endParaRPr lang="en-IN" sz="1600" b="1" dirty="0">
              <a:solidFill>
                <a:srgbClr val="17A33E"/>
              </a:solidFill>
              <a:latin typeface="Times New Roman" panose="02020603050405020304" pitchFamily="18" charset="0"/>
              <a:ea typeface="Plus Jakarta Sans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6291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Table of Contents</a:t>
            </a:r>
            <a:endParaRPr lang="en-US" sz="3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BBF6765-1B05-2A36-2473-6AD08928F268}"/>
              </a:ext>
            </a:extLst>
          </p:cNvPr>
          <p:cNvGrpSpPr/>
          <p:nvPr/>
        </p:nvGrpSpPr>
        <p:grpSpPr>
          <a:xfrm>
            <a:off x="581298" y="1018088"/>
            <a:ext cx="3703320" cy="514350"/>
            <a:chOff x="594360" y="1285875"/>
            <a:chExt cx="3703320" cy="514350"/>
          </a:xfrm>
        </p:grpSpPr>
        <p:sp>
          <p:nvSpPr>
            <p:cNvPr id="4" name="Shape 1"/>
            <p:cNvSpPr/>
            <p:nvPr/>
          </p:nvSpPr>
          <p:spPr>
            <a:xfrm>
              <a:off x="731520" y="1285875"/>
              <a:ext cx="3474720" cy="514350"/>
            </a:xfrm>
            <a:prstGeom prst="roundRect">
              <a:avLst>
                <a:gd name="adj" fmla="val 88889"/>
              </a:avLst>
            </a:prstGeom>
            <a:solidFill>
              <a:srgbClr val="E8FFEF"/>
            </a:solidFill>
            <a:ln w="12700">
              <a:solidFill>
                <a:srgbClr val="17A33E"/>
              </a:solidFill>
              <a:prstDash val="solid"/>
            </a:ln>
          </p:spPr>
        </p:sp>
        <p:sp>
          <p:nvSpPr>
            <p:cNvPr id="5" name="Shape 2"/>
            <p:cNvSpPr/>
            <p:nvPr/>
          </p:nvSpPr>
          <p:spPr>
            <a:xfrm>
              <a:off x="594360" y="1337310"/>
              <a:ext cx="411480" cy="411480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FFFFFF"/>
              </a:solidFill>
              <a:prstDash val="solid"/>
            </a:ln>
          </p:spPr>
        </p:sp>
        <p:sp>
          <p:nvSpPr>
            <p:cNvPr id="6" name="Shape 3"/>
            <p:cNvSpPr/>
            <p:nvPr/>
          </p:nvSpPr>
          <p:spPr>
            <a:xfrm>
              <a:off x="640080" y="1388745"/>
              <a:ext cx="320040" cy="308610"/>
            </a:xfrm>
            <a:prstGeom prst="ellipse">
              <a:avLst/>
            </a:prstGeom>
            <a:solidFill>
              <a:srgbClr val="17A33E"/>
            </a:solidFill>
            <a:ln w="50800">
              <a:solidFill>
                <a:srgbClr val="17A33E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640080" y="1337310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Plus Jakarta Sans" pitchFamily="34" charset="0"/>
                  <a:ea typeface="Plus Jakarta Sans" pitchFamily="34" charset="-122"/>
                  <a:cs typeface="Plus Jakarta Sans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97280" y="1337310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Plus Jakarta Sans" pitchFamily="34" charset="0"/>
                  <a:ea typeface="Plus Jakarta Sans" pitchFamily="34" charset="-122"/>
                  <a:cs typeface="Plus Jakarta Sans" pitchFamily="34" charset="-120"/>
                </a:rPr>
                <a:t>Introduction</a:t>
              </a:r>
              <a:endParaRPr lang="en-US" sz="14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409EA37-893E-EF32-5D2F-A68EAC357DE0}"/>
              </a:ext>
            </a:extLst>
          </p:cNvPr>
          <p:cNvGrpSpPr/>
          <p:nvPr/>
        </p:nvGrpSpPr>
        <p:grpSpPr>
          <a:xfrm>
            <a:off x="594360" y="1822270"/>
            <a:ext cx="3703320" cy="514350"/>
            <a:chOff x="594360" y="2057400"/>
            <a:chExt cx="3703320" cy="514350"/>
          </a:xfrm>
        </p:grpSpPr>
        <p:sp>
          <p:nvSpPr>
            <p:cNvPr id="9" name="Shape 6"/>
            <p:cNvSpPr/>
            <p:nvPr/>
          </p:nvSpPr>
          <p:spPr>
            <a:xfrm>
              <a:off x="731520" y="2057400"/>
              <a:ext cx="3474720" cy="514350"/>
            </a:xfrm>
            <a:prstGeom prst="roundRect">
              <a:avLst>
                <a:gd name="adj" fmla="val 88889"/>
              </a:avLst>
            </a:prstGeom>
            <a:solidFill>
              <a:srgbClr val="E8FFEF"/>
            </a:solidFill>
            <a:ln w="12700">
              <a:solidFill>
                <a:srgbClr val="17A33E"/>
              </a:solidFill>
              <a:prstDash val="solid"/>
            </a:ln>
          </p:spPr>
        </p:sp>
        <p:sp>
          <p:nvSpPr>
            <p:cNvPr id="10" name="Shape 7"/>
            <p:cNvSpPr/>
            <p:nvPr/>
          </p:nvSpPr>
          <p:spPr>
            <a:xfrm>
              <a:off x="594360" y="2108835"/>
              <a:ext cx="411480" cy="411480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FFFFFF"/>
              </a:solidFill>
              <a:prstDash val="solid"/>
            </a:ln>
          </p:spPr>
        </p:sp>
        <p:sp>
          <p:nvSpPr>
            <p:cNvPr id="11" name="Shape 8"/>
            <p:cNvSpPr/>
            <p:nvPr/>
          </p:nvSpPr>
          <p:spPr>
            <a:xfrm>
              <a:off x="640080" y="2160270"/>
              <a:ext cx="320040" cy="308610"/>
            </a:xfrm>
            <a:prstGeom prst="ellipse">
              <a:avLst/>
            </a:prstGeom>
            <a:solidFill>
              <a:srgbClr val="17A33E"/>
            </a:solidFill>
            <a:ln w="50800">
              <a:solidFill>
                <a:srgbClr val="17A33E"/>
              </a:solidFill>
              <a:prstDash val="solid"/>
            </a:ln>
          </p:spPr>
        </p:sp>
        <p:sp>
          <p:nvSpPr>
            <p:cNvPr id="12" name="Text 9"/>
            <p:cNvSpPr/>
            <p:nvPr/>
          </p:nvSpPr>
          <p:spPr>
            <a:xfrm>
              <a:off x="640080" y="2108835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Plus Jakarta Sans" pitchFamily="34" charset="0"/>
                  <a:ea typeface="Plus Jakarta Sans" pitchFamily="34" charset="-122"/>
                  <a:cs typeface="Plus Jakarta Sans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1097280" y="2108835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Plus Jakarta Sans" pitchFamily="34" charset="0"/>
                  <a:ea typeface="Plus Jakarta Sans" pitchFamily="34" charset="-122"/>
                  <a:cs typeface="Plus Jakarta Sans" pitchFamily="34" charset="-120"/>
                </a:rPr>
                <a:t>Motivation and Objectives</a:t>
              </a:r>
              <a:endParaRPr lang="en-US" sz="14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975647B-D6D1-1326-5400-E81900E8013B}"/>
              </a:ext>
            </a:extLst>
          </p:cNvPr>
          <p:cNvGrpSpPr/>
          <p:nvPr/>
        </p:nvGrpSpPr>
        <p:grpSpPr>
          <a:xfrm>
            <a:off x="594360" y="2652578"/>
            <a:ext cx="3703320" cy="514350"/>
            <a:chOff x="594360" y="2828925"/>
            <a:chExt cx="3703320" cy="514350"/>
          </a:xfrm>
        </p:grpSpPr>
        <p:sp>
          <p:nvSpPr>
            <p:cNvPr id="14" name="Shape 11"/>
            <p:cNvSpPr/>
            <p:nvPr/>
          </p:nvSpPr>
          <p:spPr>
            <a:xfrm>
              <a:off x="731520" y="2828925"/>
              <a:ext cx="3474720" cy="514350"/>
            </a:xfrm>
            <a:prstGeom prst="roundRect">
              <a:avLst>
                <a:gd name="adj" fmla="val 88889"/>
              </a:avLst>
            </a:prstGeom>
            <a:solidFill>
              <a:srgbClr val="E8FFEF"/>
            </a:solidFill>
            <a:ln w="12700">
              <a:solidFill>
                <a:srgbClr val="17A33E"/>
              </a:solidFill>
              <a:prstDash val="solid"/>
            </a:ln>
          </p:spPr>
        </p:sp>
        <p:sp>
          <p:nvSpPr>
            <p:cNvPr id="15" name="Shape 12"/>
            <p:cNvSpPr/>
            <p:nvPr/>
          </p:nvSpPr>
          <p:spPr>
            <a:xfrm>
              <a:off x="594360" y="2880360"/>
              <a:ext cx="411480" cy="411480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FFFFFF"/>
              </a:solidFill>
              <a:prstDash val="solid"/>
            </a:ln>
          </p:spPr>
        </p:sp>
        <p:sp>
          <p:nvSpPr>
            <p:cNvPr id="16" name="Shape 13"/>
            <p:cNvSpPr/>
            <p:nvPr/>
          </p:nvSpPr>
          <p:spPr>
            <a:xfrm>
              <a:off x="640080" y="2931795"/>
              <a:ext cx="320040" cy="308610"/>
            </a:xfrm>
            <a:prstGeom prst="ellipse">
              <a:avLst/>
            </a:prstGeom>
            <a:solidFill>
              <a:srgbClr val="17A33E"/>
            </a:solidFill>
            <a:ln w="50800">
              <a:solidFill>
                <a:srgbClr val="17A33E"/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640080" y="2880360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Plus Jakarta Sans" pitchFamily="34" charset="0"/>
                  <a:ea typeface="Plus Jakarta Sans" pitchFamily="34" charset="-122"/>
                  <a:cs typeface="Plus Jakarta Sans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097280" y="2880360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Plus Jakarta Sans" pitchFamily="34" charset="0"/>
                  <a:ea typeface="Plus Jakarta Sans" pitchFamily="34" charset="-122"/>
                  <a:cs typeface="Plus Jakarta Sans" pitchFamily="34" charset="-120"/>
                </a:rPr>
                <a:t>System Overview</a:t>
              </a:r>
              <a:endParaRPr lang="en-US" sz="1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C0E754-45C8-69B2-B1E8-AA83C3EB4C19}"/>
              </a:ext>
            </a:extLst>
          </p:cNvPr>
          <p:cNvGrpSpPr/>
          <p:nvPr/>
        </p:nvGrpSpPr>
        <p:grpSpPr>
          <a:xfrm>
            <a:off x="594360" y="3482888"/>
            <a:ext cx="3703320" cy="514350"/>
            <a:chOff x="594360" y="3600450"/>
            <a:chExt cx="3703320" cy="514350"/>
          </a:xfrm>
        </p:grpSpPr>
        <p:sp>
          <p:nvSpPr>
            <p:cNvPr id="19" name="Shape 16"/>
            <p:cNvSpPr/>
            <p:nvPr/>
          </p:nvSpPr>
          <p:spPr>
            <a:xfrm>
              <a:off x="731520" y="3600450"/>
              <a:ext cx="3474720" cy="514350"/>
            </a:xfrm>
            <a:prstGeom prst="roundRect">
              <a:avLst>
                <a:gd name="adj" fmla="val 88889"/>
              </a:avLst>
            </a:prstGeom>
            <a:solidFill>
              <a:srgbClr val="E8FFEF"/>
            </a:solidFill>
            <a:ln w="12700">
              <a:solidFill>
                <a:srgbClr val="17A33E"/>
              </a:solidFill>
              <a:prstDash val="solid"/>
            </a:ln>
          </p:spPr>
        </p:sp>
        <p:sp>
          <p:nvSpPr>
            <p:cNvPr id="20" name="Shape 17"/>
            <p:cNvSpPr/>
            <p:nvPr/>
          </p:nvSpPr>
          <p:spPr>
            <a:xfrm>
              <a:off x="594360" y="3651885"/>
              <a:ext cx="411480" cy="411480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FFFFFF"/>
              </a:solidFill>
              <a:prstDash val="solid"/>
            </a:ln>
          </p:spPr>
        </p:sp>
        <p:sp>
          <p:nvSpPr>
            <p:cNvPr id="21" name="Shape 18"/>
            <p:cNvSpPr/>
            <p:nvPr/>
          </p:nvSpPr>
          <p:spPr>
            <a:xfrm>
              <a:off x="640080" y="3703320"/>
              <a:ext cx="320040" cy="308610"/>
            </a:xfrm>
            <a:prstGeom prst="ellipse">
              <a:avLst/>
            </a:prstGeom>
            <a:solidFill>
              <a:srgbClr val="17A33E"/>
            </a:solidFill>
            <a:ln w="50800">
              <a:solidFill>
                <a:srgbClr val="17A33E"/>
              </a:solidFill>
              <a:prstDash val="solid"/>
            </a:ln>
          </p:spPr>
        </p:sp>
        <p:sp>
          <p:nvSpPr>
            <p:cNvPr id="22" name="Text 19"/>
            <p:cNvSpPr/>
            <p:nvPr/>
          </p:nvSpPr>
          <p:spPr>
            <a:xfrm>
              <a:off x="640080" y="3651885"/>
              <a:ext cx="3657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Plus Jakarta Sans" pitchFamily="34" charset="0"/>
                  <a:ea typeface="Plus Jakarta Sans" pitchFamily="34" charset="-122"/>
                  <a:cs typeface="Plus Jakarta Sans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1097280" y="3651885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000000"/>
                  </a:solidFill>
                  <a:latin typeface="Plus Jakarta Sans" pitchFamily="34" charset="0"/>
                  <a:ea typeface="Plus Jakarta Sans" pitchFamily="34" charset="-122"/>
                  <a:cs typeface="Plus Jakarta Sans" pitchFamily="34" charset="-120"/>
                </a:rPr>
                <a:t>Block Chain Integration</a:t>
              </a:r>
              <a:endParaRPr lang="en-US" sz="1400" dirty="0"/>
            </a:p>
          </p:txBody>
        </p:sp>
      </p:grpSp>
      <p:sp>
        <p:nvSpPr>
          <p:cNvPr id="24" name="Shape 21"/>
          <p:cNvSpPr/>
          <p:nvPr/>
        </p:nvSpPr>
        <p:spPr>
          <a:xfrm>
            <a:off x="751136" y="4290318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22"/>
          <p:cNvSpPr/>
          <p:nvPr/>
        </p:nvSpPr>
        <p:spPr>
          <a:xfrm>
            <a:off x="613976" y="4341753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9696" y="4393188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9696" y="4341753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6896" y="4341753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937760" y="2108835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937760" y="2880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937760" y="3651885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14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FAE411F-4EC4-6573-F32C-72BBF18A0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872" y="266700"/>
            <a:ext cx="4679373" cy="467937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4446C-02A5-D722-20E2-FB25CBE3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7D072C7-7D7B-DE2E-AC01-B037E988A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3BD268-9139-E127-9FCC-5F2EBE026F0F}"/>
              </a:ext>
            </a:extLst>
          </p:cNvPr>
          <p:cNvSpPr/>
          <p:nvPr/>
        </p:nvSpPr>
        <p:spPr>
          <a:xfrm>
            <a:off x="65314" y="4163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Statement-1- Completed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05D393C-6F8B-1DC2-D466-81538E3F2CC4}"/>
              </a:ext>
            </a:extLst>
          </p:cNvPr>
          <p:cNvSpPr/>
          <p:nvPr/>
        </p:nvSpPr>
        <p:spPr>
          <a:xfrm>
            <a:off x="124097" y="909349"/>
            <a:ext cx="8936777" cy="429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US" sz="1600" b="1" dirty="0">
                <a:latin typeface="Plus Jakarta Sans" pitchFamily="34" charset="0"/>
                <a:ea typeface="Plus Jakarta Sans" pitchFamily="34" charset="-122"/>
              </a:rPr>
              <a:t>Designing a </a:t>
            </a:r>
            <a:r>
              <a:rPr lang="en-IN" sz="1600" b="1" dirty="0">
                <a:latin typeface="Plus Jakarta Sans" pitchFamily="34" charset="0"/>
                <a:ea typeface="Plus Jakarta Sans" pitchFamily="34" charset="-122"/>
              </a:rPr>
              <a:t>Contrastive</a:t>
            </a:r>
            <a:r>
              <a:rPr lang="en-IN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IN" sz="1600" b="1" dirty="0">
                <a:latin typeface="Plus Jakarta Sans" pitchFamily="34" charset="0"/>
                <a:ea typeface="Plus Jakarta Sans" pitchFamily="34" charset="-122"/>
              </a:rPr>
              <a:t>Learning Based Robust Multi-label Chest Disease Classification System</a:t>
            </a:r>
            <a:endParaRPr lang="en-US" sz="1600" b="1" dirty="0">
              <a:latin typeface="Plus Jakarta Sans" pitchFamily="34" charset="0"/>
              <a:ea typeface="Plus Jakarta Sans" pitchFamily="34" charset="-122"/>
            </a:endParaRP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3E46902B-8D27-1994-165C-2B10E25DA27E}"/>
              </a:ext>
            </a:extLst>
          </p:cNvPr>
          <p:cNvSpPr/>
          <p:nvPr/>
        </p:nvSpPr>
        <p:spPr>
          <a:xfrm>
            <a:off x="65313" y="1790096"/>
            <a:ext cx="88299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Statement-2- </a:t>
            </a:r>
            <a:r>
              <a:rPr lang="en-US" sz="32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Completed</a:t>
            </a:r>
            <a:endParaRPr lang="en-US" sz="33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FE46F33F-2840-F07C-B2D7-0D01FDE5CADC}"/>
              </a:ext>
            </a:extLst>
          </p:cNvPr>
          <p:cNvSpPr/>
          <p:nvPr/>
        </p:nvSpPr>
        <p:spPr>
          <a:xfrm>
            <a:off x="65314" y="2208968"/>
            <a:ext cx="8936777" cy="429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spcAft>
                <a:spcPts val="1200"/>
              </a:spcAft>
              <a:buSzPct val="100000"/>
            </a:pPr>
            <a:r>
              <a:rPr lang="en-US" sz="1600" b="1" dirty="0">
                <a:latin typeface="Plus Jakarta Sans" pitchFamily="34" charset="0"/>
                <a:ea typeface="Plus Jakarta Sans" pitchFamily="34" charset="-122"/>
              </a:rPr>
              <a:t>Blockchain-Secured Federated Learning for Privacy-Preserving Multi-label Chest Disease Classification </a:t>
            </a: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89605461-00B4-B461-A9D1-135DB03E951B}"/>
              </a:ext>
            </a:extLst>
          </p:cNvPr>
          <p:cNvSpPr/>
          <p:nvPr/>
        </p:nvSpPr>
        <p:spPr>
          <a:xfrm>
            <a:off x="124097" y="326902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Statement-3- </a:t>
            </a:r>
            <a:r>
              <a:rPr lang="en-US" sz="28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Implementation Complete</a:t>
            </a:r>
            <a:endParaRPr lang="en-US" sz="33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3E1F9EF-86BA-CDEE-E5BB-4329CE6E9432}"/>
              </a:ext>
            </a:extLst>
          </p:cNvPr>
          <p:cNvSpPr/>
          <p:nvPr/>
        </p:nvSpPr>
        <p:spPr>
          <a:xfrm>
            <a:off x="124097" y="3687901"/>
            <a:ext cx="8695707" cy="799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spcAft>
                <a:spcPts val="1200"/>
              </a:spcAft>
              <a:buSzPct val="100000"/>
            </a:pPr>
            <a:r>
              <a:rPr lang="en-US" sz="1600" b="1" dirty="0">
                <a:latin typeface="Plus Jakarta Sans" pitchFamily="34" charset="0"/>
                <a:ea typeface="Plus Jakarta Sans" pitchFamily="34" charset="-122"/>
              </a:rPr>
              <a:t>Designing a deep-learning based architecture to optimize features from the input image to enhance the classification</a:t>
            </a: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4662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DF9268A-5F0F-9084-ED9D-DEE8AF1FC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A15A776-A71F-3272-50D6-3EF6899BD259}"/>
              </a:ext>
            </a:extLst>
          </p:cNvPr>
          <p:cNvSpPr/>
          <p:nvPr/>
        </p:nvSpPr>
        <p:spPr>
          <a:xfrm>
            <a:off x="239486" y="0"/>
            <a:ext cx="8055428" cy="690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Problem Statement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0D3AEAD-13E0-1A51-7CD1-E678531C008F}"/>
              </a:ext>
            </a:extLst>
          </p:cNvPr>
          <p:cNvSpPr/>
          <p:nvPr/>
        </p:nvSpPr>
        <p:spPr>
          <a:xfrm>
            <a:off x="239486" y="586195"/>
            <a:ext cx="8730343" cy="4290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</a:rPr>
              <a:t>The detection and classification of lung diseases from medical images pose significant challenges due to the complexity of pathologies and the need for high diagnosis accuracy. </a:t>
            </a:r>
          </a:p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Clinical Challenge</a:t>
            </a: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: Patients with lung diseases often have multiple imaging modalities available (</a:t>
            </a:r>
            <a:r>
              <a:rPr lang="en-US" sz="1200" dirty="0" err="1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CheXpert</a:t>
            </a: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 X-rays + CT scans), but current models treat them independently or use naive fusion, missing critical disease relationships.</a:t>
            </a:r>
          </a:p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Class Imbalance</a:t>
            </a: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: Diseases like cancer are rare in datasets like </a:t>
            </a:r>
            <a:r>
              <a:rPr lang="en-US" sz="1200" dirty="0" err="1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CheXpert</a:t>
            </a: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, causing models to overfit to common classes and underperform on minority diseases.</a:t>
            </a:r>
          </a:p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Need</a:t>
            </a: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: A lightweight, unified framework that:</a:t>
            </a:r>
          </a:p>
          <a:p>
            <a:pPr marL="800100" lvl="1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Fuses X-ray and CT intelligently using </a:t>
            </a:r>
            <a:r>
              <a:rPr lang="en-US" sz="1200" b="1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attention mechanisms</a:t>
            </a: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.</a:t>
            </a:r>
          </a:p>
          <a:p>
            <a:pPr marL="800100" lvl="1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Leverages disease co-occurrence patterns (e.g., cancer often co-occurs with effusion).</a:t>
            </a:r>
          </a:p>
          <a:p>
            <a:pPr marL="800100" lvl="1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Handles severe </a:t>
            </a:r>
            <a:r>
              <a:rPr lang="en-US" sz="1200" b="1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class imbalance via focal loss</a:t>
            </a:r>
            <a:r>
              <a:rPr lang="en-US" sz="12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.</a:t>
            </a: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6548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902D-ED76-55C0-ECFE-D9E8C0DC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776B203-94C0-0757-1DF1-3EA193A3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DCD8404-9D8F-CC34-1D3C-4305BF022DD9}"/>
              </a:ext>
            </a:extLst>
          </p:cNvPr>
          <p:cNvSpPr/>
          <p:nvPr/>
        </p:nvSpPr>
        <p:spPr>
          <a:xfrm>
            <a:off x="239486" y="0"/>
            <a:ext cx="8055428" cy="690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Architecture Component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549426B-D84A-A666-F3F1-E90D5B392594}"/>
              </a:ext>
            </a:extLst>
          </p:cNvPr>
          <p:cNvSpPr/>
          <p:nvPr/>
        </p:nvSpPr>
        <p:spPr>
          <a:xfrm>
            <a:off x="239486" y="509551"/>
            <a:ext cx="8730343" cy="4367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Plus Jakarta Sans Light" pitchFamily="34" charset="0"/>
              <a:ea typeface="Plus Jakarta Sans Light" pitchFamily="34" charset="-122"/>
              <a:cs typeface="Plus Jakarta Sans Light" pitchFamily="34" charset="-120"/>
            </a:endParaRP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82E497A-13F0-F945-35B9-49920CC75FFE}"/>
              </a:ext>
            </a:extLst>
          </p:cNvPr>
          <p:cNvSpPr/>
          <p:nvPr/>
        </p:nvSpPr>
        <p:spPr>
          <a:xfrm>
            <a:off x="253446" y="571984"/>
            <a:ext cx="2694580" cy="349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Data Flow Diagram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D423D6-FEC6-7723-F1C8-1ED401F1DA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574" b="29030"/>
          <a:stretch>
            <a:fillRect/>
          </a:stretch>
        </p:blipFill>
        <p:spPr>
          <a:xfrm>
            <a:off x="722482" y="1623974"/>
            <a:ext cx="7699035" cy="202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89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A956-FD57-0F20-AC08-96FC86A7A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557E65F-BB6A-CCC7-A8E5-4AE5790AE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FA6E7BD-D8AE-7052-CE73-2B9AFC8B1090}"/>
              </a:ext>
            </a:extLst>
          </p:cNvPr>
          <p:cNvSpPr/>
          <p:nvPr/>
        </p:nvSpPr>
        <p:spPr>
          <a:xfrm>
            <a:off x="239486" y="1"/>
            <a:ext cx="8055428" cy="571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Architecture Components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F7809A2-7B17-A1B1-CAF2-206C9E8369C8}"/>
              </a:ext>
            </a:extLst>
          </p:cNvPr>
          <p:cNvSpPr/>
          <p:nvPr/>
        </p:nvSpPr>
        <p:spPr>
          <a:xfrm>
            <a:off x="239486" y="509551"/>
            <a:ext cx="8730343" cy="4367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Plus Jakarta Sans Light" pitchFamily="34" charset="0"/>
              <a:ea typeface="Plus Jakarta Sans Light" pitchFamily="34" charset="-122"/>
              <a:cs typeface="Plus Jakarta Sans Light" pitchFamily="34" charset="-120"/>
            </a:endParaRP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238F339-BE9C-908B-035A-BA4FE2BBB7D7}"/>
              </a:ext>
            </a:extLst>
          </p:cNvPr>
          <p:cNvSpPr/>
          <p:nvPr/>
        </p:nvSpPr>
        <p:spPr>
          <a:xfrm>
            <a:off x="253446" y="571984"/>
            <a:ext cx="6542375" cy="349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20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A. Dual 2D Encoders (Efficient &amp; Lightweight)</a:t>
            </a:r>
            <a:endParaRPr lang="en-US" sz="2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0C52E47-AD6F-E74E-3148-418C9B858BC2}"/>
              </a:ext>
            </a:extLst>
          </p:cNvPr>
          <p:cNvSpPr/>
          <p:nvPr/>
        </p:nvSpPr>
        <p:spPr>
          <a:xfrm>
            <a:off x="274122" y="982342"/>
            <a:ext cx="8695707" cy="3810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IN" sz="1200" b="1" dirty="0"/>
              <a:t>What it does?</a:t>
            </a:r>
            <a:endParaRPr lang="en-IN" sz="1200" dirty="0"/>
          </a:p>
          <a:p>
            <a:pPr marL="628650" lvl="1" indent="-1714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Extract feature embeddings from both modalities independently</a:t>
            </a:r>
            <a:endParaRPr lang="en-IN" sz="12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200" b="1" dirty="0"/>
              <a:t>Technology: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X-ray encoder:EfficientNet-B0 (</a:t>
            </a:r>
            <a:r>
              <a:rPr lang="en-US" sz="1200" dirty="0" err="1"/>
              <a:t>EfficientNet</a:t>
            </a:r>
            <a:r>
              <a:rPr lang="en-US" sz="1200" dirty="0"/>
              <a:t> achieves state-of-the-art accuracy with 10x fewer parameters than </a:t>
            </a:r>
            <a:r>
              <a:rPr lang="en-US" sz="1200" dirty="0" err="1"/>
              <a:t>ResNet</a:t>
            </a:r>
            <a:r>
              <a:rPr lang="en-US" sz="1200" dirty="0"/>
              <a:t>; critical for clinical deployment)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CT encoder: Same backbone for alignment and efficiency.</a:t>
            </a:r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IN" sz="1200" b="1" dirty="0"/>
              <a:t>Output: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Low-dimensional feature vectors (256–512D per modality).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Performance verification on sealed test sets, recording metrics immutably on blockchain.</a:t>
            </a:r>
          </a:p>
          <a:p>
            <a:pPr marL="685800" lvl="1" indent="-228600">
              <a:lnSpc>
                <a:spcPts val="2000"/>
              </a:lnSpc>
              <a:spcAft>
                <a:spcPts val="1200"/>
              </a:spcAft>
              <a:buSzPct val="100000"/>
              <a:buAutoNum type="arabicPeriod"/>
            </a:pPr>
            <a:endParaRPr lang="en-US" sz="1200" dirty="0"/>
          </a:p>
          <a:p>
            <a:pPr marL="171450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09728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57B95-00E8-E8C0-B10D-56FFDCF54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FC45713-7FE1-7A18-6CAB-5EC0EBF8C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0346EA2-8F8A-D097-0B61-50207D33804D}"/>
              </a:ext>
            </a:extLst>
          </p:cNvPr>
          <p:cNvSpPr/>
          <p:nvPr/>
        </p:nvSpPr>
        <p:spPr>
          <a:xfrm>
            <a:off x="239486" y="1"/>
            <a:ext cx="8055428" cy="571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Architecture Components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075BBA8-3E03-A053-4620-AEE9BD07D244}"/>
              </a:ext>
            </a:extLst>
          </p:cNvPr>
          <p:cNvSpPr/>
          <p:nvPr/>
        </p:nvSpPr>
        <p:spPr>
          <a:xfrm>
            <a:off x="239486" y="509551"/>
            <a:ext cx="8730343" cy="4367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Plus Jakarta Sans Light" pitchFamily="34" charset="0"/>
              <a:ea typeface="Plus Jakarta Sans Light" pitchFamily="34" charset="-122"/>
              <a:cs typeface="Plus Jakarta Sans Light" pitchFamily="34" charset="-120"/>
            </a:endParaRP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8B6C93D-409F-DDF1-D3CA-ED070D379AAC}"/>
              </a:ext>
            </a:extLst>
          </p:cNvPr>
          <p:cNvSpPr/>
          <p:nvPr/>
        </p:nvSpPr>
        <p:spPr>
          <a:xfrm>
            <a:off x="253446" y="571984"/>
            <a:ext cx="6542375" cy="349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20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A. Dual 2D Encoders (Efficient &amp; Lightweight)</a:t>
            </a:r>
            <a:endParaRPr lang="en-US" sz="20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61A0ED1B-B837-A6A7-5450-69DAD756C508}"/>
              </a:ext>
            </a:extLst>
          </p:cNvPr>
          <p:cNvSpPr/>
          <p:nvPr/>
        </p:nvSpPr>
        <p:spPr>
          <a:xfrm>
            <a:off x="609600" y="1378000"/>
            <a:ext cx="3810000" cy="1818084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FC38DDD-39DA-6524-C76F-2F1E41964271}"/>
              </a:ext>
            </a:extLst>
          </p:cNvPr>
          <p:cNvSpPr/>
          <p:nvPr/>
        </p:nvSpPr>
        <p:spPr>
          <a:xfrm>
            <a:off x="838200" y="1606600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 Encoder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07EBCFB-6C5D-B736-7BBD-2F37898CF376}"/>
              </a:ext>
            </a:extLst>
          </p:cNvPr>
          <p:cNvSpPr/>
          <p:nvPr/>
        </p:nvSpPr>
        <p:spPr>
          <a:xfrm>
            <a:off x="1066800" y="1957090"/>
            <a:ext cx="31242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EfficientNetB0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224×224×3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1280D</a:t>
            </a:r>
            <a:endParaRPr lang="en-US" sz="114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99DCFE77-81E0-95DA-21FA-1DB897E5BEC9}"/>
              </a:ext>
            </a:extLst>
          </p:cNvPr>
          <p:cNvSpPr/>
          <p:nvPr/>
        </p:nvSpPr>
        <p:spPr>
          <a:xfrm>
            <a:off x="4757928" y="1378000"/>
            <a:ext cx="3810000" cy="1818084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7622939-20D0-8A7C-3768-F62167412FCC}"/>
              </a:ext>
            </a:extLst>
          </p:cNvPr>
          <p:cNvSpPr/>
          <p:nvPr/>
        </p:nvSpPr>
        <p:spPr>
          <a:xfrm>
            <a:off x="4953000" y="1606600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Encoder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C7B049D-E41A-DBC5-EC15-C287DD5C45CB}"/>
              </a:ext>
            </a:extLst>
          </p:cNvPr>
          <p:cNvSpPr/>
          <p:nvPr/>
        </p:nvSpPr>
        <p:spPr>
          <a:xfrm>
            <a:off x="5181600" y="1957090"/>
            <a:ext cx="31242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EfficientNetB0 (Shared)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224×224×3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1280D</a:t>
            </a:r>
            <a:endParaRPr lang="en-US" sz="114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C7051043-5EE6-0ED0-B6D7-26957DB2A7ED}"/>
              </a:ext>
            </a:extLst>
          </p:cNvPr>
          <p:cNvSpPr/>
          <p:nvPr/>
        </p:nvSpPr>
        <p:spPr>
          <a:xfrm>
            <a:off x="609600" y="3605361"/>
            <a:ext cx="7924800" cy="8001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endParaRPr lang="en-US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47D7F45-C075-5FD2-1A3D-F124A1FD9014}"/>
              </a:ext>
            </a:extLst>
          </p:cNvPr>
          <p:cNvSpPr/>
          <p:nvPr/>
        </p:nvSpPr>
        <p:spPr>
          <a:xfrm>
            <a:off x="838200" y="3833961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EfficientNetB0?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 fewer parameters than ResNet-50 with same accuracy. Deployable on edge devices. Pre-trained on ImageNet.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56399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1C1C6-16CD-4761-1A5E-1EE22435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6CD512-7D35-BAF3-BA09-25548174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912B79-D750-9648-2A08-B4BA11164BAA}"/>
              </a:ext>
            </a:extLst>
          </p:cNvPr>
          <p:cNvSpPr/>
          <p:nvPr/>
        </p:nvSpPr>
        <p:spPr>
          <a:xfrm>
            <a:off x="239486" y="1"/>
            <a:ext cx="8055428" cy="571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Architecture Components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5AB6414-171B-C0F3-237E-EC0B6704EEB7}"/>
              </a:ext>
            </a:extLst>
          </p:cNvPr>
          <p:cNvSpPr/>
          <p:nvPr/>
        </p:nvSpPr>
        <p:spPr>
          <a:xfrm>
            <a:off x="239486" y="509551"/>
            <a:ext cx="8730343" cy="4367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Plus Jakarta Sans Light" pitchFamily="34" charset="0"/>
              <a:ea typeface="Plus Jakarta Sans Light" pitchFamily="34" charset="-122"/>
              <a:cs typeface="Plus Jakarta Sans Light" pitchFamily="34" charset="-120"/>
            </a:endParaRP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7C206FC-B1FC-0654-7840-ED978CEDC283}"/>
              </a:ext>
            </a:extLst>
          </p:cNvPr>
          <p:cNvSpPr/>
          <p:nvPr/>
        </p:nvSpPr>
        <p:spPr>
          <a:xfrm>
            <a:off x="253446" y="571984"/>
            <a:ext cx="6542375" cy="349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20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B. Squeeze-and-Excitation (SE) Fusion Block</a:t>
            </a:r>
            <a:endParaRPr lang="en-US" sz="2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B9E9377-0960-1E35-A42D-D0FA8FC36FE4}"/>
              </a:ext>
            </a:extLst>
          </p:cNvPr>
          <p:cNvSpPr/>
          <p:nvPr/>
        </p:nvSpPr>
        <p:spPr>
          <a:xfrm>
            <a:off x="274122" y="982342"/>
            <a:ext cx="8695707" cy="3810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IN" sz="1200" b="1" dirty="0"/>
              <a:t>What it does?</a:t>
            </a:r>
            <a:endParaRPr lang="en-IN" sz="1200" dirty="0"/>
          </a:p>
          <a:p>
            <a:pPr marL="628650" lvl="1" indent="-1714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After concatenating X-ray and CT embeddings (512D), the SE block recalibrates which modality features are most important for the current patient</a:t>
            </a:r>
            <a:endParaRPr lang="en-IN" sz="12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200" b="1" dirty="0"/>
              <a:t>Mechanism: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Global average pooling → summarize 512D into a compact representation.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Two dense layers (with </a:t>
            </a:r>
            <a:r>
              <a:rPr lang="en-US" sz="1200" dirty="0" err="1"/>
              <a:t>ReLU</a:t>
            </a:r>
            <a:r>
              <a:rPr lang="en-US" sz="1200" dirty="0"/>
              <a:t> + Sigmoid) → learn modality-wise importance scores.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Scale the fused embedding by these scores → emphasize relevant modalities, suppress noise.</a:t>
            </a:r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IN" sz="1200" b="1" dirty="0"/>
              <a:t>Why: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SE blocks have proven to improve calibration and reduce overconfidence in medical imaging.</a:t>
            </a:r>
          </a:p>
          <a:p>
            <a:pPr lvl="1">
              <a:lnSpc>
                <a:spcPts val="2000"/>
              </a:lnSpc>
              <a:spcAft>
                <a:spcPts val="1200"/>
              </a:spcAft>
              <a:buSzPct val="100000"/>
            </a:pPr>
            <a:r>
              <a:rPr lang="en-US" sz="1200" b="1" i="1" dirty="0"/>
              <a:t>Intuition</a:t>
            </a:r>
            <a:r>
              <a:rPr lang="en-US" sz="1200" i="1" dirty="0"/>
              <a:t>: "This patient's X-ray is clear but CT shows a suspicious nodule → upweight CT features, </a:t>
            </a:r>
            <a:r>
              <a:rPr lang="en-US" sz="1200" i="1" dirty="0" err="1"/>
              <a:t>downweight</a:t>
            </a:r>
            <a:r>
              <a:rPr lang="en-US" sz="1200" i="1" dirty="0"/>
              <a:t> X-ray."</a:t>
            </a:r>
          </a:p>
          <a:p>
            <a:pPr marL="171450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5106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8293-44A7-C45A-8786-B6384583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C1B73C6-BA40-990E-F332-4DE843FDB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9B513B4-502C-BCC3-0B9B-3B8199A2D08E}"/>
              </a:ext>
            </a:extLst>
          </p:cNvPr>
          <p:cNvSpPr/>
          <p:nvPr/>
        </p:nvSpPr>
        <p:spPr>
          <a:xfrm>
            <a:off x="239486" y="509551"/>
            <a:ext cx="8730343" cy="4367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Plus Jakarta Sans Light" pitchFamily="34" charset="0"/>
              <a:ea typeface="Plus Jakarta Sans Light" pitchFamily="34" charset="-122"/>
              <a:cs typeface="Plus Jakarta Sans Light" pitchFamily="34" charset="-120"/>
            </a:endParaRP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D0D69D0-9827-F905-C66D-9F6B7E266F25}"/>
              </a:ext>
            </a:extLst>
          </p:cNvPr>
          <p:cNvSpPr/>
          <p:nvPr/>
        </p:nvSpPr>
        <p:spPr>
          <a:xfrm>
            <a:off x="196251" y="234566"/>
            <a:ext cx="8816812" cy="349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B. Squeeze-and-Excitation (SE) Fusion Block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75A2447-EF73-55AD-67EE-F05DA8F1759E}"/>
              </a:ext>
            </a:extLst>
          </p:cNvPr>
          <p:cNvSpPr/>
          <p:nvPr/>
        </p:nvSpPr>
        <p:spPr>
          <a:xfrm>
            <a:off x="351503" y="1073918"/>
            <a:ext cx="8083296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2"/>
              </a:lnSpc>
              <a:buNone/>
            </a:pPr>
            <a:r>
              <a:rPr lang="en-US" sz="20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Recalibrate Modality Importance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48FD3A2-7B41-7895-C515-037718E711AB}"/>
              </a:ext>
            </a:extLst>
          </p:cNvPr>
          <p:cNvSpPr/>
          <p:nvPr/>
        </p:nvSpPr>
        <p:spPr>
          <a:xfrm>
            <a:off x="609600" y="1838474"/>
            <a:ext cx="7924800" cy="1715244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186CB05-C18F-272C-24AA-B484E7520377}"/>
              </a:ext>
            </a:extLst>
          </p:cNvPr>
          <p:cNvSpPr/>
          <p:nvPr/>
        </p:nvSpPr>
        <p:spPr>
          <a:xfrm>
            <a:off x="838200" y="2067074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</a:t>
            </a:r>
            <a:endParaRPr lang="en-US" sz="1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E259DCD-6793-D215-3DF2-8D48EF0DB160}"/>
              </a:ext>
            </a:extLst>
          </p:cNvPr>
          <p:cNvSpPr/>
          <p:nvPr/>
        </p:nvSpPr>
        <p:spPr>
          <a:xfrm>
            <a:off x="1143000" y="2314724"/>
            <a:ext cx="7162800" cy="101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X-ray (1280D) + CT (1280D) → 2560D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Block: Learn modality-wise importance weights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Element-wise scaling: 2560D × SE_weights → 2560D</a:t>
            </a:r>
            <a:endParaRPr lang="en-US" sz="114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51D2D6F8-4E86-20BC-5B73-42DECF2A1843}"/>
              </a:ext>
            </a:extLst>
          </p:cNvPr>
          <p:cNvSpPr/>
          <p:nvPr/>
        </p:nvSpPr>
        <p:spPr>
          <a:xfrm>
            <a:off x="609600" y="3838724"/>
            <a:ext cx="7924800" cy="62865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357C9E2-09A5-56BA-C243-B45937E20878}"/>
              </a:ext>
            </a:extLst>
          </p:cNvPr>
          <p:cNvSpPr/>
          <p:nvPr/>
        </p:nvSpPr>
        <p:spPr>
          <a:xfrm>
            <a:off x="838200" y="4067324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"This patient's X-ray is clear but CT shows a nodule → upweight CT, downweight X-ray"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22971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D198F-A044-9005-F6AA-4483BFED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9759CE4-822F-41FC-8B58-8233B8438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1287A93-9A8B-14F3-EED4-949CD3BA189C}"/>
              </a:ext>
            </a:extLst>
          </p:cNvPr>
          <p:cNvSpPr/>
          <p:nvPr/>
        </p:nvSpPr>
        <p:spPr>
          <a:xfrm>
            <a:off x="239486" y="1"/>
            <a:ext cx="8055428" cy="571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Architecture Components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A5C683-79E8-EE27-BA63-8EAEB54A66C3}"/>
              </a:ext>
            </a:extLst>
          </p:cNvPr>
          <p:cNvSpPr/>
          <p:nvPr/>
        </p:nvSpPr>
        <p:spPr>
          <a:xfrm>
            <a:off x="239486" y="509551"/>
            <a:ext cx="8730343" cy="4367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Plus Jakarta Sans Light" pitchFamily="34" charset="0"/>
              <a:ea typeface="Plus Jakarta Sans Light" pitchFamily="34" charset="-122"/>
              <a:cs typeface="Plus Jakarta Sans Light" pitchFamily="34" charset="-120"/>
            </a:endParaRP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A1E9CD2-D570-7268-967F-9EA06CCC6413}"/>
              </a:ext>
            </a:extLst>
          </p:cNvPr>
          <p:cNvSpPr/>
          <p:nvPr/>
        </p:nvSpPr>
        <p:spPr>
          <a:xfrm>
            <a:off x="253446" y="571984"/>
            <a:ext cx="7548451" cy="3497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20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C. Graph-Based Feature Optimization (Single-Layer GAT)</a:t>
            </a:r>
            <a:endParaRPr lang="en-US" sz="2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6DACAD5-6AB6-D272-ABAF-E28ED7FE923B}"/>
              </a:ext>
            </a:extLst>
          </p:cNvPr>
          <p:cNvSpPr/>
          <p:nvPr/>
        </p:nvSpPr>
        <p:spPr>
          <a:xfrm>
            <a:off x="274122" y="982342"/>
            <a:ext cx="8695707" cy="3810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IN" sz="1200" b="1" dirty="0"/>
              <a:t>What it does?</a:t>
            </a:r>
            <a:endParaRPr lang="en-IN" sz="1200" dirty="0"/>
          </a:p>
          <a:p>
            <a:pPr marL="628650" lvl="1" indent="-1714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Leverage disease relationships to refine patient embeddings.</a:t>
            </a:r>
            <a:endParaRPr lang="en-IN" sz="12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200" b="1" dirty="0"/>
              <a:t>Graph Structure: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Global average pooling → summarize 512D into a compact representation.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Nodes: 1 patient node (your fused 512D embedding).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~15 disease nodes (e.g., Pneumonia, Effusion, Cancer, Pneumothorax, etc. from </a:t>
            </a:r>
            <a:r>
              <a:rPr lang="en-US" sz="1200" dirty="0" err="1"/>
              <a:t>CheXpert</a:t>
            </a:r>
            <a:r>
              <a:rPr lang="en-US" sz="1200" dirty="0"/>
              <a:t> labels).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Edges: Patient ↔ Disease: Exists if the patient has that disease label (ground truth during training).</a:t>
            </a:r>
          </a:p>
          <a:p>
            <a:pPr marL="628650" lvl="1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Disease ↔ Disease: Weighted by co-occurrence frequency in the training dataset (e.g., cancer + effusion appear together 40% of the time).</a:t>
            </a:r>
          </a:p>
          <a:p>
            <a:pPr marL="171450" indent="-171450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9798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E8E6-76E6-955D-89F1-40D43691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557986D-200B-9500-436C-B4136B302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13C131A-9E48-5ECA-5C45-51719769EE2B}"/>
              </a:ext>
            </a:extLst>
          </p:cNvPr>
          <p:cNvSpPr/>
          <p:nvPr/>
        </p:nvSpPr>
        <p:spPr>
          <a:xfrm>
            <a:off x="239486" y="509551"/>
            <a:ext cx="8730343" cy="43672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ts val="2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Plus Jakarta Sans Light" pitchFamily="34" charset="0"/>
              <a:ea typeface="Plus Jakarta Sans Light" pitchFamily="34" charset="-122"/>
              <a:cs typeface="Plus Jakarta Sans Light" pitchFamily="34" charset="-120"/>
            </a:endParaRPr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C6C8226-0A24-E6DF-4FA5-CB07414F7557}"/>
              </a:ext>
            </a:extLst>
          </p:cNvPr>
          <p:cNvSpPr/>
          <p:nvPr/>
        </p:nvSpPr>
        <p:spPr>
          <a:xfrm>
            <a:off x="609600" y="1388269"/>
            <a:ext cx="3810000" cy="1777008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D385D32-7E4D-1B2B-08EF-F4EBEF1F0E74}"/>
              </a:ext>
            </a:extLst>
          </p:cNvPr>
          <p:cNvSpPr/>
          <p:nvPr/>
        </p:nvSpPr>
        <p:spPr>
          <a:xfrm>
            <a:off x="4724400" y="1388269"/>
            <a:ext cx="3810000" cy="1777008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D59D31A-7E4E-1488-64F8-F3487874B5EA}"/>
              </a:ext>
            </a:extLst>
          </p:cNvPr>
          <p:cNvSpPr/>
          <p:nvPr/>
        </p:nvSpPr>
        <p:spPr>
          <a:xfrm>
            <a:off x="609600" y="3595092"/>
            <a:ext cx="7924800" cy="80010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A198F825-28A9-EA2F-D7D0-AC70AED1ACC6}"/>
              </a:ext>
            </a:extLst>
          </p:cNvPr>
          <p:cNvSpPr/>
          <p:nvPr/>
        </p:nvSpPr>
        <p:spPr>
          <a:xfrm>
            <a:off x="451104" y="16985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C. Graph Attention Network (GAT)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3251F5D-BCDC-3AA2-2F13-73470D218E9F}"/>
              </a:ext>
            </a:extLst>
          </p:cNvPr>
          <p:cNvSpPr/>
          <p:nvPr/>
        </p:nvSpPr>
        <p:spPr>
          <a:xfrm>
            <a:off x="838200" y="1616869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Structure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55A1C2C-6696-9823-98C9-852E63654F35}"/>
              </a:ext>
            </a:extLst>
          </p:cNvPr>
          <p:cNvSpPr/>
          <p:nvPr/>
        </p:nvSpPr>
        <p:spPr>
          <a:xfrm>
            <a:off x="1066800" y="1967359"/>
            <a:ext cx="3124200" cy="96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r>
              <a:rPr lang="en-US" sz="108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(512D) + 17 disease nodes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Edges: 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↔ Disease + Disease ↔ Disease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Co-occurrence frequency</a:t>
            </a:r>
            <a:endParaRPr lang="en-US" sz="108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99AAE201-B846-C030-62EA-A7BC2CE88C82}"/>
              </a:ext>
            </a:extLst>
          </p:cNvPr>
          <p:cNvSpPr/>
          <p:nvPr/>
        </p:nvSpPr>
        <p:spPr>
          <a:xfrm>
            <a:off x="4953000" y="1616869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Passing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190D9C5-60B1-7C27-F433-76016D3B7218}"/>
              </a:ext>
            </a:extLst>
          </p:cNvPr>
          <p:cNvSpPr/>
          <p:nvPr/>
        </p:nvSpPr>
        <p:spPr>
          <a:xfrm>
            <a:off x="5181600" y="1967359"/>
            <a:ext cx="3124200" cy="96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attention: patient ↔ each disease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disease info using weights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512D optimized embedding</a:t>
            </a:r>
            <a:endParaRPr lang="en-US" sz="108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EB8345C-0503-F44E-FFBD-5F64371B83C2}"/>
              </a:ext>
            </a:extLst>
          </p:cNvPr>
          <p:cNvSpPr/>
          <p:nvPr/>
        </p:nvSpPr>
        <p:spPr>
          <a:xfrm>
            <a:off x="838200" y="3823692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"If patient shows cancer + effusion signals (highly co-occurring), graph reinforces both. Single signal → suppresses false positives."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69529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0E7DF9F-D5C2-D5C5-3EFA-AD36D8D4F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0B2123C-EE99-D6EA-4F11-409E1E657827}"/>
              </a:ext>
            </a:extLst>
          </p:cNvPr>
          <p:cNvSpPr/>
          <p:nvPr/>
        </p:nvSpPr>
        <p:spPr>
          <a:xfrm>
            <a:off x="609600" y="1047006"/>
            <a:ext cx="7924800" cy="1184672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DED8CCD-D353-8648-33D1-4C687FE0FF1C}"/>
              </a:ext>
            </a:extLst>
          </p:cNvPr>
          <p:cNvSpPr/>
          <p:nvPr/>
        </p:nvSpPr>
        <p:spPr>
          <a:xfrm>
            <a:off x="609600" y="3212604"/>
            <a:ext cx="3810000" cy="111249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D03FA4F-470C-AD08-C125-C650AC6E6773}"/>
              </a:ext>
            </a:extLst>
          </p:cNvPr>
          <p:cNvSpPr/>
          <p:nvPr/>
        </p:nvSpPr>
        <p:spPr>
          <a:xfrm>
            <a:off x="4724400" y="3212604"/>
            <a:ext cx="3810000" cy="111249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E85BCE0-5817-95E3-ED07-BDB84E2C9AAF}"/>
              </a:ext>
            </a:extLst>
          </p:cNvPr>
          <p:cNvSpPr/>
          <p:nvPr/>
        </p:nvSpPr>
        <p:spPr>
          <a:xfrm>
            <a:off x="609600" y="263474"/>
            <a:ext cx="567321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D. Categorical Focal Loss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40F86D6-1D96-8857-81F8-73984CA0FDB6}"/>
              </a:ext>
            </a:extLst>
          </p:cNvPr>
          <p:cNvSpPr/>
          <p:nvPr/>
        </p:nvSpPr>
        <p:spPr>
          <a:xfrm>
            <a:off x="838200" y="1275606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668B056-46F6-893F-CCA9-8289F023E103}"/>
              </a:ext>
            </a:extLst>
          </p:cNvPr>
          <p:cNvSpPr/>
          <p:nvPr/>
        </p:nvSpPr>
        <p:spPr>
          <a:xfrm>
            <a:off x="838200" y="1523256"/>
            <a:ext cx="7467600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132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α · (1 - p) · CrossEntropy</a:t>
            </a:r>
            <a:endParaRPr lang="en-US" sz="1320" dirty="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9C7BA35-44C6-7328-98EB-4155D4827363}"/>
              </a:ext>
            </a:extLst>
          </p:cNvPr>
          <p:cNvSpPr/>
          <p:nvPr/>
        </p:nvSpPr>
        <p:spPr>
          <a:xfrm>
            <a:off x="838200" y="1860203"/>
            <a:ext cx="76169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γ=2.0 (modulation), α = class weights (rare disease emphasis)</a:t>
            </a:r>
            <a:endParaRPr lang="en-US" sz="102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B6A9F34-8C0D-B983-9D72-0CF0428A31A8}"/>
              </a:ext>
            </a:extLst>
          </p:cNvPr>
          <p:cNvSpPr/>
          <p:nvPr/>
        </p:nvSpPr>
        <p:spPr>
          <a:xfrm>
            <a:off x="804672" y="3441204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Loss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463F99F-942A-C890-31D8-9F7F123204F5}"/>
              </a:ext>
            </a:extLst>
          </p:cNvPr>
          <p:cNvSpPr/>
          <p:nvPr/>
        </p:nvSpPr>
        <p:spPr>
          <a:xfrm>
            <a:off x="838200" y="3791694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all classes equally. Normal: 99%, Cancer: 1% → underlearns cancer.</a:t>
            </a:r>
            <a:endParaRPr lang="en-US" sz="108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F469C65-303C-3FD1-84F5-407FFADD1BA1}"/>
              </a:ext>
            </a:extLst>
          </p:cNvPr>
          <p:cNvSpPr/>
          <p:nvPr/>
        </p:nvSpPr>
        <p:spPr>
          <a:xfrm>
            <a:off x="4919472" y="3441204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C29013-5485-59E2-38A4-7186855797FF}"/>
              </a:ext>
            </a:extLst>
          </p:cNvPr>
          <p:cNvSpPr/>
          <p:nvPr/>
        </p:nvSpPr>
        <p:spPr>
          <a:xfrm>
            <a:off x="4953000" y="3791694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Down-weights easy cases, emphasizes hard rare cases. Cancer errors are 10-100× more costly.</a:t>
            </a:r>
            <a:endParaRPr lang="en-US" sz="1080" dirty="0"/>
          </a:p>
        </p:txBody>
      </p:sp>
    </p:spTree>
    <p:extLst>
      <p:ext uri="{BB962C8B-B14F-4D97-AF65-F5344CB8AC3E}">
        <p14:creationId xmlns:p14="http://schemas.microsoft.com/office/powerpoint/2010/main" val="2446752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EF03782E-0338-EF86-2A06-7047D47B5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20809615-12B1-22B6-B777-74C961D15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650958"/>
              </p:ext>
            </p:extLst>
          </p:nvPr>
        </p:nvGraphicFramePr>
        <p:xfrm>
          <a:off x="619432" y="1458218"/>
          <a:ext cx="7914968" cy="2790823"/>
        </p:xfrm>
        <a:graphic>
          <a:graphicData uri="http://schemas.openxmlformats.org/drawingml/2006/table">
            <a:tbl>
              <a:tblPr/>
              <a:tblGrid>
                <a:gridCol w="395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6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4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14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6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40" b="1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X-ray: 224×224×3 | CT: 224×224×3</a:t>
                      </a:r>
                      <a:endParaRPr lang="en-US" sz="114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68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Encoders</a:t>
                      </a:r>
                      <a:endParaRPr lang="en-US" sz="1140" b="1" kern="1200" dirty="0">
                        <a:solidFill>
                          <a:schemeClr val="accent6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EfficientNetB0 × 2 (pre-trained ImageNet)</a:t>
                      </a:r>
                      <a:endParaRPr lang="en-US" sz="114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68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Dims</a:t>
                      </a:r>
                      <a:endParaRPr lang="en-US" sz="1140" b="1" kern="1200" dirty="0">
                        <a:solidFill>
                          <a:schemeClr val="accent6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1280D → Concat: 2560D → Projected: 512D</a:t>
                      </a:r>
                      <a:endParaRPr lang="en-US" sz="114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68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Classifiers</a:t>
                      </a:r>
                      <a:endParaRPr lang="en-US" sz="1140" b="1" kern="1200" dirty="0">
                        <a:solidFill>
                          <a:schemeClr val="accent6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Disease: 3-class | Cancer: 3-class (softmax)</a:t>
                      </a:r>
                      <a:endParaRPr lang="en-US" sz="114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68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140" b="1" kern="1200" dirty="0">
                        <a:solidFill>
                          <a:schemeClr val="accent6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~13M (EfficientNetB0 × 2 + SE + GAT + heads)</a:t>
                      </a:r>
                      <a:endParaRPr lang="en-US" sz="114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68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</a:t>
                      </a:r>
                      <a:endParaRPr lang="en-US" sz="1140" b="1" kern="1200" dirty="0">
                        <a:solidFill>
                          <a:schemeClr val="accent6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4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&lt;100ms per sample (CPU deployable)</a:t>
                      </a:r>
                      <a:endParaRPr lang="en-US" sz="114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1A13FC8D-4BA2-5BB8-B000-A9172B30E4C1}"/>
              </a:ext>
            </a:extLst>
          </p:cNvPr>
          <p:cNvSpPr/>
          <p:nvPr/>
        </p:nvSpPr>
        <p:spPr>
          <a:xfrm>
            <a:off x="609600" y="48064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Model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2410463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785F880-476A-7039-9D64-3E92E66C9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59E94D5-559C-ADA9-20B7-D4C88950B732}"/>
              </a:ext>
            </a:extLst>
          </p:cNvPr>
          <p:cNvSpPr/>
          <p:nvPr/>
        </p:nvSpPr>
        <p:spPr>
          <a:xfrm>
            <a:off x="609600" y="1321743"/>
            <a:ext cx="3810000" cy="2214414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45709E3-7AFE-FFB2-2F9D-235D20013F69}"/>
              </a:ext>
            </a:extLst>
          </p:cNvPr>
          <p:cNvSpPr/>
          <p:nvPr/>
        </p:nvSpPr>
        <p:spPr>
          <a:xfrm>
            <a:off x="4724400" y="1321743"/>
            <a:ext cx="3810000" cy="2214414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1F55A3A-CDC5-108B-BB4B-26191AD3B06C}"/>
              </a:ext>
            </a:extLst>
          </p:cNvPr>
          <p:cNvSpPr/>
          <p:nvPr/>
        </p:nvSpPr>
        <p:spPr>
          <a:xfrm>
            <a:off x="609600" y="3832920"/>
            <a:ext cx="7924800" cy="62865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CFD27A9-A6D1-2964-BB3D-F473B3BCCC3F}"/>
              </a:ext>
            </a:extLst>
          </p:cNvPr>
          <p:cNvSpPr/>
          <p:nvPr/>
        </p:nvSpPr>
        <p:spPr>
          <a:xfrm>
            <a:off x="609600" y="24951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Training Configuration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1B614F9-496F-53D5-315A-F54983302154}"/>
              </a:ext>
            </a:extLst>
          </p:cNvPr>
          <p:cNvSpPr/>
          <p:nvPr/>
        </p:nvSpPr>
        <p:spPr>
          <a:xfrm>
            <a:off x="838200" y="1550343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&amp; Loss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7DB3B68-2B53-E658-E4F8-C322B58562ED}"/>
              </a:ext>
            </a:extLst>
          </p:cNvPr>
          <p:cNvSpPr/>
          <p:nvPr/>
        </p:nvSpPr>
        <p:spPr>
          <a:xfrm>
            <a:off x="1066800" y="1977033"/>
            <a:ext cx="3124200" cy="133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Adam: lr=1e-4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Focal Loss (γ=2.0)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Regularization: L2 (1e-3)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 0.3</a:t>
            </a:r>
            <a:endParaRPr lang="en-US" sz="108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D0A642E-E1E2-AC7E-0E6D-6CD537D6EF88}"/>
              </a:ext>
            </a:extLst>
          </p:cNvPr>
          <p:cNvSpPr/>
          <p:nvPr/>
        </p:nvSpPr>
        <p:spPr>
          <a:xfrm>
            <a:off x="4953000" y="1550343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Callbacks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F9FC694-232B-ACAF-552D-E0C1AF30028F}"/>
              </a:ext>
            </a:extLst>
          </p:cNvPr>
          <p:cNvSpPr/>
          <p:nvPr/>
        </p:nvSpPr>
        <p:spPr>
          <a:xfrm>
            <a:off x="5181600" y="1977033"/>
            <a:ext cx="3124200" cy="133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 16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 20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Stop: patience=5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LR: factor=0.5</a:t>
            </a:r>
            <a:endParaRPr lang="en-US" sz="108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EB7EA0A-BC4C-84AD-18E6-DC9099B0B7F4}"/>
              </a:ext>
            </a:extLst>
          </p:cNvPr>
          <p:cNvSpPr/>
          <p:nvPr/>
        </p:nvSpPr>
        <p:spPr>
          <a:xfrm>
            <a:off x="838200" y="4061520"/>
            <a:ext cx="76169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(500), Val (150) | X-ray classes (3), Cancer classes (3)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37961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9500D52-E999-0C63-75A3-A051F68C8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A43683A8-2352-F680-6FCC-065892F8F959}"/>
              </a:ext>
            </a:extLst>
          </p:cNvPr>
          <p:cNvSpPr/>
          <p:nvPr/>
        </p:nvSpPr>
        <p:spPr>
          <a:xfrm>
            <a:off x="609600" y="198239"/>
            <a:ext cx="575432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Key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EBFDB-9B89-DC67-9BC3-83AE967CC2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15"/>
          <a:stretch>
            <a:fillRect/>
          </a:stretch>
        </p:blipFill>
        <p:spPr>
          <a:xfrm>
            <a:off x="609600" y="1189239"/>
            <a:ext cx="8217310" cy="297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05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5FC19-07CA-5289-81CE-C1A6DC3B8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43A3024-7F6D-8C6E-2365-B3B2CAADA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F3C1688A-7025-3414-BCC3-6E077580ABCB}"/>
              </a:ext>
            </a:extLst>
          </p:cNvPr>
          <p:cNvSpPr/>
          <p:nvPr/>
        </p:nvSpPr>
        <p:spPr>
          <a:xfrm>
            <a:off x="381124" y="95000"/>
            <a:ext cx="575432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Key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A91C47-DDD6-CFAA-CF50-3B6F1A594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24" y="678427"/>
            <a:ext cx="8368301" cy="3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64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6548A-B029-3F87-DDFE-2FDBD3A0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EBE8661-D6DF-C82A-FD85-4FF598DFE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D49DF340-E889-0E64-78BB-C3F5433A40A7}"/>
              </a:ext>
            </a:extLst>
          </p:cNvPr>
          <p:cNvSpPr/>
          <p:nvPr/>
        </p:nvSpPr>
        <p:spPr>
          <a:xfrm>
            <a:off x="609600" y="198239"/>
            <a:ext cx="575432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Key Results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F56780-BD53-526B-406F-EF40E3760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56" y="1258264"/>
            <a:ext cx="4399635" cy="2038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A2D423-FF06-5B44-32BC-E178E2FAB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291" y="1258264"/>
            <a:ext cx="4431988" cy="203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52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56F6-A5A3-FDD7-1C00-F51CC147E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7C419D9-01B9-ED58-14DA-629BB033F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0C001C6B-D485-9A70-9C93-70A41BB72FEF}"/>
              </a:ext>
            </a:extLst>
          </p:cNvPr>
          <p:cNvSpPr/>
          <p:nvPr/>
        </p:nvSpPr>
        <p:spPr>
          <a:xfrm>
            <a:off x="609600" y="198239"/>
            <a:ext cx="575432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Key Results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55434C-D6BC-5085-7BBD-93FC4B74F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23559"/>
            <a:ext cx="9144000" cy="309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78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DE6A914-90D1-0EEF-A71D-6EC2FEF24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BDB8800D-F673-E15D-3E4E-D1E0586FA50D}"/>
              </a:ext>
            </a:extLst>
          </p:cNvPr>
          <p:cNvSpPr/>
          <p:nvPr/>
        </p:nvSpPr>
        <p:spPr>
          <a:xfrm>
            <a:off x="609600" y="198239"/>
            <a:ext cx="575432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Key Innovations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EC4CD63-965F-4245-3FE3-2417CCD4FCCD}"/>
              </a:ext>
            </a:extLst>
          </p:cNvPr>
          <p:cNvSpPr/>
          <p:nvPr/>
        </p:nvSpPr>
        <p:spPr>
          <a:xfrm>
            <a:off x="609600" y="1222367"/>
            <a:ext cx="7924800" cy="2963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Multi-Modal Fusion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SE-Attention learns dynamic feature weighting instead of naive concatenation.</a:t>
            </a:r>
            <a:endParaRPr lang="en-US" sz="114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Disease-Aware Reasoning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Single-layer GAT encodes co-occurrence patterns without transformer overhead.</a:t>
            </a:r>
            <a:endParaRPr lang="en-US" sz="114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Robust Imbalance Handling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Focal loss (γ=2.0) + balanced class weights ensure rare disease learning.</a:t>
            </a:r>
            <a:endParaRPr lang="en-US" sz="114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Clinical Deployment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~13M parameters, &lt;100ms inference; edge-deployable on medical devices.</a:t>
            </a:r>
            <a:endParaRPr lang="en-US" sz="114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Calibrated Predictions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Focal loss + label smoothing reduce overconfidence for trustworthy probabilities.</a:t>
            </a:r>
            <a:endParaRPr lang="en-US" sz="114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635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8CC8-EC77-27E4-2872-131BBB42F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1779D30-DCA7-78B7-10B1-6DD3751E6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11BE66A6-8F50-A794-8C0F-8852EF6F2396}"/>
              </a:ext>
            </a:extLst>
          </p:cNvPr>
          <p:cNvSpPr/>
          <p:nvPr/>
        </p:nvSpPr>
        <p:spPr>
          <a:xfrm>
            <a:off x="609600" y="198239"/>
            <a:ext cx="575432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Key Innovations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5C7538B-0C93-33A9-B995-5B120F6F277D}"/>
              </a:ext>
            </a:extLst>
          </p:cNvPr>
          <p:cNvSpPr/>
          <p:nvPr/>
        </p:nvSpPr>
        <p:spPr>
          <a:xfrm>
            <a:off x="609600" y="1222367"/>
            <a:ext cx="7924800" cy="2963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Multi-Modal Fusion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SE-Attention learns dynamic feature weighting instead of naive concatenation.</a:t>
            </a:r>
            <a:endParaRPr lang="en-US" sz="114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Disease-Aware Reasoning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Single-layer GAT encodes co-occurrence patterns without transformer overhead.</a:t>
            </a:r>
            <a:endParaRPr lang="en-US" sz="114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Robust Imbalance Handling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Focal loss (γ=2.0) + balanced class weights ensure rare disease learning.</a:t>
            </a:r>
            <a:endParaRPr lang="en-US" sz="114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Clinical Deployment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~13M parameters, &lt;100ms inference; edge-deployable on medical devices.</a:t>
            </a:r>
            <a:endParaRPr lang="en-US" sz="114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250000"/>
              </a:lnSpc>
              <a:buSzPct val="100000"/>
              <a:buChar char="•"/>
            </a:pPr>
            <a:r>
              <a:rPr lang="en-US" sz="114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Calibrated Predictions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14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Focal loss + label smoothing reduce overconfidence for trustworthy probabilities.</a:t>
            </a:r>
            <a:endParaRPr lang="en-US" sz="114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967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BBB4E0F-2E4A-5833-8191-C852A198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F3C08A81-0976-A3A1-B097-2D84DB770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929018"/>
              </p:ext>
            </p:extLst>
          </p:nvPr>
        </p:nvGraphicFramePr>
        <p:xfrm>
          <a:off x="609600" y="1615380"/>
          <a:ext cx="7924800" cy="24765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14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Single-Modal CNN</a:t>
                      </a:r>
                      <a:endParaRPr lang="en-US" sz="114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Fusion</a:t>
                      </a:r>
                      <a:endParaRPr lang="en-US" sz="114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4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GMED-X</a:t>
                      </a:r>
                      <a:endParaRPr lang="en-US" sz="1140" dirty="0">
                        <a:solidFill>
                          <a:schemeClr val="bg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Multi-Modal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Single modality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Concat only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SE-Attention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 Relations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Graph-based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Imbalance Handling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Standard CCE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Standard CCE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Focal Loss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~5.3M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~10.6M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~13M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Interpretability</a:t>
                      </a:r>
                      <a:endParaRPr lang="en-US" sz="11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Grad-CAM only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Grad-CAM only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+ Graph + NLP</a:t>
                      </a:r>
                      <a:endParaRPr lang="en-US" sz="114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8FBB1616-A26F-4CDC-D42E-B8B013395ED3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GMED-X vs. Baselines</a:t>
            </a:r>
          </a:p>
        </p:txBody>
      </p:sp>
    </p:spTree>
    <p:extLst>
      <p:ext uri="{BB962C8B-B14F-4D97-AF65-F5344CB8AC3E}">
        <p14:creationId xmlns:p14="http://schemas.microsoft.com/office/powerpoint/2010/main" val="2830672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37AC6C5-A307-D58D-906C-C5E8A0627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37F0860-BEF0-4907-0908-DA3E941428C3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Future Directions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897B51C-E775-535C-EBD6-3D849AF32642}"/>
              </a:ext>
            </a:extLst>
          </p:cNvPr>
          <p:cNvSpPr/>
          <p:nvPr/>
        </p:nvSpPr>
        <p:spPr>
          <a:xfrm>
            <a:off x="914400" y="2011561"/>
            <a:ext cx="7620000" cy="176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Explainability: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GradCAM + graph-level + LLM (BioGPT/MedAlpaca) explanations.</a:t>
            </a:r>
            <a:endParaRPr lang="en-US" sz="1140" b="1" dirty="0">
              <a:solidFill>
                <a:schemeClr val="accent6"/>
              </a:solidFill>
            </a:endParaRP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Distillation: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single-modality student models to handle missing X-ray or CT at inference.</a:t>
            </a:r>
            <a:endParaRPr lang="en-US" sz="1140" b="1" dirty="0">
              <a:solidFill>
                <a:schemeClr val="accent6"/>
              </a:solidFill>
            </a:endParaRP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Bank for Rare Cases: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rare-disease embeddings for retrieval-augmented predictions.</a:t>
            </a:r>
            <a:endParaRPr lang="en-US" sz="1140" b="1" dirty="0">
              <a:solidFill>
                <a:schemeClr val="accent6"/>
              </a:solidFill>
            </a:endParaRP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CT Integration: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volumetric CT scans (not just 2D slices) for richer spatial context.</a:t>
            </a:r>
            <a:endParaRPr lang="en-US" sz="1140" b="1" dirty="0">
              <a:solidFill>
                <a:schemeClr val="accent6"/>
              </a:solidFill>
            </a:endParaRPr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Validation: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4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on independent datasets (e.g., MICCAI, medical imaging benchmarks).</a:t>
            </a:r>
            <a:endParaRPr lang="en-US" sz="114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545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C1F62-1C2C-6987-A0F7-5565EADA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E1AD5B3-8298-FF6B-1232-842C76119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73C8726-5DC9-862B-80D1-E8F6BBBDBF69}"/>
              </a:ext>
            </a:extLst>
          </p:cNvPr>
          <p:cNvSpPr/>
          <p:nvPr/>
        </p:nvSpPr>
        <p:spPr>
          <a:xfrm>
            <a:off x="65314" y="83127"/>
            <a:ext cx="8229600" cy="607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References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5377CFA-3722-14DB-CAB1-09271A6A9CE2}"/>
              </a:ext>
            </a:extLst>
          </p:cNvPr>
          <p:cNvSpPr/>
          <p:nvPr/>
        </p:nvSpPr>
        <p:spPr>
          <a:xfrm>
            <a:off x="124097" y="690699"/>
            <a:ext cx="8795459" cy="4296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/>
              <a:t>Core GMED-X Architecture &amp; Design</a:t>
            </a:r>
            <a:endParaRPr lang="en-IN" dirty="0"/>
          </a:p>
          <a:p>
            <a:r>
              <a:rPr lang="en-IN" sz="1200" dirty="0"/>
              <a:t>[1] J. Irvin, P. </a:t>
            </a:r>
            <a:r>
              <a:rPr lang="en-IN" sz="1200" dirty="0" err="1"/>
              <a:t>Rajpurkar</a:t>
            </a:r>
            <a:r>
              <a:rPr lang="en-IN" sz="1200" dirty="0"/>
              <a:t>, M. Ko, Y. Yu, S. Ciullo, K. Chute, A. P. Marklund, B. </a:t>
            </a:r>
            <a:r>
              <a:rPr lang="en-IN" sz="1200" dirty="0" err="1"/>
              <a:t>Haghgoo</a:t>
            </a:r>
            <a:r>
              <a:rPr lang="en-IN" sz="1200" dirty="0"/>
              <a:t>, R. Ball, K. S. </a:t>
            </a:r>
            <a:r>
              <a:rPr lang="en-IN" sz="1200" dirty="0" err="1"/>
              <a:t>Shpanskaya</a:t>
            </a:r>
            <a:r>
              <a:rPr lang="en-IN" sz="1200" dirty="0"/>
              <a:t>, J. Seekins, D. A. Mong, S. S. Halabi, E. K. Sandberg, R. L. Jones, D. B. Larson, C. P. Langlotz, B. N. Patel, and M. P. Lungren, "</a:t>
            </a:r>
            <a:r>
              <a:rPr lang="en-IN" sz="1200" dirty="0" err="1"/>
              <a:t>CheXpert</a:t>
            </a:r>
            <a:r>
              <a:rPr lang="en-IN" sz="1200" dirty="0"/>
              <a:t>: A large chest radiograph dataset with uncertainty labels and expert comparison," in Proc. AAAI Conf. </a:t>
            </a:r>
            <a:r>
              <a:rPr lang="en-IN" sz="1200" dirty="0" err="1"/>
              <a:t>Artif</a:t>
            </a:r>
            <a:r>
              <a:rPr lang="en-IN" sz="1200" dirty="0"/>
              <a:t>. Intell., 2019, pp. 590–597.image.jpg​</a:t>
            </a:r>
          </a:p>
          <a:p>
            <a:endParaRPr lang="en-IN" sz="1200" dirty="0"/>
          </a:p>
          <a:p>
            <a:r>
              <a:rPr lang="en-IN" sz="1200" dirty="0"/>
              <a:t>[2] S. G. Armato III, G. McLennan, L. </a:t>
            </a:r>
            <a:r>
              <a:rPr lang="en-IN" sz="1200" dirty="0" err="1"/>
              <a:t>Bidaut</a:t>
            </a:r>
            <a:r>
              <a:rPr lang="en-IN" sz="1200" dirty="0"/>
              <a:t>, M. F. McNitt-Gray, C. R. Meyer, A. P. Reeves, B. Zhao, D. R. Aberle, C. I. Henschke, E. A. Hoffman, E. A. </a:t>
            </a:r>
            <a:r>
              <a:rPr lang="en-IN" sz="1200" dirty="0" err="1"/>
              <a:t>Kazerooni</a:t>
            </a:r>
            <a:r>
              <a:rPr lang="en-IN" sz="1200" dirty="0"/>
              <a:t>, H. MacMahon, E. J. R. van Beek, D. </a:t>
            </a:r>
            <a:r>
              <a:rPr lang="en-IN" sz="1200" dirty="0" err="1"/>
              <a:t>Yankelevitz</a:t>
            </a:r>
            <a:r>
              <a:rPr lang="en-IN" sz="1200" dirty="0"/>
              <a:t>, A. M. Biancardi, T. E. Bland, M. D. Brown, R. M. Engelmann, G. E. Gladish, C. M. Jud, R. F. Laderach, D. Lloyd, B. Pelc, J. </a:t>
            </a:r>
            <a:r>
              <a:rPr lang="en-IN" sz="1200" dirty="0" err="1"/>
              <a:t>Pgemeyer</a:t>
            </a:r>
            <a:r>
              <a:rPr lang="en-IN" sz="1200" dirty="0"/>
              <a:t>, J. Benediktsson, R. E. Galperin-Aizenberg, E. </a:t>
            </a:r>
            <a:r>
              <a:rPr lang="en-IN" sz="1200" dirty="0" err="1"/>
              <a:t>Panicek</a:t>
            </a:r>
            <a:r>
              <a:rPr lang="en-IN" sz="1200" dirty="0"/>
              <a:t>, L. Pratt, and P. Zahlmann, "The lung image database consortium (LIDC) and image database resource initiative (IDRI): A completed reference database of chest CT images and lesion annotations," Medical Physics, vol. 38, no. 2, pp. 915–931, 2011</a:t>
            </a:r>
          </a:p>
          <a:p>
            <a:endParaRPr lang="en-IN" sz="1200" dirty="0"/>
          </a:p>
          <a:p>
            <a:r>
              <a:rPr lang="en-IN" b="1" dirty="0"/>
              <a:t>Attention &amp; Multi-Modal Fusion</a:t>
            </a:r>
            <a:endParaRPr lang="en-IN" dirty="0"/>
          </a:p>
          <a:p>
            <a:r>
              <a:rPr lang="en-IN" sz="1200" dirty="0"/>
              <a:t>[3] J. Hu, L. Shen, and G. Sun, "Squeeze-and-excitation networks," in Proc. IEEE/CVF Conf. </a:t>
            </a:r>
            <a:r>
              <a:rPr lang="en-IN" sz="1200" dirty="0" err="1"/>
              <a:t>Comput</a:t>
            </a:r>
            <a:r>
              <a:rPr lang="en-IN" sz="1200" dirty="0"/>
              <a:t>. Vis. Pattern </a:t>
            </a:r>
            <a:r>
              <a:rPr lang="en-IN" sz="1200" dirty="0" err="1"/>
              <a:t>Recognit</a:t>
            </a:r>
            <a:r>
              <a:rPr lang="en-IN" sz="1200" dirty="0"/>
              <a:t>. (CVPR), 2018, pp. 7132–7141.</a:t>
            </a:r>
          </a:p>
          <a:p>
            <a:endParaRPr lang="en-IN" sz="1200" dirty="0"/>
          </a:p>
          <a:p>
            <a:r>
              <a:rPr lang="en-IN" sz="1200" dirty="0"/>
              <a:t>[4] A. Vaswani, N. </a:t>
            </a:r>
            <a:r>
              <a:rPr lang="en-IN" sz="1200" dirty="0" err="1"/>
              <a:t>Shazeer</a:t>
            </a:r>
            <a:r>
              <a:rPr lang="en-IN" sz="1200" dirty="0"/>
              <a:t>, P. N. Parmar, J. </a:t>
            </a:r>
            <a:r>
              <a:rPr lang="en-IN" sz="1200" dirty="0" err="1"/>
              <a:t>Uszkoreit</a:t>
            </a:r>
            <a:r>
              <a:rPr lang="en-IN" sz="1200" dirty="0"/>
              <a:t>, L. Jones, A. N. Gomez, Ł. Kaiser, and I. </a:t>
            </a:r>
            <a:r>
              <a:rPr lang="en-IN" sz="1200" dirty="0" err="1"/>
              <a:t>Polosukhin</a:t>
            </a:r>
            <a:r>
              <a:rPr lang="en-IN" sz="1200" dirty="0"/>
              <a:t>, "Attention is all you need," in Advances in Neural Information Processing Systems (</a:t>
            </a:r>
            <a:r>
              <a:rPr lang="en-IN" sz="1200" dirty="0" err="1"/>
              <a:t>NeurIPS</a:t>
            </a:r>
            <a:r>
              <a:rPr lang="en-IN" sz="1200" dirty="0"/>
              <a:t>), 2017, pp. 5998–6008.</a:t>
            </a:r>
          </a:p>
          <a:p>
            <a:endParaRPr lang="en-IN" sz="1200" dirty="0"/>
          </a:p>
          <a:p>
            <a:r>
              <a:rPr lang="en-IN" sz="1200" dirty="0"/>
              <a:t>[5] T. </a:t>
            </a:r>
            <a:r>
              <a:rPr lang="en-IN" sz="1200" dirty="0" err="1"/>
              <a:t>Baltrušaitis</a:t>
            </a:r>
            <a:r>
              <a:rPr lang="en-IN" sz="1200" dirty="0"/>
              <a:t>, C. Ahuja, and L. P. Morency, "Multimodal machine learning: A survey and taxonomy," IEEE Trans. Pattern Anal. Mach. Intell., vol. 41, no. 2, pp. 423–443, 2018</a:t>
            </a:r>
          </a:p>
          <a:p>
            <a:pPr>
              <a:lnSpc>
                <a:spcPts val="2000"/>
              </a:lnSpc>
              <a:spcAft>
                <a:spcPts val="1200"/>
              </a:spcAft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48219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EB89-B797-2F27-99D7-7C1CBC3E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497648B-997B-D857-0CEF-8934A8FB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691F155-8FD6-59D2-1693-C5351D664979}"/>
              </a:ext>
            </a:extLst>
          </p:cNvPr>
          <p:cNvSpPr/>
          <p:nvPr/>
        </p:nvSpPr>
        <p:spPr>
          <a:xfrm>
            <a:off x="65314" y="83127"/>
            <a:ext cx="8229600" cy="607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</a:rPr>
              <a:t>References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813BEA1-F076-363F-0441-D6309A663941}"/>
              </a:ext>
            </a:extLst>
          </p:cNvPr>
          <p:cNvSpPr/>
          <p:nvPr/>
        </p:nvSpPr>
        <p:spPr>
          <a:xfrm>
            <a:off x="124097" y="690699"/>
            <a:ext cx="8795459" cy="42969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/>
              <a:t>Graph Neural Networks</a:t>
            </a:r>
            <a:endParaRPr lang="en-IN" dirty="0"/>
          </a:p>
          <a:p>
            <a:r>
              <a:rPr lang="en-IN" sz="1200" dirty="0"/>
              <a:t>[6] P. </a:t>
            </a:r>
            <a:r>
              <a:rPr lang="en-IN" sz="1200" dirty="0" err="1"/>
              <a:t>Veličković</a:t>
            </a:r>
            <a:r>
              <a:rPr lang="en-IN" sz="1200" dirty="0"/>
              <a:t>, G. </a:t>
            </a:r>
            <a:r>
              <a:rPr lang="en-IN" sz="1200" dirty="0" err="1"/>
              <a:t>Cucurull</a:t>
            </a:r>
            <a:r>
              <a:rPr lang="en-IN" sz="1200" dirty="0"/>
              <a:t>, A. Casanova, A. Romero, P. Liò, and Y. Bengio, "Graph attention networks," in Proc. Int. Conf. Learn. Representations (ICLR), 2018.</a:t>
            </a:r>
          </a:p>
          <a:p>
            <a:endParaRPr lang="en-IN" sz="1200" dirty="0"/>
          </a:p>
          <a:p>
            <a:r>
              <a:rPr lang="en-IN" sz="1200" dirty="0"/>
              <a:t>[7] T. N. Kipf and M. Welling, "Semi-supervised classification with graph convolutional networks," in Proc. Int. Conf. Learn. Representations (ICLR), 2017.</a:t>
            </a:r>
          </a:p>
          <a:p>
            <a:endParaRPr lang="en-IN" sz="1200" dirty="0"/>
          </a:p>
          <a:p>
            <a:r>
              <a:rPr lang="en-IN" sz="1200" dirty="0"/>
              <a:t>[8] X. Wang, Y. Peng, L. Lu, Z. Lu, M. Bagheri, R. Summers, and R. M. Summers, "</a:t>
            </a:r>
            <a:r>
              <a:rPr lang="en-IN" sz="1200" dirty="0" err="1"/>
              <a:t>Chexpert</a:t>
            </a:r>
            <a:r>
              <a:rPr lang="en-IN" sz="1200" dirty="0"/>
              <a:t>: A large chest radiograph dataset with uncertainty labels and expert comparison," in Proc. IEEE/CVF Conf. </a:t>
            </a:r>
            <a:r>
              <a:rPr lang="en-IN" sz="1200" dirty="0" err="1"/>
              <a:t>Comput</a:t>
            </a:r>
            <a:r>
              <a:rPr lang="en-IN" sz="1200" dirty="0"/>
              <a:t>. Vis. Pattern </a:t>
            </a:r>
            <a:r>
              <a:rPr lang="en-IN" sz="1200" dirty="0" err="1"/>
              <a:t>Recognit</a:t>
            </a:r>
            <a:r>
              <a:rPr lang="en-IN" sz="1200" dirty="0"/>
              <a:t>. (CVPR), 2018, pp. 7098–7107</a:t>
            </a:r>
          </a:p>
          <a:p>
            <a:endParaRPr lang="en-IN" sz="1200" dirty="0"/>
          </a:p>
          <a:p>
            <a:r>
              <a:rPr lang="en-IN" b="1" dirty="0"/>
              <a:t>Class Imbalance &amp; Loss Functions</a:t>
            </a:r>
            <a:endParaRPr lang="en-IN" dirty="0"/>
          </a:p>
          <a:p>
            <a:r>
              <a:rPr lang="en-IN" sz="1200" dirty="0"/>
              <a:t>[9] T. Y. Lin, P. Goyal, R. </a:t>
            </a:r>
            <a:r>
              <a:rPr lang="en-IN" sz="1200" dirty="0" err="1"/>
              <a:t>Girshick</a:t>
            </a:r>
            <a:r>
              <a:rPr lang="en-IN" sz="1200" dirty="0"/>
              <a:t>, K. He, and P. </a:t>
            </a:r>
            <a:r>
              <a:rPr lang="en-IN" sz="1200" dirty="0" err="1"/>
              <a:t>Dollár</a:t>
            </a:r>
            <a:r>
              <a:rPr lang="en-IN" sz="1200" dirty="0"/>
              <a:t>, "Focal loss for dense object detection," in Proc. IEEE/CVF Int. Conf. </a:t>
            </a:r>
            <a:r>
              <a:rPr lang="en-IN" sz="1200" dirty="0" err="1"/>
              <a:t>Comput</a:t>
            </a:r>
            <a:r>
              <a:rPr lang="en-IN" sz="1200" dirty="0"/>
              <a:t>. Vis. (ICCV), 2017, pp. 2980–2988.</a:t>
            </a:r>
          </a:p>
          <a:p>
            <a:endParaRPr lang="en-IN" sz="1200" dirty="0"/>
          </a:p>
          <a:p>
            <a:r>
              <a:rPr lang="en-IN" sz="1200" dirty="0"/>
              <a:t>[10] M. Yeung, E. Sala, C. B. </a:t>
            </a:r>
            <a:r>
              <a:rPr lang="en-IN" sz="1200" dirty="0" err="1"/>
              <a:t>Schönlieb</a:t>
            </a:r>
            <a:r>
              <a:rPr lang="en-IN" sz="1200" dirty="0"/>
              <a:t>, and A. </a:t>
            </a:r>
            <a:r>
              <a:rPr lang="en-IN" sz="1200" dirty="0" err="1"/>
              <a:t>Ruyeto</a:t>
            </a:r>
            <a:r>
              <a:rPr lang="en-IN" sz="1200" dirty="0"/>
              <a:t>, "Unified focal loss: Generalising Dice and cross entropy losses to handle class imbalance," in Proc. Med. Image </a:t>
            </a:r>
            <a:r>
              <a:rPr lang="en-IN" sz="1200" dirty="0" err="1"/>
              <a:t>Comput</a:t>
            </a:r>
            <a:r>
              <a:rPr lang="en-IN" sz="1200" dirty="0"/>
              <a:t>. </a:t>
            </a:r>
            <a:r>
              <a:rPr lang="en-IN" sz="1200" dirty="0" err="1"/>
              <a:t>Comput</a:t>
            </a:r>
            <a:r>
              <a:rPr lang="en-IN" sz="1200" dirty="0"/>
              <a:t>.-Assist. </a:t>
            </a:r>
            <a:r>
              <a:rPr lang="en-IN" sz="1200" dirty="0" err="1"/>
              <a:t>Interv</a:t>
            </a:r>
            <a:r>
              <a:rPr lang="en-IN" sz="1200" dirty="0"/>
              <a:t>. (MICCAI), 2021, pp. 479–488.</a:t>
            </a:r>
          </a:p>
          <a:p>
            <a:endParaRPr lang="en-IN" sz="1200" dirty="0"/>
          </a:p>
          <a:p>
            <a:r>
              <a:rPr lang="en-IN" sz="1200" dirty="0"/>
              <a:t>[11] G. King and L. Zeng, "Logistic regression in rare events data," Political Analysis, vol. 9, no. 2, pp. 137–163, 2001.</a:t>
            </a:r>
          </a:p>
          <a:p>
            <a:endParaRPr lang="en-IN" sz="1200" dirty="0"/>
          </a:p>
          <a:p>
            <a:pPr>
              <a:lnSpc>
                <a:spcPts val="2000"/>
              </a:lnSpc>
              <a:spcAft>
                <a:spcPts val="1200"/>
              </a:spcAft>
              <a:buSzPct val="100000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44453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6618" y="1729828"/>
            <a:ext cx="7107382" cy="1683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88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You!</a:t>
            </a:r>
            <a:endParaRPr lang="en-US" sz="8800" dirty="0"/>
          </a:p>
        </p:txBody>
      </p:sp>
      <p:sp>
        <p:nvSpPr>
          <p:cNvPr id="9" name="Text 5"/>
          <p:cNvSpPr/>
          <p:nvPr/>
        </p:nvSpPr>
        <p:spPr>
          <a:xfrm>
            <a:off x="72237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FFFFFF"/>
                </a:solidFill>
                <a:hlinkClick r:id="rId4" tooltip="Pe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Pexels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3849</TotalTime>
  <Words>3840</Words>
  <Application>Microsoft Office PowerPoint</Application>
  <PresentationFormat>On-screen Show (16:9)</PresentationFormat>
  <Paragraphs>576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Cambria</vt:lpstr>
      <vt:lpstr>Plus Jakarta Sans</vt:lpstr>
      <vt:lpstr>Plus Jakarta Sans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Kirti Swagat Mohanty</cp:lastModifiedBy>
  <cp:revision>71</cp:revision>
  <dcterms:created xsi:type="dcterms:W3CDTF">2024-11-24T21:58:04Z</dcterms:created>
  <dcterms:modified xsi:type="dcterms:W3CDTF">2026-01-06T08:32:15Z</dcterms:modified>
</cp:coreProperties>
</file>