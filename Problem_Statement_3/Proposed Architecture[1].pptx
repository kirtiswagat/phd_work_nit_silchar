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5FA2F-F80C-43B4-8C99-F68F3E6356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EBE72-2C68-42C9-BDDE-3C9144934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637FD-6C90-4740-AD0E-1830AEDB0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401D-8A83-4D47-A311-54515FD08470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A0618-64A7-4BBA-A642-BF4A2030D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67F67-A449-4DA9-B944-68A82502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DF73-8B0C-4A97-BEC2-C2BF785B9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744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3BF4-C4AD-4A86-BE39-4A61499DE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6828F-301E-45B3-A779-E689844A9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8A1E0-9642-430C-9C74-3047648CD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401D-8A83-4D47-A311-54515FD08470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69909-1290-4E34-852F-E41B063DF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D236E-A740-4CF7-9961-68344B91C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DF73-8B0C-4A97-BEC2-C2BF785B9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963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36A99-3999-4E5A-B242-661E18967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640E8-2234-4EF8-9B46-8A2322CF9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23E50-1021-4F41-9E0D-2C321F746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401D-8A83-4D47-A311-54515FD08470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2D75F-1E84-4E16-9B56-D6BAEE035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990DC-3821-49BA-BBA5-52B981720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DF73-8B0C-4A97-BEC2-C2BF785B9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337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14FB-8ABF-4D59-B6E0-321D37081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84978-79B0-421A-8E7F-9F8628F03F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69922-3600-4392-BB04-6F4525F5F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39753-BF0C-494E-B9D5-5939F9E85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401D-8A83-4D47-A311-54515FD08470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39EF2-3BD1-47F0-A4AC-138B2E128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0550C-5866-4013-92EF-F1D9E5D0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DF73-8B0C-4A97-BEC2-C2BF785B9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287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19E36-06E3-4B99-AD91-D5D5E05AA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532B9-1EDD-4AC0-9A1A-9BF4FF0EE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120E5-4676-43C4-A6F4-F9C725834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DEFC99-8120-4173-AE2F-B4FF1DED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92F0D1-7282-4D26-9E76-BA6CC54AFB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2AAF6E-DFCE-4E97-B3A0-0D7C660F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401D-8A83-4D47-A311-54515FD08470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CEC6D0-079F-497B-80EC-A699A655F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92A904-F291-4EC4-85BA-2B537D7E2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DF73-8B0C-4A97-BEC2-C2BF785B9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57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17B18-7E6F-45FA-B2AB-6EDAF00FB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B0215-854C-479F-964D-2C6009266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401D-8A83-4D47-A311-54515FD08470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574FCD-2613-436E-8048-B27F1857A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222BF-F4BB-4BA8-8951-A6CFC32F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DF73-8B0C-4A97-BEC2-C2BF785B9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525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505B14-4E31-4F37-A7A3-5D8C26835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401D-8A83-4D47-A311-54515FD08470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127595-7EF9-45A3-A79F-7198456C4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E8ED9-83C8-4643-BD36-5EC57E606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DF73-8B0C-4A97-BEC2-C2BF785B9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786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59D2E-DBF6-4177-B96B-5FC2C00DF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A7451-BC86-46B6-9E5C-D43B790C0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32E49-6747-480A-B395-CFA81FF7C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93055-50FA-411C-A562-BDDD77D06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401D-8A83-4D47-A311-54515FD08470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EDE61-C89D-4849-9E72-E24B6FBFD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FC788-1E9E-4B01-8765-ACEFBE452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DF73-8B0C-4A97-BEC2-C2BF785B9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101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5FDA7-44CD-4B8E-A71C-674C3B930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394994-CB70-43DC-A6F4-5EDAA6F10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00038-7DC4-4228-B93F-AD7B516B8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6D19F-7E90-4F99-8FA8-C65991742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401D-8A83-4D47-A311-54515FD08470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E877D-2C8C-4CCF-AA0F-F081A57B2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F9720-3741-40D9-8078-35B0FFF73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DF73-8B0C-4A97-BEC2-C2BF785B9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057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1A0F2-4094-427E-8F25-98ACEC47F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DF6CB-6C17-4F6E-87D4-D10ACFBCFE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31936-1B44-4C48-A9C5-F3A5A13A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401D-8A83-4D47-A311-54515FD08470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A39A9-127F-4B79-84A9-B172A109D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61F5E-0060-41C8-9204-9E749E00C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DF73-8B0C-4A97-BEC2-C2BF785B9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38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1A5B61-D3D5-409A-844C-12E3FDDB67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02EDB1-4F96-4CDF-884C-82D5BDD1A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58702-2915-404B-A121-38F72F5E5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1401D-8A83-4D47-A311-54515FD08470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5B2F1-C42F-41EF-A86E-C42F53975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E000F-EDCF-49CA-AD0F-30FB13940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DF73-8B0C-4A97-BEC2-C2BF785B9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1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FC7D65-D72C-4ED1-A687-10185A327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7D90B-B39D-4C4B-9472-4C49CC24E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93DA8-7339-49A8-AB77-418CD7806F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1401D-8A83-4D47-A311-54515FD08470}" type="datetimeFigureOut">
              <a:rPr lang="en-IN" smtClean="0"/>
              <a:t>02-08-2025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17515-5F2F-4403-985D-BABA160E1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FF437-38D2-4CCC-A7E5-0A48AAAA15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9DF73-8B0C-4A97-BEC2-C2BF785B9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670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DF95A-3741-426E-888E-5FD5FA95A5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Statement 3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2A42DC-C90C-4011-B4F3-9774AF1A3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321" y="3602038"/>
            <a:ext cx="10930269" cy="1655762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multi-modal lightweight architecture</a:t>
            </a:r>
            <a:r>
              <a:rPr lang="en-US" dirty="0"/>
              <a:t> for </a:t>
            </a:r>
            <a:r>
              <a:rPr lang="en-US" dirty="0" err="1"/>
              <a:t>CheXpert</a:t>
            </a:r>
            <a:r>
              <a:rPr lang="en-US" dirty="0"/>
              <a:t> (X-ray) + 2D CT images to classify lung diseases (including cancer) with </a:t>
            </a:r>
            <a:r>
              <a:rPr lang="en-US" dirty="0" err="1"/>
              <a:t>explainability</a:t>
            </a:r>
            <a:r>
              <a:rPr lang="en-US" dirty="0"/>
              <a:t> and graph-based feature optimization.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4553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C8A02-6B9A-4FE2-8F73-28A2D12C3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0921"/>
            <a:ext cx="10515600" cy="1325563"/>
          </a:xfrm>
        </p:spPr>
        <p:txBody>
          <a:bodyPr/>
          <a:lstStyle/>
          <a:p>
            <a:r>
              <a:rPr lang="en-US" dirty="0"/>
              <a:t>Proposed Architecture – Phase 1 (Easier One)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A8812-082C-48F1-A6C4-079B9004F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4642"/>
            <a:ext cx="10515600" cy="5603357"/>
          </a:xfrm>
        </p:spPr>
        <p:txBody>
          <a:bodyPr>
            <a:normAutofit fontScale="55000" lnSpcReduction="20000"/>
          </a:bodyPr>
          <a:lstStyle/>
          <a:p>
            <a:r>
              <a:rPr lang="en-IN" sz="2500" b="1" dirty="0"/>
              <a:t>A. Dual 2D Encoders (Efficient &amp; Lightweight)</a:t>
            </a:r>
          </a:p>
          <a:p>
            <a:pPr lvl="1"/>
            <a:r>
              <a:rPr lang="en-IN" sz="2500" b="1" dirty="0" err="1"/>
              <a:t>CheXpert</a:t>
            </a:r>
            <a:r>
              <a:rPr lang="en-IN" sz="2500" b="1" dirty="0"/>
              <a:t> Encoder:</a:t>
            </a:r>
            <a:r>
              <a:rPr lang="en-IN" sz="2500" dirty="0"/>
              <a:t> EfficientNet-B0 or MobileNet-V3 (2D CNN).</a:t>
            </a:r>
          </a:p>
          <a:p>
            <a:pPr lvl="1"/>
            <a:r>
              <a:rPr lang="en-IN" sz="2500" b="1" dirty="0"/>
              <a:t>2D CT Encoder:</a:t>
            </a:r>
            <a:r>
              <a:rPr lang="en-IN" sz="2500" dirty="0"/>
              <a:t> Same backbone for alignment &amp; efficiency.</a:t>
            </a:r>
          </a:p>
          <a:p>
            <a:pPr lvl="1"/>
            <a:r>
              <a:rPr lang="en-IN" sz="2500" dirty="0"/>
              <a:t>Outputs: </a:t>
            </a:r>
            <a:r>
              <a:rPr lang="en-IN" sz="2500" b="1" dirty="0"/>
              <a:t>Low-dimensional feature vectors</a:t>
            </a:r>
            <a:r>
              <a:rPr lang="en-IN" sz="2500" dirty="0"/>
              <a:t> (e.g., 256–512D).</a:t>
            </a:r>
          </a:p>
          <a:p>
            <a:r>
              <a:rPr lang="en-IN" sz="2500" b="1" dirty="0"/>
              <a:t>B. Lightweight Multi-Modal Fusion</a:t>
            </a:r>
          </a:p>
          <a:p>
            <a:pPr lvl="1"/>
            <a:r>
              <a:rPr lang="en-IN" sz="2500" b="1" dirty="0"/>
              <a:t>Fusion Mechanism:</a:t>
            </a:r>
            <a:endParaRPr lang="en-IN" sz="2500" dirty="0"/>
          </a:p>
          <a:p>
            <a:pPr lvl="2"/>
            <a:r>
              <a:rPr lang="en-IN" sz="2500" dirty="0"/>
              <a:t>Simple </a:t>
            </a:r>
            <a:r>
              <a:rPr lang="en-IN" sz="2500" b="1" dirty="0"/>
              <a:t>feature concatenation</a:t>
            </a:r>
            <a:r>
              <a:rPr lang="en-IN" sz="2500" dirty="0"/>
              <a:t> of CT and X-ray embeddings.</a:t>
            </a:r>
          </a:p>
          <a:p>
            <a:pPr lvl="2"/>
            <a:r>
              <a:rPr lang="en-IN" sz="2500" dirty="0"/>
              <a:t>Followed by </a:t>
            </a:r>
            <a:r>
              <a:rPr lang="en-IN" sz="2500" b="1" dirty="0"/>
              <a:t>Squeeze-and-Excitation (SE) attention block</a:t>
            </a:r>
            <a:r>
              <a:rPr lang="en-IN" sz="2500" dirty="0"/>
              <a:t> (lightweight attention) to recalibrate important modality features.</a:t>
            </a:r>
          </a:p>
          <a:p>
            <a:r>
              <a:rPr lang="en-IN" sz="2500" b="1" dirty="0"/>
              <a:t>C. Graph-based Feature Optimization (Simplified GNN)</a:t>
            </a:r>
          </a:p>
          <a:p>
            <a:pPr lvl="1"/>
            <a:r>
              <a:rPr lang="en-IN" sz="2500" b="1" dirty="0"/>
              <a:t>Nodes:</a:t>
            </a:r>
            <a:endParaRPr lang="en-IN" sz="2500" dirty="0"/>
          </a:p>
          <a:p>
            <a:pPr lvl="2"/>
            <a:r>
              <a:rPr lang="en-IN" sz="2500" dirty="0"/>
              <a:t>Patient nodes: Each patient’s fused embedding.</a:t>
            </a:r>
          </a:p>
          <a:p>
            <a:pPr lvl="2"/>
            <a:r>
              <a:rPr lang="en-IN" sz="2500" dirty="0"/>
              <a:t>Disease-class nodes: One per disease label (from </a:t>
            </a:r>
            <a:r>
              <a:rPr lang="en-IN" sz="2500" dirty="0" err="1"/>
              <a:t>CheXpert</a:t>
            </a:r>
            <a:r>
              <a:rPr lang="en-IN" sz="2500" dirty="0"/>
              <a:t> + cancer).</a:t>
            </a:r>
          </a:p>
          <a:p>
            <a:pPr lvl="1"/>
            <a:r>
              <a:rPr lang="en-IN" sz="2500" b="1" dirty="0"/>
              <a:t>Edges:</a:t>
            </a:r>
            <a:endParaRPr lang="en-IN" sz="2500" dirty="0"/>
          </a:p>
          <a:p>
            <a:pPr lvl="2"/>
            <a:r>
              <a:rPr lang="en-IN" sz="2500" dirty="0"/>
              <a:t>Patient ↔ Disease: Connect if patient has that disease label.</a:t>
            </a:r>
          </a:p>
          <a:p>
            <a:pPr lvl="2"/>
            <a:r>
              <a:rPr lang="en-IN" sz="2500" dirty="0"/>
              <a:t>Disease ↔ Disease: Weighted by co-occurrence frequency.</a:t>
            </a:r>
          </a:p>
          <a:p>
            <a:pPr lvl="1"/>
            <a:r>
              <a:rPr lang="en-IN" sz="2500" b="1" dirty="0"/>
              <a:t>Graph Network:</a:t>
            </a:r>
            <a:endParaRPr lang="en-IN" sz="2500" dirty="0"/>
          </a:p>
          <a:p>
            <a:pPr lvl="2"/>
            <a:r>
              <a:rPr lang="en-IN" sz="2500" b="1" dirty="0"/>
              <a:t>Single-layer Graph Attention Network (GAT)</a:t>
            </a:r>
            <a:r>
              <a:rPr lang="en-IN" sz="2500" dirty="0"/>
              <a:t> (lightweight compared to HG-</a:t>
            </a:r>
            <a:r>
              <a:rPr lang="en-IN" sz="2500" dirty="0" err="1"/>
              <a:t>CapsGNN</a:t>
            </a:r>
            <a:r>
              <a:rPr lang="en-IN" sz="2500" dirty="0"/>
              <a:t>).</a:t>
            </a:r>
          </a:p>
          <a:p>
            <a:pPr lvl="2"/>
            <a:r>
              <a:rPr lang="en-IN" sz="2500" dirty="0"/>
              <a:t>Optimizes patient features using disease relationships and vice versa.</a:t>
            </a:r>
          </a:p>
          <a:p>
            <a:r>
              <a:rPr lang="en-IN" sz="2500" b="1" dirty="0"/>
              <a:t>D. Classifier + </a:t>
            </a:r>
            <a:r>
              <a:rPr lang="en-IN" sz="2500" b="1" dirty="0" err="1"/>
              <a:t>Explainability</a:t>
            </a:r>
            <a:endParaRPr lang="en-IN" sz="2500" b="1" dirty="0"/>
          </a:p>
          <a:p>
            <a:pPr lvl="1"/>
            <a:r>
              <a:rPr lang="en-IN" sz="2500" dirty="0"/>
              <a:t>Output layer: Multi-label classification (</a:t>
            </a:r>
            <a:r>
              <a:rPr lang="en-IN" sz="2500" dirty="0" err="1"/>
              <a:t>CheXpert</a:t>
            </a:r>
            <a:r>
              <a:rPr lang="en-IN" sz="2500" dirty="0"/>
              <a:t> + cancer).</a:t>
            </a:r>
          </a:p>
          <a:p>
            <a:pPr lvl="1"/>
            <a:r>
              <a:rPr lang="en-IN" sz="2500" b="1" dirty="0" err="1"/>
              <a:t>Explainability</a:t>
            </a:r>
            <a:r>
              <a:rPr lang="en-IN" sz="2500" b="1" dirty="0"/>
              <a:t>:</a:t>
            </a:r>
          </a:p>
          <a:p>
            <a:pPr lvl="2"/>
            <a:r>
              <a:rPr lang="en-IN" sz="2500" b="1" dirty="0" err="1"/>
              <a:t>GradCAM</a:t>
            </a:r>
            <a:r>
              <a:rPr lang="en-IN" sz="2500" b="1" dirty="0"/>
              <a:t> / Score-CAM</a:t>
            </a:r>
            <a:r>
              <a:rPr lang="en-IN" sz="2500" dirty="0"/>
              <a:t> on X-ray &amp; CT encoders for visual explanations.</a:t>
            </a:r>
          </a:p>
          <a:p>
            <a:pPr lvl="2"/>
            <a:r>
              <a:rPr lang="en-IN" sz="2500" b="1" dirty="0"/>
              <a:t>Rule-based textual explanation:</a:t>
            </a:r>
            <a:endParaRPr lang="en-IN" sz="2500" dirty="0"/>
          </a:p>
          <a:p>
            <a:pPr lvl="3"/>
            <a:r>
              <a:rPr lang="en-IN" sz="2500" dirty="0"/>
              <a:t>Extract top contributing regions + disease graph activations.</a:t>
            </a:r>
          </a:p>
          <a:p>
            <a:pPr lvl="3"/>
            <a:r>
              <a:rPr lang="en-IN" sz="2500" dirty="0"/>
              <a:t>Convert into human-readable explanation (no heavy LLM needed initially).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999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189A3-689F-4554-AC28-74F92100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Loss Function to be used in the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BE802-DB18-44C7-B622-A133D709A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BB6E8E-ED53-41FB-B510-A67F95A21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462" y="2062162"/>
            <a:ext cx="7077075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936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FE4A9-9898-461A-A8DC-EBEC51CE8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Pipeline Flow (Simplified)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83F04-45B4-4A4E-9B26-C6A0305DF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Input: </a:t>
            </a:r>
            <a:r>
              <a:rPr lang="en-IN" dirty="0" err="1"/>
              <a:t>CheXpert</a:t>
            </a:r>
            <a:r>
              <a:rPr lang="en-IN" dirty="0"/>
              <a:t> X-rays + 2D CT slices.</a:t>
            </a:r>
          </a:p>
          <a:p>
            <a:r>
              <a:rPr lang="en-IN" dirty="0"/>
              <a:t>Dual Encoders → Feature extraction.</a:t>
            </a:r>
          </a:p>
          <a:p>
            <a:r>
              <a:rPr lang="en-IN" dirty="0"/>
              <a:t>SE-based fusion → Unified patient representation.</a:t>
            </a:r>
          </a:p>
          <a:p>
            <a:r>
              <a:rPr lang="en-IN" dirty="0"/>
              <a:t>Graph construction (Patient &amp; Disease nodes) → Single-layer GAT.</a:t>
            </a:r>
          </a:p>
          <a:p>
            <a:r>
              <a:rPr lang="en-IN" dirty="0"/>
              <a:t>Classifier → Predictions + </a:t>
            </a:r>
            <a:r>
              <a:rPr lang="en-IN" dirty="0" err="1"/>
              <a:t>Explainability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185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7D37C-3B6C-4648-AF82-B49C5060B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Enhancement made to the Proposed Architecture (Phase 2)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13B9E-0B47-4A53-8488-126A65187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/>
              <a:t>A. Adaptive Multi-Modal Knowledge Distillation</a:t>
            </a:r>
          </a:p>
          <a:p>
            <a:pPr lvl="1" algn="just"/>
            <a:r>
              <a:rPr lang="en-US" b="1" dirty="0"/>
              <a:t>Problem Addressed:</a:t>
            </a:r>
          </a:p>
          <a:p>
            <a:pPr lvl="2" algn="just"/>
            <a:r>
              <a:rPr lang="en-US" dirty="0"/>
              <a:t>In real-world settings, a patient may have only </a:t>
            </a:r>
            <a:r>
              <a:rPr lang="en-US" b="1" dirty="0"/>
              <a:t>X-ray</a:t>
            </a:r>
            <a:r>
              <a:rPr lang="en-US" dirty="0"/>
              <a:t> or </a:t>
            </a:r>
            <a:r>
              <a:rPr lang="en-US" b="1" dirty="0"/>
              <a:t>CT</a:t>
            </a:r>
            <a:r>
              <a:rPr lang="en-US" dirty="0"/>
              <a:t> available. Models trained on both modalities fail when one is missing.</a:t>
            </a:r>
          </a:p>
          <a:p>
            <a:pPr lvl="1" algn="just"/>
            <a:r>
              <a:rPr lang="en-US" b="1" dirty="0"/>
              <a:t>Proposed Technique:</a:t>
            </a:r>
          </a:p>
          <a:p>
            <a:pPr lvl="2" algn="just"/>
            <a:r>
              <a:rPr lang="en-US" b="1" dirty="0"/>
              <a:t>Teacher Model:</a:t>
            </a:r>
            <a:endParaRPr lang="en-US" dirty="0"/>
          </a:p>
          <a:p>
            <a:pPr lvl="3" algn="just"/>
            <a:r>
              <a:rPr lang="en-US" dirty="0"/>
              <a:t>The full multi-modal (X-ray + CT) graph-based network trained on all available data.</a:t>
            </a:r>
          </a:p>
          <a:p>
            <a:pPr lvl="2" algn="just"/>
            <a:r>
              <a:rPr lang="en-US" b="1" dirty="0"/>
              <a:t>Student Models:</a:t>
            </a:r>
            <a:endParaRPr lang="en-US" dirty="0"/>
          </a:p>
          <a:p>
            <a:pPr lvl="3" algn="just"/>
            <a:r>
              <a:rPr lang="en-US" dirty="0"/>
              <a:t>Two lightweight single-modality models (one for X-ray, one for CT).</a:t>
            </a:r>
          </a:p>
          <a:p>
            <a:pPr lvl="2" algn="just"/>
            <a:r>
              <a:rPr lang="en-US" b="1" dirty="0"/>
              <a:t>Knowledge Distillation Process:</a:t>
            </a:r>
            <a:endParaRPr lang="en-US" dirty="0"/>
          </a:p>
          <a:p>
            <a:pPr lvl="3" algn="just"/>
            <a:r>
              <a:rPr lang="en-US" dirty="0"/>
              <a:t>The teacher generates </a:t>
            </a:r>
            <a:r>
              <a:rPr lang="en-US" b="1" dirty="0"/>
              <a:t>soft labels</a:t>
            </a:r>
            <a:r>
              <a:rPr lang="en-US" dirty="0"/>
              <a:t> (class probabilities &amp; intermediate feature embeddings).</a:t>
            </a:r>
          </a:p>
          <a:p>
            <a:pPr lvl="3" algn="just"/>
            <a:r>
              <a:rPr lang="en-US" dirty="0"/>
              <a:t>Student networks learn to replicate teacher predictions even when only a single modality is provided.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9023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CAD48-15DE-4F1F-A847-5E39502BA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731C0-FD85-42B1-912A-4DFC9B633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B. Graph Memory Bank for Rare Disease &amp; Cancer Cases</a:t>
            </a:r>
          </a:p>
          <a:p>
            <a:pPr lvl="1"/>
            <a:r>
              <a:rPr lang="en-US" b="1" dirty="0"/>
              <a:t>Problem Addressed:</a:t>
            </a:r>
          </a:p>
          <a:p>
            <a:pPr lvl="2"/>
            <a:r>
              <a:rPr lang="en-US" dirty="0" err="1"/>
              <a:t>CheXpert</a:t>
            </a:r>
            <a:r>
              <a:rPr lang="en-US" dirty="0"/>
              <a:t> is highly imbalanced (e.g., cancer cases are rare). Graph-based models can </a:t>
            </a:r>
            <a:r>
              <a:rPr lang="en-US" b="1" dirty="0"/>
              <a:t>overfit common diseases</a:t>
            </a:r>
            <a:r>
              <a:rPr lang="en-US" dirty="0"/>
              <a:t>, underperforming on rare classes.</a:t>
            </a:r>
          </a:p>
          <a:p>
            <a:pPr lvl="1"/>
            <a:r>
              <a:rPr lang="en-US" b="1" dirty="0"/>
              <a:t>Proposed Technique:</a:t>
            </a:r>
          </a:p>
          <a:p>
            <a:pPr lvl="2"/>
            <a:r>
              <a:rPr lang="en-US" dirty="0"/>
              <a:t>During training, we build a </a:t>
            </a:r>
            <a:r>
              <a:rPr lang="en-US" b="1" dirty="0"/>
              <a:t>memory bank</a:t>
            </a:r>
            <a:r>
              <a:rPr lang="en-US" dirty="0"/>
              <a:t> (a key-value store):</a:t>
            </a:r>
          </a:p>
          <a:p>
            <a:pPr lvl="3"/>
            <a:r>
              <a:rPr lang="en-US" b="1" dirty="0"/>
              <a:t>Key:</a:t>
            </a:r>
            <a:r>
              <a:rPr lang="en-US" dirty="0"/>
              <a:t> Feature embedding of rare-class patient nodes.</a:t>
            </a:r>
          </a:p>
          <a:p>
            <a:pPr lvl="3"/>
            <a:r>
              <a:rPr lang="en-US" b="1" dirty="0"/>
              <a:t>Value:</a:t>
            </a:r>
            <a:r>
              <a:rPr lang="en-US" dirty="0"/>
              <a:t> Corresponding disease label(s).</a:t>
            </a:r>
          </a:p>
          <a:p>
            <a:pPr lvl="1"/>
            <a:r>
              <a:rPr lang="en-US" dirty="0"/>
              <a:t>At inference:</a:t>
            </a:r>
          </a:p>
          <a:p>
            <a:pPr lvl="2"/>
            <a:r>
              <a:rPr lang="en-US" dirty="0"/>
              <a:t>Query the memory bank with the current patient embedding.</a:t>
            </a:r>
          </a:p>
          <a:p>
            <a:pPr lvl="2"/>
            <a:r>
              <a:rPr lang="en-US" dirty="0"/>
              <a:t>Retrieve the </a:t>
            </a:r>
            <a:r>
              <a:rPr lang="en-US" b="1" dirty="0"/>
              <a:t>K most similar rare-class embeddings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Adjust predictions with a weighted similarity score.</a:t>
            </a:r>
          </a:p>
          <a:p>
            <a:pPr lvl="1"/>
            <a:r>
              <a:rPr lang="en-US" b="1" dirty="0"/>
              <a:t>Implementation Details:</a:t>
            </a:r>
          </a:p>
          <a:p>
            <a:pPr lvl="2"/>
            <a:r>
              <a:rPr lang="en-US" dirty="0"/>
              <a:t>Similarity metric: Cosine similarity or learned metric.</a:t>
            </a:r>
          </a:p>
          <a:p>
            <a:pPr lvl="2"/>
            <a:r>
              <a:rPr lang="en-US" dirty="0"/>
              <a:t>Memory update: Bank is updated online during training to store diverse rare-class samples.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8614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FB671-3811-4CB0-85E5-384AFCBD2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2A5DDAB-BCB2-4436-A083-6AA25E8CC7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462137"/>
            <a:ext cx="10857614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D. Hierarchical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Explainability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Problem Addressed: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Most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methods only show saliency maps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GradCAM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which are insufficient for clinical trust.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Proposed 3-Tier Framework:</a:t>
            </a:r>
          </a:p>
          <a:p>
            <a:pPr marL="1371600" lvl="3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Explanations: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828800" lvl="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GradCAM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/Score-CAM on X-ray and CT encoder outputs.</a:t>
            </a:r>
          </a:p>
          <a:p>
            <a:pPr marL="1828800" lvl="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 which lung regions influenced the prediction.</a:t>
            </a:r>
          </a:p>
          <a:p>
            <a:pPr marL="1371600" lvl="3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Graph-Level Explanations: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828800" lvl="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 the most influential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disease nodes and edges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patient–disease graph.</a:t>
            </a:r>
          </a:p>
          <a:p>
            <a:pPr marL="1828800" lvl="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"Cancer node and its connection to Effusion node had the highest message passing score."</a:t>
            </a:r>
          </a:p>
          <a:p>
            <a:pPr marL="1371600" lvl="3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Language Explanations (LLM-powered):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828800" lvl="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 top visual regions and graph nodes into a fine-tuned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BioGPT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MedAlpaca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LLM.</a:t>
            </a:r>
          </a:p>
          <a:p>
            <a:pPr marL="1828800" lvl="4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human-readable rationale: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	"The model predicts cancer because a suspicious upper lobe nodule was detected on CT and this region co-occurs with effusion, which increases cancer probability."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661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A5E16-0474-4B65-98AB-2A8169D2E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Workflow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E52CC-1CA5-4334-9A84-B9F27D736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Dual Encoder Backbone (X-ray + CT)</a:t>
            </a:r>
          </a:p>
          <a:p>
            <a:r>
              <a:rPr lang="en-US" dirty="0"/>
              <a:t>Graph Module (GAT) + Memory Bank</a:t>
            </a:r>
          </a:p>
          <a:p>
            <a:r>
              <a:rPr lang="en-IN" dirty="0"/>
              <a:t>Knowledge Distillation (Adaptive)</a:t>
            </a:r>
          </a:p>
          <a:p>
            <a:r>
              <a:rPr lang="en-IN" dirty="0"/>
              <a:t>Hierarchical </a:t>
            </a:r>
            <a:r>
              <a:rPr lang="en-IN" dirty="0" err="1"/>
              <a:t>Explainability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2954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723</Words>
  <Application>Microsoft Office PowerPoint</Application>
  <PresentationFormat>Widescreen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Problem Statement 3 Architecture</vt:lpstr>
      <vt:lpstr>Proposed Architecture – Phase 1 (Easier One) </vt:lpstr>
      <vt:lpstr>Proposed Loss Function to be used in the Model</vt:lpstr>
      <vt:lpstr>Pipeline Flow (Simplified) </vt:lpstr>
      <vt:lpstr>Enhancement made to the Proposed Architecture (Phase 2)</vt:lpstr>
      <vt:lpstr>PowerPoint Presentation</vt:lpstr>
      <vt:lpstr>PowerPoint Presentation</vt:lpstr>
      <vt:lpstr>Advanced Workflow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 3 Architecture</dc:title>
  <dc:creator>Ananya Bhattacharjee</dc:creator>
  <cp:lastModifiedBy>Kirti Swagat Mohanty</cp:lastModifiedBy>
  <cp:revision>4</cp:revision>
  <dcterms:created xsi:type="dcterms:W3CDTF">2025-08-02T09:39:12Z</dcterms:created>
  <dcterms:modified xsi:type="dcterms:W3CDTF">2025-08-02T14:53:35Z</dcterms:modified>
</cp:coreProperties>
</file>