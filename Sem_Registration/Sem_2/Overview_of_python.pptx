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4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57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500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087EAA-0803-4E14-8ED0-50AA72C879C5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7D0C67-F7A5-40C3-A635-40D8E65B2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12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21B9-0C84-4D68-98E1-7F217E2AB6E7}" type="datetime1">
              <a:rPr lang="en-US" smtClean="0"/>
              <a:t>1/2/2019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Kirti Swagat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E57AE-C7CB-4E1B-849C-35869BC6D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8156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4005B-3A7B-4324-BE9D-90970EA15FDA}" type="datetime1">
              <a:rPr lang="en-US" smtClean="0"/>
              <a:t>1/2/2019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Kirti Swagat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E57AE-C7CB-4E1B-849C-35869BC6D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0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BCE02-7DBF-4076-A2C3-D7910A29C332}" type="datetime1">
              <a:rPr lang="en-US" smtClean="0"/>
              <a:t>1/2/2019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Kirti Swagat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E57AE-C7CB-4E1B-849C-35869BC6D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44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192E-206F-4BF7-901E-B928F23E5AFF}" type="datetime1">
              <a:rPr lang="en-US" smtClean="0"/>
              <a:t>1/2/2019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Kirti Swagat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E57AE-C7CB-4E1B-849C-35869BC6D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393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FD4A-C925-48CB-A089-43D0B7877E61}" type="datetime1">
              <a:rPr lang="en-US" smtClean="0"/>
              <a:t>1/2/2019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Kirti Swagat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E57AE-C7CB-4E1B-849C-35869BC6D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274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867A4-F7EA-463A-AD2F-F016FCBE151E}" type="datetime1">
              <a:rPr lang="en-US" smtClean="0"/>
              <a:t>1/2/2019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Kirti Swagat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E57AE-C7CB-4E1B-849C-35869BC6D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6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46BCC-7DD3-42E0-ACE4-A8245E1A6669}" type="datetime1">
              <a:rPr lang="en-US" smtClean="0"/>
              <a:t>1/2/2019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Kirti Swagat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E57AE-C7CB-4E1B-849C-35869BC6D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1337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D8176-57AF-4292-BCB6-E12475614CB6}" type="datetime1">
              <a:rPr lang="en-US" smtClean="0"/>
              <a:t>1/2/2019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Kirti Swagat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E57AE-C7CB-4E1B-849C-35869BC6D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9593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DD830-3232-4DDE-A080-22812E7130A5}" type="datetime1">
              <a:rPr lang="en-US" smtClean="0"/>
              <a:t>1/2/2019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r>
              <a:rPr lang="en-US" smtClean="0"/>
              <a:t>By Kirti Swagat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E57AE-C7CB-4E1B-849C-35869BC6D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262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8BCBD-AA62-4E51-8103-A3FCB0C0D235}" type="datetime1">
              <a:rPr lang="en-US" smtClean="0"/>
              <a:t>1/2/2019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Kirti Swagat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E57AE-C7CB-4E1B-849C-35869BC6D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67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C432-F19C-4879-9A77-B8CE3C09E01D}" type="datetime1">
              <a:rPr lang="en-US" smtClean="0"/>
              <a:t>1/2/2019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Kirti Swagat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E57AE-C7CB-4E1B-849C-35869BC6D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23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64C7993-5408-4EB8-974A-D76CE2A51825}" type="datetime1">
              <a:rPr lang="en-US" smtClean="0"/>
              <a:t>1/2/2019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smtClean="0"/>
              <a:t>By Kirti Swagat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F05E57AE-C7CB-4E1B-849C-35869BC6D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221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98171" y="2549937"/>
            <a:ext cx="5577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latin typeface="Garamond" panose="02020404030301010803" pitchFamily="18" charset="0"/>
              </a:rPr>
              <a:t>Overview of Python</a:t>
            </a:r>
            <a:endParaRPr lang="en-US" sz="4400" b="1" dirty="0">
              <a:latin typeface="Garamond" panose="02020404030301010803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7413" y="223855"/>
            <a:ext cx="1841357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r>
              <a:rPr lang="en-US" b="1" cap="none" spc="0" dirty="0" smtClean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Core Python</a:t>
            </a:r>
            <a:endParaRPr lang="en-US" b="1" cap="none" spc="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Flowchart: Stored Data 5"/>
          <p:cNvSpPr/>
          <p:nvPr/>
        </p:nvSpPr>
        <p:spPr>
          <a:xfrm>
            <a:off x="9653451" y="2664823"/>
            <a:ext cx="2364378" cy="862148"/>
          </a:xfrm>
          <a:prstGeom prst="flowChartOnlineStora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208623" y="2911231"/>
            <a:ext cx="1254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Lec-1</a:t>
            </a:r>
            <a:endParaRPr lang="en-US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84" y="6350974"/>
            <a:ext cx="460422" cy="46042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166" y="6306055"/>
            <a:ext cx="492026" cy="49202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400" y="6350974"/>
            <a:ext cx="379676" cy="3788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53451" y="6350974"/>
            <a:ext cx="1672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rgbClr val="00B0F0"/>
                </a:solidFill>
              </a:rPr>
              <a:t>@kirtiswagat</a:t>
            </a:r>
            <a:endParaRPr lang="en-US" b="1" i="1" dirty="0">
              <a:solidFill>
                <a:srgbClr val="00B0F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54366" y="6391244"/>
            <a:ext cx="46852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00B0F0"/>
                </a:solidFill>
              </a:rPr>
              <a:t>https://www.linkedin.com/in/kirtiswagatmohanty/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167" y="6391244"/>
            <a:ext cx="24729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 smtClean="0">
                <a:solidFill>
                  <a:srgbClr val="00B0F0"/>
                </a:solidFill>
              </a:rPr>
              <a:t>kirtiswagat@gmail.com</a:t>
            </a:r>
            <a:endParaRPr lang="en-US" sz="1600" b="1" i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291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/>
              <a:t>It is an orderly set of operations, which means that it is a </a:t>
            </a:r>
            <a:r>
              <a:rPr lang="en-US" sz="2800" b="1" dirty="0"/>
              <a:t>chain of precise instructions</a:t>
            </a:r>
            <a:r>
              <a:rPr lang="en-US" sz="2800" dirty="0"/>
              <a:t> that must be followed in an orderly manner</a:t>
            </a:r>
            <a:r>
              <a:rPr lang="en-US" sz="2800" dirty="0" smtClean="0"/>
              <a:t>.</a:t>
            </a:r>
          </a:p>
          <a:p>
            <a:pPr algn="just"/>
            <a:endParaRPr lang="en-US" sz="2800" dirty="0" smtClean="0"/>
          </a:p>
          <a:p>
            <a:pPr algn="just"/>
            <a:r>
              <a:rPr lang="en-US" sz="2800" i="1" dirty="0" smtClean="0"/>
              <a:t>Example- Cooking Recipe </a:t>
            </a:r>
          </a:p>
          <a:p>
            <a:pPr algn="just"/>
            <a:endParaRPr lang="en-US" sz="2800" dirty="0" smtClean="0"/>
          </a:p>
          <a:p>
            <a:pPr algn="just"/>
            <a:r>
              <a:rPr lang="en-US" sz="2800" dirty="0"/>
              <a:t>Its purpose is to solve a problem, which means that </a:t>
            </a:r>
            <a:r>
              <a:rPr lang="en-US" sz="2800" b="1" dirty="0"/>
              <a:t>it has a defined objective</a:t>
            </a:r>
            <a:r>
              <a:rPr lang="en-US" sz="2800" dirty="0"/>
              <a:t>.</a:t>
            </a:r>
          </a:p>
          <a:p>
            <a:pPr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 smtClean="0">
                <a:latin typeface="Garamond" panose="02020404030301010803" pitchFamily="18" charset="0"/>
              </a:rPr>
              <a:t>By Kirti Swagat</a:t>
            </a:r>
            <a:endParaRPr lang="en-US" sz="1400" b="1" dirty="0">
              <a:latin typeface="Garamond" panose="02020404030301010803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7413" y="223855"/>
            <a:ext cx="1841357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r>
              <a:rPr lang="en-US" b="1" cap="none" spc="0" dirty="0" smtClean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Core Python</a:t>
            </a:r>
            <a:endParaRPr lang="en-US" b="1" cap="none" spc="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46776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Compiler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/>
              <a:t>Compiler </a:t>
            </a:r>
            <a:r>
              <a:rPr lang="en-US" dirty="0" smtClean="0"/>
              <a:t>translates the source code to target code. </a:t>
            </a:r>
          </a:p>
          <a:p>
            <a:r>
              <a:rPr lang="en-US" dirty="0" smtClean="0"/>
              <a:t>A target code may be the machine language for a particular platform or embedded device.</a:t>
            </a:r>
          </a:p>
          <a:p>
            <a:r>
              <a:rPr lang="en-US" dirty="0" smtClean="0"/>
              <a:t>A target code may be another source language.</a:t>
            </a:r>
          </a:p>
          <a:p>
            <a:pPr marL="0" indent="0">
              <a:buNone/>
            </a:pPr>
            <a:r>
              <a:rPr lang="en-US" dirty="0" smtClean="0"/>
              <a:t>Example- The earliest C++ compiler translates C++ into C, another high level language. The resulting C was then processed by a C compiler to produce an executable program. </a:t>
            </a:r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5911517" cy="365125"/>
          </a:xfrm>
        </p:spPr>
        <p:txBody>
          <a:bodyPr/>
          <a:lstStyle/>
          <a:p>
            <a:r>
              <a:rPr lang="en-US" sz="1400" b="1" dirty="0" smtClean="0">
                <a:latin typeface="Garamond" panose="02020404030301010803" pitchFamily="18" charset="0"/>
              </a:rPr>
              <a:t>By Kirti Swagat</a:t>
            </a:r>
            <a:endParaRPr lang="en-US" sz="1400" b="1" dirty="0">
              <a:latin typeface="Garamond" panose="020204040303010108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7413" y="223855"/>
            <a:ext cx="1841357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r>
              <a:rPr lang="en-US" b="1" cap="none" spc="0" dirty="0" smtClean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Core Python</a:t>
            </a:r>
            <a:endParaRPr lang="en-US" b="1" cap="none" spc="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68570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Interpreter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That </a:t>
            </a:r>
            <a:r>
              <a:rPr lang="en-US" dirty="0" smtClean="0"/>
              <a:t>translates </a:t>
            </a:r>
            <a:r>
              <a:rPr lang="en-US" dirty="0"/>
              <a:t>human </a:t>
            </a:r>
            <a:r>
              <a:rPr lang="en-US" dirty="0" smtClean="0"/>
              <a:t>language </a:t>
            </a:r>
            <a:r>
              <a:rPr lang="en-US" dirty="0" smtClean="0">
                <a:sym typeface="Wingdings" panose="05000000000000000000" pitchFamily="2" charset="2"/>
              </a:rPr>
              <a:t> Source code</a:t>
            </a:r>
            <a:r>
              <a:rPr lang="en-US" dirty="0" smtClean="0"/>
              <a:t> to machine </a:t>
            </a:r>
            <a:r>
              <a:rPr lang="en-US" dirty="0"/>
              <a:t>understandable </a:t>
            </a:r>
            <a:r>
              <a:rPr lang="en-US" dirty="0" smtClean="0"/>
              <a:t>format </a:t>
            </a:r>
            <a:r>
              <a:rPr lang="en-US" dirty="0" smtClean="0">
                <a:sym typeface="Wingdings" panose="05000000000000000000" pitchFamily="2" charset="2"/>
              </a:rPr>
              <a:t> Machine Language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Interpreted program can run on any platform but must be interpreted each time it is executed.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37413" y="223855"/>
            <a:ext cx="1841357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r>
              <a:rPr lang="en-US" b="1" cap="none" spc="0" dirty="0" smtClean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Core Python</a:t>
            </a:r>
            <a:endParaRPr lang="en-US" b="1" cap="none" spc="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5911517" cy="365125"/>
          </a:xfrm>
        </p:spPr>
        <p:txBody>
          <a:bodyPr/>
          <a:lstStyle/>
          <a:p>
            <a:r>
              <a:rPr lang="en-US" sz="1400" b="1" dirty="0" smtClean="0">
                <a:latin typeface="Garamond" panose="02020404030301010803" pitchFamily="18" charset="0"/>
              </a:rPr>
              <a:t>By Kirti Swagat</a:t>
            </a:r>
            <a:endParaRPr lang="en-US" sz="14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227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Debuggers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/>
              <a:t>Debugger </a:t>
            </a:r>
            <a:r>
              <a:rPr lang="en-US" dirty="0" smtClean="0"/>
              <a:t>allows programmers to simultaneously run a program and see which source code line is currently being executed. </a:t>
            </a:r>
          </a:p>
          <a:p>
            <a:r>
              <a:rPr lang="en-US" dirty="0" smtClean="0"/>
              <a:t>The values of variables and other program elements can be watched to see if their values change as expected.</a:t>
            </a:r>
          </a:p>
          <a:p>
            <a:r>
              <a:rPr lang="en-US" b="1" dirty="0" smtClean="0"/>
              <a:t>Debuggers </a:t>
            </a:r>
            <a:r>
              <a:rPr lang="en-US" dirty="0" smtClean="0"/>
              <a:t>are valuable for locating errors also known as errors</a:t>
            </a:r>
            <a:endParaRPr lang="en-US" b="1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5911517" cy="365125"/>
          </a:xfrm>
        </p:spPr>
        <p:txBody>
          <a:bodyPr/>
          <a:lstStyle/>
          <a:p>
            <a:r>
              <a:rPr lang="en-US" sz="1400" b="1" dirty="0" smtClean="0">
                <a:latin typeface="Garamond" panose="02020404030301010803" pitchFamily="18" charset="0"/>
              </a:rPr>
              <a:t>By Kirti Swagat</a:t>
            </a:r>
            <a:endParaRPr lang="en-US" sz="1400" b="1" dirty="0">
              <a:latin typeface="Garamond" panose="020204040303010108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7413" y="223855"/>
            <a:ext cx="1841357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r>
              <a:rPr lang="en-US" b="1" cap="none" spc="0" dirty="0" smtClean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Core Python</a:t>
            </a:r>
            <a:endParaRPr lang="en-US" b="1" cap="none" spc="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98799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Profilers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/>
              <a:t>Profiler </a:t>
            </a:r>
            <a:r>
              <a:rPr lang="en-US" dirty="0" smtClean="0"/>
              <a:t>is used to evaluate a program’s performance. It indicates how many times a portion of a program is executed during a particular run and how long that portion takes to execute.</a:t>
            </a:r>
          </a:p>
          <a:p>
            <a:r>
              <a:rPr lang="en-US" dirty="0" smtClean="0"/>
              <a:t>It is also used for testing purposes to ensure all the code in a program is actually being used somewhere during testing. This is also know as </a:t>
            </a:r>
            <a:r>
              <a:rPr lang="en-US" b="1" dirty="0" smtClean="0"/>
              <a:t>Coverage.</a:t>
            </a:r>
          </a:p>
          <a:p>
            <a:r>
              <a:rPr lang="en-US" dirty="0" smtClean="0"/>
              <a:t>The main purpose of </a:t>
            </a:r>
            <a:r>
              <a:rPr lang="en-US" b="1" dirty="0" smtClean="0"/>
              <a:t>profiling </a:t>
            </a:r>
            <a:r>
              <a:rPr lang="en-US" dirty="0" smtClean="0"/>
              <a:t>is to find the parts of a program that can be improved to make the program run faster.</a:t>
            </a:r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5911517" cy="365125"/>
          </a:xfrm>
        </p:spPr>
        <p:txBody>
          <a:bodyPr/>
          <a:lstStyle/>
          <a:p>
            <a:r>
              <a:rPr lang="en-US" sz="1400" b="1" dirty="0" smtClean="0">
                <a:latin typeface="Garamond" panose="02020404030301010803" pitchFamily="18" charset="0"/>
              </a:rPr>
              <a:t>By Kirti Swagat</a:t>
            </a:r>
            <a:endParaRPr lang="en-US" sz="1400" b="1" dirty="0">
              <a:latin typeface="Garamond" panose="020204040303010108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7413" y="223855"/>
            <a:ext cx="1841357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r>
              <a:rPr lang="en-US" b="1" cap="none" spc="0" dirty="0" smtClean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Core Python</a:t>
            </a:r>
            <a:endParaRPr lang="en-US" b="1" cap="none" spc="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82777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Flow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There is a </a:t>
            </a:r>
            <a:r>
              <a:rPr lang="en-US" dirty="0" smtClean="0"/>
              <a:t>program </a:t>
            </a:r>
            <a:r>
              <a:rPr lang="en-US" dirty="0"/>
              <a:t>counter, which points to </a:t>
            </a:r>
            <a:r>
              <a:rPr lang="en-US" dirty="0" smtClean="0"/>
              <a:t>the particular </a:t>
            </a:r>
            <a:r>
              <a:rPr lang="en-US" dirty="0"/>
              <a:t>location in the memory and </a:t>
            </a:r>
            <a:r>
              <a:rPr lang="en-US" dirty="0" smtClean="0"/>
              <a:t>computation starts </a:t>
            </a:r>
            <a:r>
              <a:rPr lang="en-US" dirty="0"/>
              <a:t>by executing the </a:t>
            </a:r>
            <a:r>
              <a:rPr lang="en-US" dirty="0" smtClean="0"/>
              <a:t>instructions </a:t>
            </a:r>
            <a:r>
              <a:rPr lang="en-US" dirty="0"/>
              <a:t>at that point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Most often </a:t>
            </a:r>
            <a:r>
              <a:rPr lang="en-US" dirty="0" smtClean="0"/>
              <a:t>program </a:t>
            </a:r>
            <a:r>
              <a:rPr lang="en-US" dirty="0"/>
              <a:t>counter jumps to the every </a:t>
            </a:r>
            <a:r>
              <a:rPr lang="en-US" dirty="0" smtClean="0"/>
              <a:t>next instruction </a:t>
            </a:r>
            <a:r>
              <a:rPr lang="en-US" dirty="0"/>
              <a:t>in the sequence but not always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In some cases </a:t>
            </a:r>
            <a:r>
              <a:rPr lang="en-US" dirty="0" smtClean="0"/>
              <a:t>program </a:t>
            </a:r>
            <a:r>
              <a:rPr lang="en-US" dirty="0"/>
              <a:t>counter jumps to some memory </a:t>
            </a:r>
            <a:r>
              <a:rPr lang="en-US" dirty="0" smtClean="0"/>
              <a:t>location depending </a:t>
            </a:r>
            <a:r>
              <a:rPr lang="en-US" dirty="0"/>
              <a:t>upon the test to execute </a:t>
            </a:r>
            <a:r>
              <a:rPr lang="en-US" dirty="0" smtClean="0"/>
              <a:t>instruction(s) and </a:t>
            </a:r>
            <a:r>
              <a:rPr lang="en-US" dirty="0"/>
              <a:t>return backs. This is called </a:t>
            </a:r>
            <a:r>
              <a:rPr lang="en-US" b="1" dirty="0"/>
              <a:t>Flow of control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This helps us to write programs that perform complex tasks.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5911517" cy="365125"/>
          </a:xfrm>
        </p:spPr>
        <p:txBody>
          <a:bodyPr/>
          <a:lstStyle/>
          <a:p>
            <a:r>
              <a:rPr lang="en-US" sz="1400" b="1" dirty="0" smtClean="0">
                <a:latin typeface="Garamond" panose="02020404030301010803" pitchFamily="18" charset="0"/>
              </a:rPr>
              <a:t>By Kirti Swagat</a:t>
            </a:r>
            <a:endParaRPr lang="en-US" sz="1400" b="1" dirty="0">
              <a:latin typeface="Garamond" panose="020204040303010108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7413" y="223855"/>
            <a:ext cx="1841357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r>
              <a:rPr lang="en-US" b="1" cap="none" spc="0" dirty="0" smtClean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Core Python</a:t>
            </a:r>
            <a:endParaRPr lang="en-US" b="1" cap="none" spc="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0290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</a:t>
            </a:r>
            <a:r>
              <a:rPr lang="en-US" dirty="0"/>
              <a:t>defines which strings of characters and symbols are well </a:t>
            </a:r>
            <a:r>
              <a:rPr lang="en-US" dirty="0" smtClean="0"/>
              <a:t> formed </a:t>
            </a:r>
            <a:r>
              <a:rPr lang="en-US" dirty="0"/>
              <a:t>and gives meaningful output. It varies </a:t>
            </a:r>
            <a:r>
              <a:rPr lang="en-US" dirty="0" smtClean="0"/>
              <a:t>depending upon </a:t>
            </a:r>
            <a:r>
              <a:rPr lang="en-US" dirty="0"/>
              <a:t>different programing languages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Example:</a:t>
            </a:r>
          </a:p>
          <a:p>
            <a:r>
              <a:rPr lang="en-US" dirty="0" smtClean="0"/>
              <a:t>“Cat </a:t>
            </a:r>
            <a:r>
              <a:rPr lang="en-US" dirty="0"/>
              <a:t>dog boy". Not a valid in English</a:t>
            </a:r>
          </a:p>
          <a:p>
            <a:r>
              <a:rPr lang="en-US" dirty="0"/>
              <a:t>3.2+ 3.5 is valid</a:t>
            </a:r>
          </a:p>
          <a:p>
            <a:r>
              <a:rPr lang="en-US" dirty="0"/>
              <a:t>3.2#3.5 is not valid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5911517" cy="365125"/>
          </a:xfrm>
        </p:spPr>
        <p:txBody>
          <a:bodyPr/>
          <a:lstStyle/>
          <a:p>
            <a:r>
              <a:rPr lang="en-US" sz="1400" b="1" dirty="0" smtClean="0">
                <a:latin typeface="Garamond" panose="02020404030301010803" pitchFamily="18" charset="0"/>
              </a:rPr>
              <a:t>By Kirti Swagat</a:t>
            </a:r>
            <a:endParaRPr lang="en-US" sz="1400" b="1" dirty="0">
              <a:latin typeface="Garamond" panose="020204040303010108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7413" y="223855"/>
            <a:ext cx="1841357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r>
              <a:rPr lang="en-US" b="1" cap="none" spc="0" dirty="0" smtClean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Core Python</a:t>
            </a:r>
            <a:endParaRPr lang="en-US" b="1" cap="none" spc="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25337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 Semantic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defines which syntactically valid strings have </a:t>
            </a:r>
            <a:r>
              <a:rPr lang="en-US" dirty="0" smtClean="0"/>
              <a:t>a </a:t>
            </a:r>
            <a:r>
              <a:rPr lang="en-US" dirty="0"/>
              <a:t>meaning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Example:</a:t>
            </a:r>
          </a:p>
          <a:p>
            <a:r>
              <a:rPr lang="en-US" dirty="0"/>
              <a:t>"I are big"- </a:t>
            </a:r>
            <a:r>
              <a:rPr lang="en-US" dirty="0" smtClean="0"/>
              <a:t>syntactically acceptable not </a:t>
            </a:r>
            <a:r>
              <a:rPr lang="en-US" dirty="0"/>
              <a:t>valid </a:t>
            </a:r>
            <a:r>
              <a:rPr lang="en-US" dirty="0" smtClean="0"/>
              <a:t>English</a:t>
            </a:r>
          </a:p>
          <a:p>
            <a:r>
              <a:rPr lang="en-US" dirty="0"/>
              <a:t>3.2/ '</a:t>
            </a:r>
            <a:r>
              <a:rPr lang="en-US" dirty="0" err="1"/>
              <a:t>abc</a:t>
            </a:r>
            <a:r>
              <a:rPr lang="en-US" dirty="0"/>
              <a:t>'- syntactically acceptable, not valid </a:t>
            </a:r>
            <a:r>
              <a:rPr lang="en-US" dirty="0" smtClean="0"/>
              <a:t>computation</a:t>
            </a:r>
          </a:p>
          <a:p>
            <a:r>
              <a:rPr lang="en-US" dirty="0" smtClean="0"/>
              <a:t>So produces </a:t>
            </a:r>
            <a:r>
              <a:rPr lang="en-US" b="1" dirty="0" smtClean="0"/>
              <a:t>Semantic Error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Kirti Swagat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7413" y="223855"/>
            <a:ext cx="1841357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r>
              <a:rPr lang="en-US" b="1" cap="none" spc="0" dirty="0" smtClean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Core Python</a:t>
            </a:r>
            <a:endParaRPr lang="en-US" b="1" cap="none" spc="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9015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Developed by </a:t>
            </a:r>
            <a:r>
              <a:rPr lang="en-US" b="1" dirty="0" smtClean="0"/>
              <a:t>Guido Van Rossum</a:t>
            </a:r>
          </a:p>
          <a:p>
            <a:r>
              <a:rPr lang="en-US" dirty="0" smtClean="0"/>
              <a:t>Started in 1989 and first released in 1991</a:t>
            </a:r>
          </a:p>
          <a:p>
            <a:r>
              <a:rPr lang="en-US" dirty="0" smtClean="0"/>
              <a:t>Naming inspired from “</a:t>
            </a:r>
            <a:r>
              <a:rPr lang="en-US" b="1" dirty="0" smtClean="0"/>
              <a:t>Monty Python’s Flying Circus</a:t>
            </a:r>
            <a:r>
              <a:rPr lang="en-US" dirty="0" smtClean="0"/>
              <a:t>”, a BBC comedy series from the 1970s.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660" y="2838450"/>
            <a:ext cx="1302290" cy="1302290"/>
          </a:xfrm>
          <a:prstGeom prst="rect">
            <a:avLst/>
          </a:prstGeom>
        </p:spPr>
      </p:pic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5911517" cy="365125"/>
          </a:xfrm>
        </p:spPr>
        <p:txBody>
          <a:bodyPr/>
          <a:lstStyle/>
          <a:p>
            <a:r>
              <a:rPr lang="en-US" sz="1400" b="1" dirty="0" smtClean="0">
                <a:latin typeface="Garamond" panose="02020404030301010803" pitchFamily="18" charset="0"/>
              </a:rPr>
              <a:t>By Kirti Swagat</a:t>
            </a:r>
            <a:endParaRPr lang="en-US" sz="1400" b="1" dirty="0">
              <a:latin typeface="Garamond" panose="020204040303010108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7413" y="223855"/>
            <a:ext cx="1841357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r>
              <a:rPr lang="en-US" b="1" cap="none" spc="0" dirty="0" smtClean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Core Python</a:t>
            </a:r>
            <a:endParaRPr lang="en-US" b="1" cap="none" spc="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13124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Open source and free</a:t>
            </a:r>
          </a:p>
          <a:p>
            <a:pPr algn="just"/>
            <a:r>
              <a:rPr lang="en-US" dirty="0" smtClean="0"/>
              <a:t>Portable-  programmed on Windows , run on Mac or Linux</a:t>
            </a:r>
          </a:p>
          <a:p>
            <a:pPr algn="just"/>
            <a:r>
              <a:rPr lang="en-US" dirty="0" smtClean="0"/>
              <a:t>Interpreted Language- processed at the runtime by the interpreter. Compilation before execution not required.</a:t>
            </a:r>
          </a:p>
          <a:p>
            <a:pPr algn="just"/>
            <a:r>
              <a:rPr lang="en-US" dirty="0" smtClean="0"/>
              <a:t>High </a:t>
            </a:r>
            <a:r>
              <a:rPr lang="en-US" dirty="0"/>
              <a:t>level </a:t>
            </a:r>
            <a:r>
              <a:rPr lang="en-US" dirty="0" smtClean="0"/>
              <a:t>Programming Language</a:t>
            </a:r>
          </a:p>
          <a:p>
            <a:pPr algn="just"/>
            <a:r>
              <a:rPr lang="en-US" dirty="0" smtClean="0"/>
              <a:t>General Purpose Programming Language- Can be used for any domain of application e.g. web application, scientific etc.</a:t>
            </a:r>
          </a:p>
          <a:p>
            <a:pPr algn="just"/>
            <a:r>
              <a:rPr lang="en-US" dirty="0" smtClean="0"/>
              <a:t>Easy syntaxes </a:t>
            </a:r>
          </a:p>
          <a:p>
            <a:pPr algn="just"/>
            <a:r>
              <a:rPr lang="en-US" dirty="0" smtClean="0"/>
              <a:t>Large library supports </a:t>
            </a:r>
          </a:p>
          <a:p>
            <a:pPr algn="just"/>
            <a:r>
              <a:rPr lang="en-US" dirty="0" smtClean="0"/>
              <a:t>Simple- Code size is about one third of the size of equivalent C++ and Java </a:t>
            </a:r>
          </a:p>
          <a:p>
            <a:pPr algn="just"/>
            <a:r>
              <a:rPr lang="en-US" dirty="0" smtClean="0"/>
              <a:t>Extensible and Embeddable- easily combine pieces of C/C++ or other languages with Python code</a:t>
            </a:r>
          </a:p>
          <a:p>
            <a:pPr algn="just"/>
            <a:r>
              <a:rPr lang="en-US" dirty="0" smtClean="0"/>
              <a:t>Object Oriented</a:t>
            </a:r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5911517" cy="365125"/>
          </a:xfrm>
        </p:spPr>
        <p:txBody>
          <a:bodyPr/>
          <a:lstStyle/>
          <a:p>
            <a:r>
              <a:rPr lang="en-US" sz="1400" b="1" dirty="0" smtClean="0">
                <a:latin typeface="Garamond" panose="02020404030301010803" pitchFamily="18" charset="0"/>
              </a:rPr>
              <a:t>By Kirti Swagat</a:t>
            </a:r>
            <a:endParaRPr lang="en-US" sz="1400" b="1" dirty="0">
              <a:latin typeface="Garamond" panose="020204040303010108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7413" y="223855"/>
            <a:ext cx="1841357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r>
              <a:rPr lang="en-US" b="1" cap="none" spc="0" dirty="0" smtClean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Core Python</a:t>
            </a:r>
            <a:endParaRPr lang="en-US" b="1" cap="none" spc="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62125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 for Selection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Simple and elegant syntax- as that of </a:t>
            </a:r>
            <a:r>
              <a:rPr lang="en-US" dirty="0" err="1" smtClean="0"/>
              <a:t>english</a:t>
            </a:r>
            <a:endParaRPr lang="en-US" dirty="0" smtClean="0"/>
          </a:p>
          <a:p>
            <a:r>
              <a:rPr lang="en-US" dirty="0" smtClean="0"/>
              <a:t>Not overly strict- no need to declare variable type</a:t>
            </a:r>
          </a:p>
          <a:p>
            <a:r>
              <a:rPr lang="en-US" dirty="0" smtClean="0"/>
              <a:t>Expressiveness of the language- few line of codes</a:t>
            </a:r>
          </a:p>
          <a:p>
            <a:r>
              <a:rPr lang="en-US" dirty="0" smtClean="0"/>
              <a:t>Great community support</a:t>
            </a:r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5911517" cy="365125"/>
          </a:xfrm>
        </p:spPr>
        <p:txBody>
          <a:bodyPr/>
          <a:lstStyle/>
          <a:p>
            <a:r>
              <a:rPr lang="en-US" sz="1400" b="1" dirty="0" smtClean="0">
                <a:latin typeface="Garamond" panose="02020404030301010803" pitchFamily="18" charset="0"/>
              </a:rPr>
              <a:t>By Kirti Swagat</a:t>
            </a:r>
            <a:endParaRPr lang="en-US" sz="1400" b="1" dirty="0">
              <a:latin typeface="Garamond" panose="020204040303010108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7413" y="223855"/>
            <a:ext cx="1841357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r>
              <a:rPr lang="en-US" b="1" cap="none" spc="0" dirty="0" smtClean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Core Python</a:t>
            </a:r>
            <a:endParaRPr lang="en-US" b="1" cap="none" spc="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25501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do you mean by Algorithm?</a:t>
            </a:r>
          </a:p>
          <a:p>
            <a:r>
              <a:rPr lang="en-US" dirty="0" smtClean="0"/>
              <a:t>What is compiler?</a:t>
            </a:r>
          </a:p>
          <a:p>
            <a:r>
              <a:rPr lang="en-US" dirty="0" smtClean="0"/>
              <a:t>What is Interpreter?</a:t>
            </a:r>
          </a:p>
          <a:p>
            <a:r>
              <a:rPr lang="en-US" dirty="0" smtClean="0"/>
              <a:t>What is Debugger?</a:t>
            </a:r>
          </a:p>
          <a:p>
            <a:r>
              <a:rPr lang="en-US" dirty="0" smtClean="0"/>
              <a:t>What is Profiler?</a:t>
            </a:r>
          </a:p>
          <a:p>
            <a:r>
              <a:rPr lang="en-US" dirty="0" smtClean="0"/>
              <a:t>What do you mean by Flow Control in a program?</a:t>
            </a:r>
          </a:p>
          <a:p>
            <a:r>
              <a:rPr lang="en-US" dirty="0" smtClean="0"/>
              <a:t>How do you define Semantic Error?</a:t>
            </a:r>
          </a:p>
          <a:p>
            <a:r>
              <a:rPr lang="en-US" dirty="0" smtClean="0"/>
              <a:t>What do you mean by High level language?</a:t>
            </a:r>
          </a:p>
          <a:p>
            <a:r>
              <a:rPr lang="en-US" dirty="0" smtClean="0"/>
              <a:t>What are the features of Python Language?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37413" y="223855"/>
            <a:ext cx="1841357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r>
              <a:rPr lang="en-US" b="1" cap="none" spc="0" dirty="0" smtClean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Core Python</a:t>
            </a:r>
            <a:endParaRPr lang="en-US" b="1" cap="none" spc="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5911517" cy="365125"/>
          </a:xfrm>
        </p:spPr>
        <p:txBody>
          <a:bodyPr/>
          <a:lstStyle/>
          <a:p>
            <a:r>
              <a:rPr lang="en-US" sz="1400" b="1" dirty="0" smtClean="0">
                <a:latin typeface="Garamond" panose="02020404030301010803" pitchFamily="18" charset="0"/>
              </a:rPr>
              <a:t>By Kirti Swagat</a:t>
            </a:r>
            <a:endParaRPr lang="en-US" sz="14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199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“Learning to Program with Python”, Richard L. </a:t>
            </a:r>
            <a:r>
              <a:rPr lang="en-US" dirty="0" err="1" smtClean="0"/>
              <a:t>Halterman</a:t>
            </a:r>
            <a:endParaRPr lang="en-US" dirty="0" smtClean="0"/>
          </a:p>
          <a:p>
            <a:r>
              <a:rPr lang="en-US" dirty="0" smtClean="0"/>
              <a:t>“Learn Python in 7 Days”, </a:t>
            </a:r>
            <a:r>
              <a:rPr lang="en-US" dirty="0" err="1" smtClean="0"/>
              <a:t>Mohit</a:t>
            </a:r>
            <a:r>
              <a:rPr lang="en-US" dirty="0" smtClean="0"/>
              <a:t>, </a:t>
            </a:r>
            <a:r>
              <a:rPr lang="en-US" dirty="0" err="1" smtClean="0"/>
              <a:t>Bhaskar</a:t>
            </a:r>
            <a:r>
              <a:rPr lang="en-US" dirty="0" smtClean="0"/>
              <a:t> N Das</a:t>
            </a:r>
          </a:p>
          <a:p>
            <a:r>
              <a:rPr lang="en-US" dirty="0" smtClean="0"/>
              <a:t>“Introduction to Computation and Programming using Python”, John V. </a:t>
            </a:r>
            <a:r>
              <a:rPr lang="en-US" dirty="0" err="1" smtClean="0"/>
              <a:t>Guttag</a:t>
            </a:r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5911517" cy="365125"/>
          </a:xfrm>
        </p:spPr>
        <p:txBody>
          <a:bodyPr/>
          <a:lstStyle/>
          <a:p>
            <a:r>
              <a:rPr lang="en-US" sz="1400" b="1" dirty="0" smtClean="0">
                <a:latin typeface="Garamond" panose="02020404030301010803" pitchFamily="18" charset="0"/>
              </a:rPr>
              <a:t>By Kirti Swagat</a:t>
            </a:r>
            <a:endParaRPr lang="en-US" sz="1400" b="1" dirty="0">
              <a:latin typeface="Garamond" panose="020204040303010108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7413" y="223855"/>
            <a:ext cx="1841357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r>
              <a:rPr lang="en-US" b="1" cap="none" spc="0" dirty="0" smtClean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Core Python</a:t>
            </a:r>
            <a:endParaRPr lang="en-US" b="1" cap="none" spc="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04375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020" y="686497"/>
            <a:ext cx="874679" cy="8746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939" y="2887905"/>
            <a:ext cx="1117428" cy="9239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458" y="5036524"/>
            <a:ext cx="938390" cy="9362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48150" y="5135334"/>
            <a:ext cx="32243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>
                <a:solidFill>
                  <a:srgbClr val="00B0F0"/>
                </a:solidFill>
              </a:rPr>
              <a:t>@kirtiswagat</a:t>
            </a:r>
            <a:endParaRPr lang="en-US" sz="2800" b="1" i="1" dirty="0">
              <a:solidFill>
                <a:srgbClr val="00B0F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65848" y="3014168"/>
            <a:ext cx="6737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00B0F0"/>
                </a:solidFill>
              </a:rPr>
              <a:t>https://www.linkedin.com/in/kirtiswagatmohanty/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55367" y="893003"/>
            <a:ext cx="4252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smtClean="0">
                <a:solidFill>
                  <a:srgbClr val="00B0F0"/>
                </a:solidFill>
              </a:rPr>
              <a:t>kirtiswagat@gmail.com</a:t>
            </a:r>
            <a:endParaRPr lang="en-US" sz="2400" b="1" i="1" dirty="0">
              <a:solidFill>
                <a:srgbClr val="00B0F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7413" y="223855"/>
            <a:ext cx="1841357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r>
              <a:rPr lang="en-US" b="1" cap="none" spc="0" dirty="0" smtClean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Core Python</a:t>
            </a:r>
            <a:endParaRPr lang="en-US" b="1" cap="none" spc="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34209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rame">
  <a:themeElements>
    <a:clrScheme name="Fram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39D77354-939E-4A26-AE51-B3F9618B14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138</TotalTime>
  <Words>767</Words>
  <Application>Microsoft Office PowerPoint</Application>
  <PresentationFormat>Widescreen</PresentationFormat>
  <Paragraphs>111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Adobe Fan Heiti Std B</vt:lpstr>
      <vt:lpstr>Calibri</vt:lpstr>
      <vt:lpstr>Corbel</vt:lpstr>
      <vt:lpstr>Garamond</vt:lpstr>
      <vt:lpstr>Wingdings</vt:lpstr>
      <vt:lpstr>Wingdings 2</vt:lpstr>
      <vt:lpstr>Frame</vt:lpstr>
      <vt:lpstr>PowerPoint Presentation</vt:lpstr>
      <vt:lpstr>Algorithm</vt:lpstr>
      <vt:lpstr>Compiler</vt:lpstr>
      <vt:lpstr>Interpreter</vt:lpstr>
      <vt:lpstr>Debuggers</vt:lpstr>
      <vt:lpstr>Profilers</vt:lpstr>
      <vt:lpstr>Flow Control</vt:lpstr>
      <vt:lpstr>Syntax</vt:lpstr>
      <vt:lpstr>Static Semantic</vt:lpstr>
      <vt:lpstr>Python</vt:lpstr>
      <vt:lpstr>Features</vt:lpstr>
      <vt:lpstr>Reason for Selection</vt:lpstr>
      <vt:lpstr>Discussions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NIC-APP</dc:creator>
  <cp:lastModifiedBy>NIC-APP</cp:lastModifiedBy>
  <cp:revision>18</cp:revision>
  <dcterms:created xsi:type="dcterms:W3CDTF">2019-01-02T09:21:12Z</dcterms:created>
  <dcterms:modified xsi:type="dcterms:W3CDTF">2019-01-02T11:39:23Z</dcterms:modified>
</cp:coreProperties>
</file>